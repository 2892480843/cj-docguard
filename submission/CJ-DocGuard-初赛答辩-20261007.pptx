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bd2f511b084736" /><Relationship Type="http://schemas.openxmlformats.org/officeDocument/2006/relationships/extended-properties" Target="/docProps/app.xml" Id="R73f58f6d237743a2" /><Relationship Type="http://schemas.openxmlformats.org/officeDocument/2006/relationships/officeDocument" Target="/ppt/presentation.xml" Id="Rb7cb167d35b746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e6469994d44cfc"/>
  </p:sldMasterIdLst>
  <p:notesMasterIdLst>
    <p:notesMasterId xmlns:r="http://schemas.openxmlformats.org/officeDocument/2006/relationships" r:id="R4d4a7acb7ad14e2a"/>
  </p:notesMasterIdLst>
  <p:sldIdLst>
    <p:sldId xmlns:r="http://schemas.openxmlformats.org/officeDocument/2006/relationships" id="256" r:id="R72d3183394a043ed"/>
    <p:sldId xmlns:r="http://schemas.openxmlformats.org/officeDocument/2006/relationships" id="257" r:id="R4170555b65484a09"/>
    <p:sldId xmlns:r="http://schemas.openxmlformats.org/officeDocument/2006/relationships" id="258" r:id="Rd40e1787650f4e55"/>
    <p:sldId xmlns:r="http://schemas.openxmlformats.org/officeDocument/2006/relationships" id="259" r:id="R6d8c8e64ad064a12"/>
    <p:sldId xmlns:r="http://schemas.openxmlformats.org/officeDocument/2006/relationships" id="260" r:id="Rbff612e3f1c84bc6"/>
    <p:sldId xmlns:r="http://schemas.openxmlformats.org/officeDocument/2006/relationships" id="261" r:id="R5a410174eda84dd5"/>
    <p:sldId xmlns:r="http://schemas.openxmlformats.org/officeDocument/2006/relationships" id="262" r:id="R7d67407dcaa1485b"/>
    <p:sldId xmlns:r="http://schemas.openxmlformats.org/officeDocument/2006/relationships" id="263" r:id="Rabfb0a218ea54ab9"/>
    <p:sldId xmlns:r="http://schemas.openxmlformats.org/officeDocument/2006/relationships" id="264" r:id="R3fead870135b464e"/>
    <p:sldId xmlns:r="http://schemas.openxmlformats.org/officeDocument/2006/relationships" id="265" r:id="Rfb5785c172ff42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52a3593f204034" /><Relationship Type="http://schemas.openxmlformats.org/officeDocument/2006/relationships/slideMaster" Target="/ppt/slideMasters/slideMaster1.xml" Id="R24e6469994d44cfc" /><Relationship Type="http://schemas.openxmlformats.org/officeDocument/2006/relationships/notesMaster" Target="/ppt/notesMasters/notesMaster1.xml" Id="R4d4a7acb7ad14e2a" /><Relationship Type="http://schemas.openxmlformats.org/officeDocument/2006/relationships/presProps" Target="/ppt/presProps.xml" Id="Rbb111142504743b1" /><Relationship Type="http://schemas.openxmlformats.org/officeDocument/2006/relationships/tableStyles" Target="/ppt/tableStyles.xml" Id="R66883854080d49cb" /><Relationship Type="http://schemas.openxmlformats.org/officeDocument/2006/relationships/slide" Target="/ppt/slides/slide1.xml" Id="R72d3183394a043ed" /><Relationship Type="http://schemas.openxmlformats.org/officeDocument/2006/relationships/slide" Target="/ppt/slides/slide2.xml" Id="R4170555b65484a09" /><Relationship Type="http://schemas.openxmlformats.org/officeDocument/2006/relationships/slide" Target="/ppt/slides/slide3.xml" Id="Rd40e1787650f4e55" /><Relationship Type="http://schemas.openxmlformats.org/officeDocument/2006/relationships/slide" Target="/ppt/slides/slide4.xml" Id="R6d8c8e64ad064a12" /><Relationship Type="http://schemas.openxmlformats.org/officeDocument/2006/relationships/slide" Target="/ppt/slides/slide5.xml" Id="Rbff612e3f1c84bc6" /><Relationship Type="http://schemas.openxmlformats.org/officeDocument/2006/relationships/slide" Target="/ppt/slides/slide6.xml" Id="R5a410174eda84dd5" /><Relationship Type="http://schemas.openxmlformats.org/officeDocument/2006/relationships/slide" Target="/ppt/slides/slide7.xml" Id="R7d67407dcaa1485b" /><Relationship Type="http://schemas.openxmlformats.org/officeDocument/2006/relationships/slide" Target="/ppt/slides/slide8.xml" Id="Rabfb0a218ea54ab9" /><Relationship Type="http://schemas.openxmlformats.org/officeDocument/2006/relationships/slide" Target="/ppt/slides/slide9.xml" Id="R3fead870135b464e" /><Relationship Type="http://schemas.openxmlformats.org/officeDocument/2006/relationships/slide" Target="/ppt/slides/slide10.xml" Id="Rfb5785c172ff42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e73e0887444e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38cc2211154bfa" /><Relationship Type="http://schemas.openxmlformats.org/officeDocument/2006/relationships/notesMaster" Target="/ppt/notesMasters/notesMaster1.xml" Id="Rcb9d9905521e45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0d92c8446046d5" /><Relationship Type="http://schemas.openxmlformats.org/officeDocument/2006/relationships/notesMaster" Target="/ppt/notesMasters/notesMaster1.xml" Id="R6f2641cfd3dc4d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d75d6a43134443" /><Relationship Type="http://schemas.openxmlformats.org/officeDocument/2006/relationships/notesMaster" Target="/ppt/notesMasters/notesMaster1.xml" Id="Rb0db4e2a7d1841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a29576473d461a" /><Relationship Type="http://schemas.openxmlformats.org/officeDocument/2006/relationships/notesMaster" Target="/ppt/notesMasters/notesMaster1.xml" Id="R2e8c55b6f49040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fbf9082edd43ab" /><Relationship Type="http://schemas.openxmlformats.org/officeDocument/2006/relationships/notesMaster" Target="/ppt/notesMasters/notesMaster1.xml" Id="Rbf881c0d07c04f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6cd37e2bc54592" /><Relationship Type="http://schemas.openxmlformats.org/officeDocument/2006/relationships/notesMaster" Target="/ppt/notesMasters/notesMaster1.xml" Id="R8a45d2ece6be48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8346e3355c403d" /><Relationship Type="http://schemas.openxmlformats.org/officeDocument/2006/relationships/notesMaster" Target="/ppt/notesMasters/notesMaster1.xml" Id="R6ae72ade9ea74e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2402c271214511" /><Relationship Type="http://schemas.openxmlformats.org/officeDocument/2006/relationships/notesMaster" Target="/ppt/notesMasters/notesMaster1.xml" Id="R7a08966f440644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ae789f79b3467e" /><Relationship Type="http://schemas.openxmlformats.org/officeDocument/2006/relationships/notesMaster" Target="/ppt/notesMasters/notesMaster1.xml" Id="Rd5630db181a948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3eb3b5010e435e" /><Relationship Type="http://schemas.openxmlformats.org/officeDocument/2006/relationships/notesMaster" Target="/ppt/notesMasters/notesMaster1.xml" Id="R04287fceb2f946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作品名称：CJ-DocGuard 项目级 API 文档生成及示例证据验证。负责人陈帅，成员沈均皓、袁雨芳。主仓库https://atomgit.com/c2892480843s/cj-docguard。材料身份与测试范围见docs/acceptance.md。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来源：docs/prd-original.md、docs/prd-export.md。此页说明目标场景，非用户调研统计。API指公共编程接口。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来源：src/extractor.cj、src/engine.cj、src/evidence.cj、src/report.cj、src/export.cj、scripts/runner.c、scripts/mcp_stdio.py。仓颉std.ast提取声明，Python不模拟编译器。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来源：src/evidence.cj、src/engine.cj。准入要求运行验证、完成状态、输入/环境身份匹配、阶段日志完整和登记断言通过。查询必须精确指定SDK及实际平台。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来源：R12 build/rubric-optimization-20261007/summary.json及query-stale、export-stale日志。对照对象是同一项目初次报告的静态状态读取，不是第三方产品或完整竞品实验。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来源：docs/acceptance.md R05、R11、R12。R05固定4910c15完整回归80项Python零跳过，两个SDK共14个原生程序。R11固定8a886f7的14项MCP测试。R03受控308次历史128MB堆，旧check/verify内存不足，修复后query/verify/check退出0。后续原生核心未改，各轮证据范围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来源：R12 summary.json，leven4cj固定da69d981027b9fcbe12d09cfbb275b4ce8acc91d，Apache-2.0，全生产源码保持字节一致。20不同登记调用，两个真实SDK40格。每版18当前有效，2登记断言失败。strict退出1，失败保留，不表示上游采用。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来源：R12 query、export、rebuild双SDK原始日志。固定leven4cj的upstream-api。两版本标准输出均3\n2\n3\n，出口为冻结源码和证据清单，重建使用相应真实SDK。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来源：https://atomgit.com/c2892480843s/cj-docguard-ai README、docs/verification.md。自研独立分发依赖主仓库仓颉引擎。三工具list_symbols、get_verified_examples、get_evidence。历史30对模型实验功能均30/30，综合30/30对29/30，未见提升，不将普通AI使用过程作为贡献。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来源：README.md、docs/support.md、docs/submission-index.md、docs/rubric-evidence.md。主作品与独立贡献均AtomGit公开可读。用户B站URLhttps://www.bilibili.com/video/BV1R5HC6MEDo/。签字和正式提交待本人。不宣称社区采用或得分。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d8a6b7b7f040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be595df9334684" /><Relationship Type="http://schemas.openxmlformats.org/officeDocument/2006/relationships/slideLayout" Target="/ppt/slideLayouts/slideLayout1.xml" Id="R6d5818f00fb044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5818f00fb044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d9f24999f4c30" /><Relationship Type="http://schemas.openxmlformats.org/officeDocument/2006/relationships/notesSlide" Target="/ppt/notesSlides/notesSlide1.xml" Id="Rb5af4f04848547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24f7d4b734976" /><Relationship Type="http://schemas.openxmlformats.org/officeDocument/2006/relationships/notesSlide" Target="/ppt/notesSlides/notesSlide2.xml" Id="Rdbec6a9173b348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9f7587feb4a03" /><Relationship Type="http://schemas.openxmlformats.org/officeDocument/2006/relationships/notesSlide" Target="/ppt/notesSlides/notesSlide3.xml" Id="R77b5eeb3c92545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7e598784d4fde" /><Relationship Type="http://schemas.openxmlformats.org/officeDocument/2006/relationships/notesSlide" Target="/ppt/notesSlides/notesSlide4.xml" Id="R23346dd7043541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0693c23ad4a1f" /><Relationship Type="http://schemas.openxmlformats.org/officeDocument/2006/relationships/notesSlide" Target="/ppt/notesSlides/notesSlide5.xml" Id="Rc794cd4515fd4f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46e060987403f" /><Relationship Type="http://schemas.openxmlformats.org/officeDocument/2006/relationships/notesSlide" Target="/ppt/notesSlides/notesSlide6.xml" Id="R7c76111d2a8e4d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0fc8b1020432b" /><Relationship Type="http://schemas.openxmlformats.org/officeDocument/2006/relationships/chart" Target="/ppt/slides/charts/chart1.xml" Id="R275b898ad4e241ce" /><Relationship Type="http://schemas.openxmlformats.org/officeDocument/2006/relationships/notesSlide" Target="/ppt/notesSlides/notesSlide7.xml" Id="R4814b68de9d849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aecf597a14607" /><Relationship Type="http://schemas.openxmlformats.org/officeDocument/2006/relationships/notesSlide" Target="/ppt/notesSlides/notesSlide8.xml" Id="R3cb5aab5cc654c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82e888a4b457c" /><Relationship Type="http://schemas.openxmlformats.org/officeDocument/2006/relationships/notesSlide" Target="/ppt/notesSlides/notesSlide9.xml" Id="Rf811e7c41a234d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c8aca8f574125" /><Relationship Type="http://schemas.openxmlformats.org/officeDocument/2006/relationships/notesSlide" Target="/ppt/notesSlides/notesSlide10.xml" Id="Ra77cc076c84543a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当前有效</c:v>
          </c:tx>
          <c:spPr>
            <a:solidFill xmlns:a="http://schemas.openxmlformats.org/drawingml/2006/main">
              <a:srgbClr val="2357C8"/>
            </a:solidFill>
          </c:spPr>
          <c:cat>
            <c:strRef>
              <c:f>'Chart Data'!$A$2:$A$3</c:f>
              <c:strCache>
                <c:ptCount val="2"/>
                <c:pt idx="0">
                  <c:v>SDK 1.1.3</c:v>
                </c:pt>
                <c:pt idx="1">
                  <c:v>SDK 1.2.0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</c:v>
                </c:pt>
                <c:pt idx="1">
                  <c:v>18</c:v>
                </c:pt>
              </c:numCache>
            </c:numRef>
          </c:val>
        </c:ser>
        <c:ser>
          <c:idx val="1"/>
          <c:order val="1"/>
          <c:tx>
            <c:v>断言失败</c:v>
          </c:tx>
          <c:spPr>
            <a:solidFill xmlns:a="http://schemas.openxmlformats.org/drawingml/2006/main">
              <a:srgbClr val="D96B36"/>
            </a:solidFill>
          </c:spPr>
          <c:cat>
            <c:strRef>
              <c:f>'Chart Data'!$C$2:$C$3</c:f>
              <c:strCache>
                <c:ptCount val="2"/>
                <c:pt idx="0">
                  <c:v>SDK 1.1.3</c:v>
                </c:pt>
                <c:pt idx="1">
                  <c:v>SDK 1.2.0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solidFill>
                    <a:srgbClr val="FFFFFF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Heiti TC"/>
              <a:ea typeface="Heiti TC"/>
              <a:cs typeface="Heiti TC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B17D0-F9F3-4650-912C-571EA753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FA7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63FA7"/>
                </a:solidFill>
                <a:latin typeface="Heiti TC"/>
                <a:ea typeface="Heiti TC"/>
                <a:cs typeface="Heiti TC"/>
              </a:rPr>
              <a:t>CJ-DocGuard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334CF-7508-4553-9196-8BA610CE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73F"/>
                </a:solidFill>
                <a:latin typeface="Heiti TC"/>
                <a:ea typeface="Heiti TC"/>
                <a:cs typeface="Heiti TC"/>
              </a:defRPr>
            </a:pPr>
            <a:r>
              <a:rPr sz="4050" b="1">
                <a:solidFill>
                  <a:srgbClr val="18273F"/>
                </a:solidFill>
                <a:latin typeface="Heiti TC"/>
                <a:ea typeface="Heiti TC"/>
                <a:cs typeface="Heiti TC"/>
              </a:rPr>
              <a:t>仓颉 API 文档与示例证据验证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29971-12DA-4989-BAE2-9096465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001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53044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253044"/>
                </a:solidFill>
                <a:latin typeface="Heiti TC"/>
                <a:ea typeface="Heiti TC"/>
                <a:cs typeface="Heiti TC"/>
              </a:rPr>
              <a:t>示例在哪里运行过</a:t>
            </a:r>
          </a:p>
          <a:p xmlns:a="http://schemas.openxmlformats.org/drawingml/2006/main">
            <a:pPr>
              <a:defRPr sz="2700" b="0">
                <a:solidFill>
                  <a:srgbClr val="253044"/>
                </a:solidFill>
                <a:latin typeface="Heiti TC"/>
                <a:ea typeface="Heiti TC"/>
                <a:cs typeface="Heiti TC"/>
              </a:defRPr>
            </a:pPr>
            <a:r>
              <a:rPr sz="2700" b="0">
                <a:solidFill>
                  <a:srgbClr val="253044"/>
                </a:solidFill>
                <a:latin typeface="Heiti TC"/>
                <a:ea typeface="Heiti TC"/>
                <a:cs typeface="Heiti TC"/>
              </a:rPr>
              <a:t>证据是否适用于当前工程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F499F-A54B-47E1-8EE2-01681B9A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58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8758B"/>
                </a:solidFill>
                <a:latin typeface="Heiti TC"/>
                <a:ea typeface="Heiti TC"/>
                <a:cs typeface="Heiti TC"/>
              </a:rPr>
              <a:t>陈帅  沈均皓  袁雨芳     仓颉生态创新开发挑战赛</a:t>
            </a:r>
          </a:p>
        </p:txBody>
      </p:sp>
    </p:spTree>
    <p:extLst>
      <p:ext uri="{BB962C8B-B14F-4D97-AF65-F5344CB8AC3E}">
        <p14:creationId xmlns:p14="http://schemas.microsoft.com/office/powerpoint/2010/main" val="4727872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8576C-DDFE-49D3-A082-C8B70B9D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FA7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63FA7"/>
                </a:solidFill>
                <a:latin typeface="Heiti TC"/>
                <a:ea typeface="Heiti TC"/>
                <a:cs typeface="Heiti TC"/>
              </a:rPr>
              <a:t>库维护中的示例失效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DEA13-2664-471A-87BE-E3EED03C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73F"/>
                </a:solidFill>
                <a:latin typeface="Heiti TC"/>
                <a:ea typeface="Heiti TC"/>
                <a:cs typeface="Heiti TC"/>
              </a:defRPr>
            </a:pPr>
            <a:r>
              <a:rPr sz="2850" b="1">
                <a:solidFill>
                  <a:srgbClr val="18273F"/>
                </a:solidFill>
                <a:latin typeface="Heiti TC"/>
                <a:ea typeface="Heiti TC"/>
                <a:cs typeface="Heiti TC"/>
              </a:rPr>
              <a:t>源码和 SDK 更新后，文档中的成功记录容易滞后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09DBD-EA86-4AA0-8100-D5477DCA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3044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253044"/>
                </a:solidFill>
                <a:latin typeface="Heiti TC"/>
                <a:ea typeface="Heiti TC"/>
                <a:cs typeface="Heiti TC"/>
              </a:rPr>
              <a:t>维护者需要判断示例的环境和断言。</a:t>
            </a:r>
          </a:p>
          <a:p xmlns:a="http://schemas.openxmlformats.org/drawingml/2006/main">
            <a:pPr>
              <a:defRPr sz="2400" b="0">
                <a:solidFill>
                  <a:srgbClr val="253044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253044"/>
                </a:solidFill>
                <a:latin typeface="Heiti TC"/>
                <a:ea typeface="Heiti TC"/>
                <a:cs typeface="Heiti TC"/>
              </a:rPr>
              <a:t>AI 编码助手需要引用可核验的调用依据。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D7C43-608A-4D2A-8678-17D7FB31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63FA7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63FA7"/>
                </a:solidFill>
                <a:latin typeface="Heiti TC"/>
                <a:ea typeface="Heiti TC"/>
                <a:cs typeface="Heiti TC"/>
              </a:rPr>
              <a:t>CJ-DocGuard 将声明、运行结果和输入身份放在同一条证据链中。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62393-BECE-433C-969C-EB6564DC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58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8758B"/>
                </a:solidFill>
                <a:latin typeface="Heiti TC"/>
                <a:ea typeface="Heiti TC"/>
                <a:cs typeface="Heiti TC"/>
              </a:rPr>
              <a:t>目标用户：仓颉库维护者、SDK 示例维护者、AI 辅助编码开发者</a:t>
            </a:r>
          </a:p>
        </p:txBody>
      </p:sp>
    </p:spTree>
    <p:extLst>
      <p:ext uri="{BB962C8B-B14F-4D97-AF65-F5344CB8AC3E}">
        <p14:creationId xmlns:p14="http://schemas.microsoft.com/office/powerpoint/2010/main" val="16454582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D5E00-5EDF-445B-B645-733CF6ED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FA7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63FA7"/>
                </a:solidFill>
                <a:latin typeface="Heiti TC"/>
                <a:ea typeface="Heiti TC"/>
                <a:cs typeface="Heiti TC"/>
              </a:rPr>
              <a:t>仓颉核心与辅助组件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667000"/>
                <a:gridCol w="4724400"/>
              </a:tblGrid>
              <a:tr h="7429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职责</a:t>
                      </a:r>
                    </a:p>
                  </a:txBody>
                  <a:tcPr marL="171450" marR="171450" marT="133350" marB="133350">
                    <a:solidFill>
                      <a:srgbClr val="163F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实现</a:t>
                      </a:r>
                    </a:p>
                  </a:txBody>
                  <a:tcPr marL="171450" marR="171450" marT="133350" marB="133350">
                    <a:solidFill>
                      <a:srgbClr val="163F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作用</a:t>
                      </a:r>
                    </a:p>
                  </a:txBody>
                  <a:tcPr marL="171450" marR="171450" marT="133350" marB="133350">
                    <a:solidFill>
                      <a:srgbClr val="163FA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声明与源码位置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仓颉 std.ast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生成公共接口文档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输入身份与证据准入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仓颉引擎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拒绝旧输入及不完整证据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进程资源控制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Unix C 监督器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超时、中断和子进程清理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构建与助手协议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Python 标准库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调用真实引擎并提供只读查询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E3F29-734B-4EC7-8840-FA144E4E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58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8758B"/>
                </a:solidFill>
                <a:latin typeface="Heiti TC"/>
                <a:ea typeface="Heiti TC"/>
                <a:cs typeface="Heiti TC"/>
              </a:rPr>
              <a:t>进程监督器提供资源控制，不能代替操作系统安全沙箱</a:t>
            </a:r>
          </a:p>
        </p:txBody>
      </p:sp>
    </p:spTree>
    <p:extLst>
      <p:ext uri="{BB962C8B-B14F-4D97-AF65-F5344CB8AC3E}">
        <p14:creationId xmlns:p14="http://schemas.microsoft.com/office/powerpoint/2010/main" val="655597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19733-0FA1-446A-8DF7-D93EE8E6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FA7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63FA7"/>
                </a:solidFill>
                <a:latin typeface="Heiti TC"/>
                <a:ea typeface="Heiti TC"/>
                <a:cs typeface="Heiti TC"/>
              </a:rPr>
              <a:t>当前有效证据的条件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486650"/>
              </a:tblGrid>
              <a:tr h="7334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检查项</a:t>
                      </a:r>
                    </a:p>
                  </a:txBody>
                  <a:tcPr marL="171450" marR="171450" marT="133350" marB="133350">
                    <a:solidFill>
                      <a:srgbClr val="163F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准入要求</a:t>
                      </a:r>
                    </a:p>
                  </a:txBody>
                  <a:tcPr marL="171450" marR="171450" marT="133350" marB="133350">
                    <a:solidFill>
                      <a:srgbClr val="163FA7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执行结果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真实编译运行完成，登记断言通过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输入与环境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当前源码、配置、SDK 和平台一致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最新尝试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较新的失败、中断或进行中结果优先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证据完整性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阶段日志、快照及摘要完整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F61B1-5CF7-4B99-87D1-5BB1F186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58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8758B"/>
                </a:solidFill>
                <a:latin typeface="Heiti TC"/>
                <a:ea typeface="Heiti TC"/>
                <a:cs typeface="Heiti TC"/>
              </a:rPr>
              <a:t>SDK 是包含编译器及标准库的软件开发工具包</a:t>
            </a:r>
          </a:p>
        </p:txBody>
      </p:sp>
    </p:spTree>
    <p:extLst>
      <p:ext uri="{BB962C8B-B14F-4D97-AF65-F5344CB8AC3E}">
        <p14:creationId xmlns:p14="http://schemas.microsoft.com/office/powerpoint/2010/main" val="14053901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23B80-CC6E-4B76-B98E-3FCD1C5A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FA7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63FA7"/>
                </a:solidFill>
                <a:latin typeface="Heiti TC"/>
                <a:ea typeface="Heiti TC"/>
                <a:cs typeface="Heiti TC"/>
              </a:rPr>
              <a:t>输入变化对照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6915150"/>
              </a:tblGrid>
              <a:tr h="738188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观察方式</a:t>
                      </a:r>
                    </a:p>
                  </a:txBody>
                  <a:tcPr marL="171450" marR="171450" marT="133350" marB="133350">
                    <a:solidFill>
                      <a:srgbClr val="163F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改变输入后的结果</a:t>
                      </a:r>
                    </a:p>
                  </a:txBody>
                  <a:tcPr marL="171450" marR="171450" marT="133350" marB="133350">
                    <a:solidFill>
                      <a:srgbClr val="163FA7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读取原报告的成功状态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仍显示 RUN_VERIFIED 历史状态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重新查询当前证据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结果为空，当前性标记 STALE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导出可运行示例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退出 1，未创建导出目录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6BA24-FD5D-47F4-9DAD-2499338A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63FA7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63FA7"/>
                </a:solidFill>
                <a:latin typeface="Heiti TC"/>
                <a:ea typeface="Heiti TC"/>
                <a:cs typeface="Heiti TC"/>
              </a:rPr>
              <a:t>内容身份和最新尝试规则，使历史成功与当前有效性分开判断。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EEB06-6768-4C77-A309-AC7951F0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58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8758B"/>
                </a:solidFill>
                <a:latin typeface="Heiti TC"/>
                <a:ea typeface="Heiti TC"/>
                <a:cs typeface="Heiti TC"/>
              </a:rPr>
              <a:t>单个固定库的实测对照，未证明创新独占性或模型效果提升</a:t>
            </a:r>
          </a:p>
        </p:txBody>
      </p:sp>
    </p:spTree>
    <p:extLst>
      <p:ext uri="{BB962C8B-B14F-4D97-AF65-F5344CB8AC3E}">
        <p14:creationId xmlns:p14="http://schemas.microsoft.com/office/powerpoint/2010/main" val="3771207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0DB52-6646-456D-9FBA-7A1A26AB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FA7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63FA7"/>
                </a:solidFill>
                <a:latin typeface="Heiti TC"/>
                <a:ea typeface="Heiti TC"/>
                <a:cs typeface="Heiti TC"/>
              </a:rPr>
              <a:t>测试与资源验证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85925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4762500"/>
                <a:gridCol w="23431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验证范围</a:t>
                      </a:r>
                    </a:p>
                  </a:txBody>
                  <a:tcPr marL="171450" marR="171450" marT="133350" marB="133350">
                    <a:solidFill>
                      <a:srgbClr val="163F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结果</a:t>
                      </a:r>
                    </a:p>
                  </a:txBody>
                  <a:tcPr marL="171450" marR="171450" marT="133350" marB="133350">
                    <a:solidFill>
                      <a:srgbClr val="163F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记录</a:t>
                      </a:r>
                    </a:p>
                  </a:txBody>
                  <a:tcPr marL="171450" marR="171450" marT="133350" marB="133350">
                    <a:solidFill>
                      <a:srgbClr val="163FA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完整核心回归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80 项 Python，零跳过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R05 冻结记录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原生模块双 SDK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14 个程序通过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R05 冻结记录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真实只读 MCP 集成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13 单元加 1 原生集成通过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R11 聚焦记录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308 次历史，128MB 堆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修复后查询、验证、检查退出 0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R03 受控记录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D90A0-AEBA-49CD-9251-4D19B7F1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58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8758B"/>
                </a:solidFill>
                <a:latin typeface="Heiti TC"/>
                <a:ea typeface="Heiti TC"/>
                <a:cs typeface="Heiti TC"/>
              </a:rPr>
              <a:t>不同套件覆盖重叠，测试数量不代表普遍准确率或覆盖率百分比</a:t>
            </a:r>
          </a:p>
        </p:txBody>
      </p:sp>
    </p:spTree>
    <p:extLst>
      <p:ext uri="{BB962C8B-B14F-4D97-AF65-F5344CB8AC3E}">
        <p14:creationId xmlns:p14="http://schemas.microsoft.com/office/powerpoint/2010/main" val="17480018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6835B-B7B8-484E-B7CF-904B661B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FA7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63FA7"/>
                </a:solidFill>
                <a:latin typeface="Heiti TC"/>
                <a:ea typeface="Heiti TC"/>
                <a:cs typeface="Heiti TC"/>
              </a:rPr>
              <a:t>真实开源库的发布检查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19125" y="1714500"/>
          <a:ext xmlns:a="http://schemas.openxmlformats.org/drawingml/2006/main" cx="70008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5b898ad4e241ce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9BD9E-AF25-4FB7-9C47-894766E5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73F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8273F"/>
                </a:solidFill>
                <a:latin typeface="Heiti TC"/>
                <a:ea typeface="Heiti TC"/>
                <a:cs typeface="Heiti TC"/>
              </a:rPr>
              <a:t>40 格完整保留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790FF-8913-40F9-8124-2C89CC64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3333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044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253044"/>
                </a:solidFill>
                <a:latin typeface="Heiti TC"/>
                <a:ea typeface="Heiti TC"/>
                <a:cs typeface="Heiti TC"/>
              </a:rPr>
              <a:t>36 格当前有效</a:t>
            </a:r>
          </a:p>
          <a:p xmlns:a="http://schemas.openxmlformats.org/drawingml/2006/main">
            <a:pPr>
              <a:defRPr sz="2250" b="0">
                <a:solidFill>
                  <a:srgbClr val="253044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253044"/>
                </a:solidFill>
                <a:latin typeface="Heiti TC"/>
                <a:ea typeface="Heiti TC"/>
                <a:cs typeface="Heiti TC"/>
              </a:rPr>
              <a:t>4 格断言失败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044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253044"/>
                </a:solidFill>
                <a:latin typeface="Heiti TC"/>
                <a:ea typeface="Heiti TC"/>
                <a:cs typeface="Heiti TC"/>
              </a:rPr>
              <a:t>strict 返回失败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DAA83-9524-4BA3-A6B1-032D8443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58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8758B"/>
                </a:solidFill>
                <a:latin typeface="Heiti TC"/>
                <a:ea typeface="Heiti TC"/>
                <a:cs typeface="Heiti TC"/>
              </a:rPr>
              <a:t>本轮 macOS arm64 实测，固定上游源码未修改，未验证上游完整测试套件</a:t>
            </a:r>
          </a:p>
        </p:txBody>
      </p:sp>
    </p:spTree>
    <p:extLst>
      <p:ext uri="{BB962C8B-B14F-4D97-AF65-F5344CB8AC3E}">
        <p14:creationId xmlns:p14="http://schemas.microsoft.com/office/powerpoint/2010/main" val="17374669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EAA08-B456-4C1F-AC8D-B7D170EB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FA7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63FA7"/>
                </a:solidFill>
                <a:latin typeface="Heiti TC"/>
                <a:ea typeface="Heiti TC"/>
                <a:cs typeface="Heiti TC"/>
              </a:rPr>
              <a:t>有效示例的独立复现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704975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6819900"/>
              </a:tblGrid>
              <a:tr h="7239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维护步骤</a:t>
                      </a:r>
                    </a:p>
                  </a:txBody>
                  <a:tcPr marL="171450" marR="171450" marT="133350" marB="133350">
                    <a:solidFill>
                      <a:srgbClr val="163F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实际结果</a:t>
                      </a:r>
                    </a:p>
                  </a:txBody>
                  <a:tcPr marL="171450" marR="171450" marT="133350" marB="133350">
                    <a:solidFill>
                      <a:srgbClr val="163FA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验证并严格检查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全部 40 格保留，严格检查返回失败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查询 upstream-api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两版各返回当前有效证据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导出冻结源码及清单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两版各生成独立可运行目录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用对应 SDK 重建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两版均输出 3、2、3，退出 0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5326E-FA58-45B0-9F1E-705E07D8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58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8758B"/>
                </a:solidFill>
                <a:latin typeface="Heiti TC"/>
                <a:ea typeface="Heiti TC"/>
                <a:cs typeface="Heiti TC"/>
              </a:rPr>
              <a:t>有效单例可以复现，不能替代整个库的发布检查</a:t>
            </a:r>
          </a:p>
        </p:txBody>
      </p:sp>
    </p:spTree>
    <p:extLst>
      <p:ext uri="{BB962C8B-B14F-4D97-AF65-F5344CB8AC3E}">
        <p14:creationId xmlns:p14="http://schemas.microsoft.com/office/powerpoint/2010/main" val="8884010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335EC-E001-405E-9507-5BDCDFB1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FA7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63FA7"/>
                </a:solidFill>
                <a:latin typeface="Heiti TC"/>
                <a:ea typeface="Heiti TC"/>
                <a:cs typeface="Heiti TC"/>
              </a:rPr>
              <a:t>可复用的 AI 生态贡献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648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200900"/>
              </a:tblGrid>
              <a:tr h="72961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贡献</a:t>
                      </a:r>
                    </a:p>
                  </a:txBody>
                  <a:tcPr marL="171450" marR="171450" marT="133350" marB="133350">
                    <a:solidFill>
                      <a:srgbClr val="163F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开发者如何复用</a:t>
                      </a:r>
                    </a:p>
                  </a:txBody>
                  <a:tcPr marL="171450" marR="171450" marT="133350" marB="133350">
                    <a:solidFill>
                      <a:srgbClr val="163FA7"/>
                    </a:solidFill>
                  </a:tcPr>
                </a:tc>
              </a:tr>
              <a:tr h="72961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Skill 助手操作指南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阅读证据边界，引用真实尝试编号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</a:tr>
              <a:tr h="72961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MCP 助手工具协议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查询声明与精确环境下的运行证据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配置与工作流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按安装说明接入并独立复现示例</a:t>
                      </a:r>
                    </a:p>
                  </a:txBody>
                  <a:tcPr marL="171450" marR="171450" marT="133350" marB="133350">
                    <a:solidFill>
                      <a:srgbClr val="F4F7FC"/>
                    </a:solidFill>
                  </a:tcPr>
                </a:tc>
              </a:tr>
              <a:tr h="72961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提示模板和验证日志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044"/>
                          </a:solidFill>
                          <a:latin typeface="Heiti TC"/>
                          <a:ea typeface="Heiti TC"/>
                          <a:cs typeface="Heiti TC"/>
                        </a:rPr>
                        <a:t>复用查询方法，核验拒绝与恢复行为</a:t>
                      </a:r>
                    </a:p>
                  </a:txBody>
                  <a:tcPr marL="171450" marR="171450" marT="133350" marB="1333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2C4BC-63C4-4A36-A5B5-97012D97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58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8758B"/>
                </a:solidFill>
                <a:latin typeface="Heiti TC"/>
                <a:ea typeface="Heiti TC"/>
                <a:cs typeface="Heiti TC"/>
              </a:rPr>
              <a:t>独立仓库 cj-docguard-ai，模型实验未证明效果提升，加分由评审决定</a:t>
            </a:r>
          </a:p>
        </p:txBody>
      </p:sp>
    </p:spTree>
    <p:extLst>
      <p:ext uri="{BB962C8B-B14F-4D97-AF65-F5344CB8AC3E}">
        <p14:creationId xmlns:p14="http://schemas.microsoft.com/office/powerpoint/2010/main" val="1614117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8DAF9-18A8-43C5-819F-582271A0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FA7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63FA7"/>
                </a:solidFill>
                <a:latin typeface="Heiti TC"/>
                <a:ea typeface="Heiti TC"/>
                <a:cs typeface="Heiti TC"/>
              </a:rPr>
              <a:t>交付与支持范围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15951-15AE-400A-A0A3-664EC8BD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73F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8273F"/>
                </a:solidFill>
                <a:latin typeface="Heiti TC"/>
                <a:ea typeface="Heiti TC"/>
                <a:cs typeface="Heiti TC"/>
              </a:rPr>
              <a:t>作品仓库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25816-698F-40B8-95BE-919614F9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3FA7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63FA7"/>
                </a:solidFill>
                <a:latin typeface="Heiti TC"/>
                <a:ea typeface="Heiti TC"/>
                <a:cs typeface="Heiti TC"/>
              </a:rPr>
              <a:t>https://atomgit.com/c2892480843s/cj-docguard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0BD12-9436-46B6-BA1B-11D7D898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73F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8273F"/>
                </a:solidFill>
                <a:latin typeface="Heiti TC"/>
                <a:ea typeface="Heiti TC"/>
                <a:cs typeface="Heiti TC"/>
              </a:rPr>
              <a:t>AI 贡献仓库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D59F8-B757-4313-AAF3-3BC4BC00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3FA7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63FA7"/>
                </a:solidFill>
                <a:latin typeface="Heiti TC"/>
                <a:ea typeface="Heiti TC"/>
                <a:cs typeface="Heiti TC"/>
              </a:rPr>
              <a:t>https://atomgit.com/c2892480843s/cj-docguard-ai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60EE4-D629-4EB7-B37C-5F7E43CA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044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253044"/>
                </a:solidFill>
                <a:latin typeface="Heiti TC"/>
                <a:ea typeface="Heiti TC"/>
                <a:cs typeface="Heiti TC"/>
              </a:rPr>
              <a:t>支持经审核的单包项目，SDK 1.1.3 和 1.2.0。</a:t>
            </a:r>
          </a:p>
          <a:p xmlns:a="http://schemas.openxmlformats.org/drawingml/2006/main">
            <a:pPr>
              <a:defRPr sz="2100" b="0">
                <a:solidFill>
                  <a:srgbClr val="253044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253044"/>
                </a:solidFill>
                <a:latin typeface="Heiti TC"/>
                <a:ea typeface="Heiti TC"/>
                <a:cs typeface="Heiti TC"/>
              </a:rPr>
              <a:t>macOS arm64 本轮实测，Linux aarch64 有历史原生验证。</a:t>
            </a:r>
          </a:p>
          <a:p xmlns:a="http://schemas.openxmlformats.org/drawingml/2006/main">
            <a:pPr>
              <a:defRPr sz="2100" b="0">
                <a:solidFill>
                  <a:srgbClr val="253044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253044"/>
                </a:solidFill>
                <a:latin typeface="Heiti TC"/>
                <a:ea typeface="Heiti TC"/>
                <a:cs typeface="Heiti TC"/>
              </a:rPr>
              <a:t>Windows、多包依赖和完整 Markdown 仍待扩展。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B6852-4597-4140-9D3B-0FFCD536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58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8758B"/>
                </a:solidFill>
                <a:latin typeface="Heiti TC"/>
                <a:ea typeface="Heiti TC"/>
                <a:cs typeface="Heiti TC"/>
              </a:rPr>
              <a:t>完整代码、教程、视频、模板、PPT 和验证材料均有入口</a:t>
            </a:r>
          </a:p>
        </p:txBody>
      </p:sp>
    </p:spTree>
    <p:extLst>
      <p:ext uri="{BB962C8B-B14F-4D97-AF65-F5344CB8AC3E}">
        <p14:creationId xmlns:p14="http://schemas.microsoft.com/office/powerpoint/2010/main" val="391699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2026-10-07T12:10:47.4000000Z</dcterms:created>
  <dcterms:modified xsi:type="dcterms:W3CDTF">2026-10-07T12:10:47.4000000Z</dcterms:modified>
</coreProperties>
</file>