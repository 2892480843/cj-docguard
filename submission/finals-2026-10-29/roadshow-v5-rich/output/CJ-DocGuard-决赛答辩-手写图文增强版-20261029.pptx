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87a7e1543e4451" /><Relationship Type="http://schemas.openxmlformats.org/officeDocument/2006/relationships/extended-properties" Target="/docProps/app.xml" Id="Re166e9dea0e84e7a" /><Relationship Type="http://schemas.openxmlformats.org/officeDocument/2006/relationships/officeDocument" Target="/ppt/presentation.xml" Id="Rd7934c96b2f847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2cfc6fe584d77"/>
  </p:sldMasterIdLst>
  <p:notesMasterIdLst>
    <p:notesMasterId xmlns:r="http://schemas.openxmlformats.org/officeDocument/2006/relationships" r:id="Rb12150b19f8c4deb"/>
  </p:notesMasterIdLst>
  <p:sldIdLst>
    <p:sldId xmlns:r="http://schemas.openxmlformats.org/officeDocument/2006/relationships" id="256" r:id="R1ef8e29ada4142eb"/>
    <p:sldId xmlns:r="http://schemas.openxmlformats.org/officeDocument/2006/relationships" id="257" r:id="Re290748382464ae9"/>
    <p:sldId xmlns:r="http://schemas.openxmlformats.org/officeDocument/2006/relationships" id="258" r:id="R629d04a4e7bd422e"/>
    <p:sldId xmlns:r="http://schemas.openxmlformats.org/officeDocument/2006/relationships" id="259" r:id="Re5bd542520024e0f"/>
    <p:sldId xmlns:r="http://schemas.openxmlformats.org/officeDocument/2006/relationships" id="260" r:id="Rbec92f4e8a3c4d9b"/>
    <p:sldId xmlns:r="http://schemas.openxmlformats.org/officeDocument/2006/relationships" id="261" r:id="R766d1116faae451e"/>
    <p:sldId xmlns:r="http://schemas.openxmlformats.org/officeDocument/2006/relationships" id="262" r:id="R658ba1f0711546d7"/>
    <p:sldId xmlns:r="http://schemas.openxmlformats.org/officeDocument/2006/relationships" id="263" r:id="Rb6791422cf864c41"/>
    <p:sldId xmlns:r="http://schemas.openxmlformats.org/officeDocument/2006/relationships" id="264" r:id="Rc1094ef05b1f4637"/>
    <p:sldId xmlns:r="http://schemas.openxmlformats.org/officeDocument/2006/relationships" id="265" r:id="R67864356901143d5"/>
    <p:sldId xmlns:r="http://schemas.openxmlformats.org/officeDocument/2006/relationships" id="266" r:id="Raebd17e0f63e479d"/>
    <p:sldId xmlns:r="http://schemas.openxmlformats.org/officeDocument/2006/relationships" id="267" r:id="Rd5e4305e899647aa"/>
    <p:sldId xmlns:r="http://schemas.openxmlformats.org/officeDocument/2006/relationships" id="268" r:id="R1c301ccc48dc41ec"/>
    <p:sldId xmlns:r="http://schemas.openxmlformats.org/officeDocument/2006/relationships" id="269" r:id="R13f67ae78a6049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c2fecb72c3418a" /><Relationship Type="http://schemas.openxmlformats.org/officeDocument/2006/relationships/slideMaster" Target="/ppt/slideMasters/slideMaster1.xml" Id="Ra842cfc6fe584d77" /><Relationship Type="http://schemas.openxmlformats.org/officeDocument/2006/relationships/notesMaster" Target="/ppt/notesMasters/notesMaster1.xml" Id="Rb12150b19f8c4deb" /><Relationship Type="http://schemas.openxmlformats.org/officeDocument/2006/relationships/presProps" Target="/ppt/presProps.xml" Id="Rc88c887b0afe41d8" /><Relationship Type="http://schemas.openxmlformats.org/officeDocument/2006/relationships/tableStyles" Target="/ppt/tableStyles.xml" Id="R3a2f607acc064c7f" /><Relationship Type="http://schemas.openxmlformats.org/officeDocument/2006/relationships/slide" Target="/ppt/slides/slide1.xml" Id="R1ef8e29ada4142eb" /><Relationship Type="http://schemas.openxmlformats.org/officeDocument/2006/relationships/slide" Target="/ppt/slides/slide2.xml" Id="Re290748382464ae9" /><Relationship Type="http://schemas.openxmlformats.org/officeDocument/2006/relationships/slide" Target="/ppt/slides/slide3.xml" Id="R629d04a4e7bd422e" /><Relationship Type="http://schemas.openxmlformats.org/officeDocument/2006/relationships/slide" Target="/ppt/slides/slide4.xml" Id="Re5bd542520024e0f" /><Relationship Type="http://schemas.openxmlformats.org/officeDocument/2006/relationships/slide" Target="/ppt/slides/slide5.xml" Id="Rbec92f4e8a3c4d9b" /><Relationship Type="http://schemas.openxmlformats.org/officeDocument/2006/relationships/slide" Target="/ppt/slides/slide6.xml" Id="R766d1116faae451e" /><Relationship Type="http://schemas.openxmlformats.org/officeDocument/2006/relationships/slide" Target="/ppt/slides/slide7.xml" Id="R658ba1f0711546d7" /><Relationship Type="http://schemas.openxmlformats.org/officeDocument/2006/relationships/slide" Target="/ppt/slides/slide8.xml" Id="Rb6791422cf864c41" /><Relationship Type="http://schemas.openxmlformats.org/officeDocument/2006/relationships/slide" Target="/ppt/slides/slide9.xml" Id="Rc1094ef05b1f4637" /><Relationship Type="http://schemas.openxmlformats.org/officeDocument/2006/relationships/slide" Target="/ppt/slides/slide10.xml" Id="R67864356901143d5" /><Relationship Type="http://schemas.openxmlformats.org/officeDocument/2006/relationships/slide" Target="/ppt/slides/slide11.xml" Id="Raebd17e0f63e479d" /><Relationship Type="http://schemas.openxmlformats.org/officeDocument/2006/relationships/slide" Target="/ppt/slides/slide12.xml" Id="Rd5e4305e899647aa" /><Relationship Type="http://schemas.openxmlformats.org/officeDocument/2006/relationships/slide" Target="/ppt/slides/slide13.xml" Id="R1c301ccc48dc41ec" /><Relationship Type="http://schemas.openxmlformats.org/officeDocument/2006/relationships/slide" Target="/ppt/slides/slide14.xml" Id="R13f67ae78a6049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bbe34df91e46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Notebook Marker">
      <a:dk1>
        <a:srgbClr val="000000"/>
      </a:dk1>
      <a:lt1>
        <a:srgbClr val="FFFFFF"/>
      </a:lt1>
      <a:dk2>
        <a:srgbClr val="2A302D"/>
      </a:dk2>
      <a:lt2>
        <a:srgbClr val="FAF6EB"/>
      </a:lt2>
      <a:accent1>
        <a:srgbClr val="28638C"/>
      </a:accent1>
      <a:accent2>
        <a:srgbClr val="397B60"/>
      </a:accent2>
      <a:accent3>
        <a:srgbClr val="D89E38"/>
      </a:accent3>
      <a:accent4>
        <a:srgbClr val="AA554B"/>
      </a:accent4>
      <a:accent5>
        <a:srgbClr val="8D9D86"/>
      </a:accent5>
      <a:accent6>
        <a:srgbClr val="77654F"/>
      </a:accent6>
      <a:hlink>
        <a:srgbClr val="28638C"/>
      </a:hlink>
      <a:folHlink>
        <a:srgbClr val="397B60"/>
      </a:folHlink>
    </a:clrScheme>
    <a:fontScheme name="">
      <a:majorFont>
        <a:latin typeface="Ma Shan Zheng"/>
        <a:ea typeface=""/>
        <a:cs typeface=""/>
      </a:majorFont>
      <a:minorFont>
        <a:latin typeface="Ma Shan Zheng"/>
        <a:ea typeface=""/>
        <a:cs typeface=""/>
      </a:minorFont>
    </a:fontScheme>
    <a:fmtScheme name="Notebook Mar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9f9fbb32cc4758" /><Relationship Type="http://schemas.openxmlformats.org/officeDocument/2006/relationships/notesMaster" Target="/ppt/notesMasters/notesMaster1.xml" Id="R1dceae57373f4d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7959513f7c40e4" /><Relationship Type="http://schemas.openxmlformats.org/officeDocument/2006/relationships/notesMaster" Target="/ppt/notesMasters/notesMaster1.xml" Id="Rc2648f27525c4a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b323f005464bc5" /><Relationship Type="http://schemas.openxmlformats.org/officeDocument/2006/relationships/notesMaster" Target="/ppt/notesMasters/notesMaster1.xml" Id="R634882b74e3b44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da0ec4f61d4125" /><Relationship Type="http://schemas.openxmlformats.org/officeDocument/2006/relationships/notesMaster" Target="/ppt/notesMasters/notesMaster1.xml" Id="R37e518efd7814c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0bee8dec5c4790" /><Relationship Type="http://schemas.openxmlformats.org/officeDocument/2006/relationships/notesMaster" Target="/ppt/notesMasters/notesMaster1.xml" Id="Re714a98738d646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1c09900e8847bc" /><Relationship Type="http://schemas.openxmlformats.org/officeDocument/2006/relationships/notesMaster" Target="/ppt/notesMasters/notesMaster1.xml" Id="Rcc78efd08e4e45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3dec45edf84746" /><Relationship Type="http://schemas.openxmlformats.org/officeDocument/2006/relationships/notesMaster" Target="/ppt/notesMasters/notesMaster1.xml" Id="R70aceaada78841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d847aab86d414b" /><Relationship Type="http://schemas.openxmlformats.org/officeDocument/2006/relationships/notesMaster" Target="/ppt/notesMasters/notesMaster1.xml" Id="R76457d4def8044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98dfeba48d4fc3" /><Relationship Type="http://schemas.openxmlformats.org/officeDocument/2006/relationships/notesMaster" Target="/ppt/notesMasters/notesMaster1.xml" Id="R205cd19e479c4d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2245a4f4394e9f" /><Relationship Type="http://schemas.openxmlformats.org/officeDocument/2006/relationships/notesMaster" Target="/ppt/notesMasters/notesMaster1.xml" Id="Re1a9333026d043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73a98752384581" /><Relationship Type="http://schemas.openxmlformats.org/officeDocument/2006/relationships/notesMaster" Target="/ppt/notesMasters/notesMaster1.xml" Id="R76fb01cf9bfc40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3b7525d30b403b" /><Relationship Type="http://schemas.openxmlformats.org/officeDocument/2006/relationships/notesMaster" Target="/ppt/notesMasters/notesMaster1.xml" Id="R9a969d670b9841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b8d5cef5484bc4" /><Relationship Type="http://schemas.openxmlformats.org/officeDocument/2006/relationships/notesMaster" Target="/ppt/notesMasters/notesMaster1.xml" Id="Ra6688b59f0d94e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7c9aa11c814ba6" /><Relationship Type="http://schemas.openxmlformats.org/officeDocument/2006/relationships/notesMaster" Target="/ppt/notesMasters/notesMaster1.xml" Id="Rb482d3f9fee647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主讲时段：0:00至0:20，20秒（包含现场操作）。</a:t>
            </a:r>
          </a:p>
          <a:p xmlns:a="http://schemas.openxmlformats.org/drawingml/2006/main">
            <a:r>
              <a:t>各位评委好，CJ-DocGuard 是面向仓颉库维护者的项目级 API 文档生成及测试工作台。它将声明、示例、开发工具包版本和链接检查放在同一处。右边是当前工作区的实际界面。本版有四十七个公共接口、十四个登记示例，使用两版真实仓颉工具链。网页服务和核心处理由仓颉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动作：指向当前工作台画面与三组数量，说明面向库维护者。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来源：facts.json；assets/overview.png；docs/ui/2026-10-29-controls/native-workflow.json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主讲时段：0:20至1:00，40秒（包含现场操作）。</a:t>
            </a:r>
          </a:p>
          <a:p xmlns:a="http://schemas.openxmlformats.org/drawingml/2006/main">
            <a:r>
              <a:t>赛题的三项交付，在工作台里对应明确入口。结构化文档提供声明、参数、返回类型和关联示例；示例测试调用真实编译器和运行库，记录退出状态并核对输出；版本矩阵和链接检查分别给出环境对应关系、失效位置与原因。维护者通过本地配置接入现有项目。登记项目不会自动允许执行，仍需要明确审阅与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动作：从赛题交付讲到网页入口，再说明登记与执行信任。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来源：docs/finals-requirement-evidence-2026-10-29.md；assets/config.png；examples/healthy/docguard.toml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主讲时段：1:00至1:50，50秒（包含现场操作）。</a:t>
            </a:r>
          </a:p>
          <a:p xmlns:a="http://schemas.openxmlformats.org/drawingml/2006/main">
            <a:r>
              <a:t>这里用 add 展开说明。接口页可以检索声明，看到两个整数参数和整数返回类型，关联到 arithmetic 等登记示例，并能跳到源码。左侧示例调用 add 二十和二十二，登记输出是四十二加换行，期望退出码为零。文档提供 JSON、HTML 和 Markdown 产物。接口出现于文档不代表所有输入都已经测试；重名和重载需要明确的符号身份。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动作：按声明→示例源码→期望输出→关联来源讲清链路。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来源：assets/api.png；examples/healthy/programs/arithmetic.cj；examples/healthy/docguard.toml；src/bindings.cj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主讲时段：1:50至3:10，80秒（包含现场操作）。</a:t>
            </a:r>
          </a:p>
          <a:p xmlns:a="http://schemas.openxmlformats.org/drawingml/2006/main">
            <a:r>
              <a:t>现在切到网页，依次检索接口、查看矩阵，再指定 SDK 一点二点零、当前平台和 arithmetic 查询有效示例。本次实际查询返回一条有效记录，没有被拒绝的记录。随后选择同一环境导出 ZIP。两步都会检查当前输入，导出包中有源码、环境清单和重建脚本。已有矩阵和导出记录是准备阶段的结果，现场新任务若未完成，只说明已经发起。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动作：0—15秒检索；15—30秒矩阵；30—55秒精确查询；55—75秒导出；75—80秒返回PPT。等待超过8秒切回本页实际图片。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来源：assets/query-result.png（本次SDK1.2.0查询）；assets/export.png；src/export.cj；build/workbench/artifacts/278ff8b7c9c5e6dd1d3d98397b829650/native/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主讲时段：3:10至4:00，50秒（包含现场操作）。</a:t>
            </a:r>
          </a:p>
          <a:p xmlns:a="http://schemas.openxmlformats.org/drawingml/2006/main">
            <a:r>
              <a:t>架构分为浏览器、仓颉本地服务、仓颉核心和真实工具链。浏览器负责标准网页交互，仓颉服务处理项目、配置和任务请求。核心使用 std.ast 提取受支持声明，再由符号绑定、执行编排和当前结果判断等模块处理。C 负责子进程监督，Bash 负责构建启动，Python 用于测试和只读协议适配等辅助工作。这里没有把进程资源限制说成完整安全沙箱。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动作：从服务架构讲到模块表和工具链，简述语言分工。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来源：workbench_native/；src/extractor.cj；src/evidence.cj；src/export.cj；scripts/runner.c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主讲时段：4:00至4:50，50秒（包含现场操作）。</a:t>
            </a:r>
          </a:p>
          <a:p xmlns:a="http://schemas.openxmlformats.org/drawingml/2006/main">
            <a:r>
              <a:t>统计图和实际矩阵展示同一组当前记录。每个 SDK 有十三条运行通过和一条仅编译，两版合计二十六条运行通过、两条仅编译。矩阵按示例和工具包分别定位，点开单元格可以查看日志、退出码以及期望和实际输出。仅编译只说明编译完成，没有验证运行行为。这些数量描述本版登记样例，不是项目正确率，也不是全语言覆盖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动作：对照统计图、矩阵截图和原生表格，不把仅编译当作运行通过。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来源：facts.json；assets/matrix.png；docs/ui/2026-10-29-controls/native-workflow.json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主讲时段：4:50至5:35，45秒（包含现场操作）。</a:t>
            </a:r>
          </a:p>
          <a:p xmlns:a="http://schemas.openxmlformats.org/drawingml/2006/main">
            <a:r>
              <a:t>当前可用的判断同时考虑源码、配置、工具链、平台、记录完整性和相应环境的最新尝试。源码变更后需要重测，最新尝试失败时不能回退旧成功，不同 SDK 或平台也不能相互替代。右侧历史列表仍保留过去的记录，但页面明确说明它们不直接代表当前结果。查询和导出使用同一套判断规则。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动作：解释三种拒绝情形，指向历史页面上的提示。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来源：assets/history.png；src/evidence.cj；src/engine.cj；src/export.cj；tests/native_evidence.cj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主讲时段：5:35至6:20，45秒（包含现场操作）。</a:t>
            </a:r>
          </a:p>
          <a:p xmlns:a="http://schemas.openxmlformats.org/drawingml/2006/main">
            <a:r>
              <a:t>链接检查会保留来源行号、原始目标和失败原因。右侧是当前专项样例的实际页面：缺失文件和缺失锚点分别定位到 README 第十三和十四行。专项样例共二十六条，二十三条通过、两处预置坏链被识别、一条离线外链未确认；严格检查返回一符合预期。健康工作区另有一百七十八条链接通过，两组数量不混在一起。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动作：分开说明健康工作区与专项样例，定位两处预置失败。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来源：facts.json；assets/links.png；examples/link-checks/README.md；src/links.cj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主讲时段：6:20至7:05，45秒（包含现场操作）。</a:t>
            </a:r>
          </a:p>
          <a:p xmlns:a="http://schemas.openxmlformats.org/drawingml/2006/main">
            <a:r>
              <a:t>决赛当前版本完善了真实选项、条件联动、禁用与忙碌反馈，以及排队、运行、结束等任务状态。没有数量进度时不会编造百分比。左下是准备阶段的实际运行画面，现在双 SDK 任务已完成。当前二十三项原生服务专项回归通过，网页脚本覆盖二十种页面场景和交互，三档十页共三十次布局检查。七百三十九条历史完整保留，任务采用显式内存上限。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动作：结合两个界面画面说明选项和任务，再讲当前检查的各自口径。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来源：assets/project-options.png；assets/task-running.png；../roadshow-v3/checks/native-http-current.txt；../roadshow-v3/checks/ui-current.txt；docs/ui/2026-10-29-controls/layout-checks.json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主讲时段：7:05至7:30，25秒（包含现场操作）。</a:t>
            </a:r>
          </a:p>
          <a:p xmlns:a="http://schemas.openxmlformats.org/drawingml/2006/main">
            <a:r>
              <a:t>交付内容包括结构化文档、独立环境测试记录、可导出的示例源码及重建脚本。维护者可以在网页审阅登记源码，修改后重新构建和测试。评委可获取固定功能提交，按指南准备两版仓颉工具包与兼容系统 SDK，再启动本地工作台。当前完整实测宿主是 macOS arm64。谢谢各位评委。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动作：指出交付包内容、源码编辑和固定版本，结束主讲。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来源：assets/source-editor.png；src/export.cj；docs/judge-quickstart.md；功能源码068a22a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按已实现和已测试范围回答：完整宿主为 macOS arm64，两版 SDK；解析使用 std.ast 和已测试声明子集；输出检查只覆盖登记行为；外链未联网则保留未确认；执行面向维护者明确授权的可信项目。其他宿主和复杂项目需单独复验。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动作：按问题选择支持范围中的对应行。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来源：docs/requirements-status.md；docs/native-workbench.md；src/extractor.cj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右侧是 arithmetic 的实际输出核对，SDK 一点一点三的记录中，退出码期望和实际均为零，stdout 期望和实际均为四十二加换行。运行通过要求实际执行并通过登记输出检查；仅编译没有运行验证。需重测和历史记录分别保留。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动作：指向退出码和stdout的期望、实际及通过状态。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来源：assets/output-check.png；examples/healthy/docguard.toml；src/engine.cj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评委先准备并登记工具链，再克隆仓库并检出固定功能提交，构建原生服务并启动工作台。源码目录首次没有历史报告是正常状态。SDK 安装路径和系统 SDK 必须改为评委机器上实际存在的兼容路径。服务只用于本机。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动作：按先配置、再构建、后启动的顺序说明。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来源：docs/judge-quickstart.md；scripts/build_workbench.sh；scripts/workbench.sh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配置将项目源码、SDK、示例、符号与运行方式联系起来。示例片段声明 arithmetic 关联 add，按 run 模式检查输出四十二加换行与退出码零。网页查询的 SDK、平台和示例选项来自实际配置和记录，界面选择不会绕过服务端的当前结果校验。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动作：解释配置字段如何映射符号、SDK和查询条件。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来源：examples/healthy/docguard.toml；assets/query-form.png；web/views.js；src/bindings.cj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视觉：底纹为图像生成的纸张纹理，不是产品运行记录；本次只读查询见图，矩阵与测试统计沿用当前功能源码068a22a的已记录结果。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9ada7f90f48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fba30199943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4d720f62a46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31e808aa343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b9c827afd49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db288394c48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2768DC-F5C8-4BF8-BEC5-390108A12F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33DDDC-6790-459D-B490-A6980B20E2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1830C4-4D4E-4B94-8BCB-D850B958AC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A4F1F5-85C2-4AEF-83B6-54CE1F4D12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C8A74E-EBE2-4D32-9E36-D056E491D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FBAE39-86B7-422B-81DE-0722158DF7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0B25E5-6B5E-4AFC-96C6-DBCAF7DE7C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708C73-CE2B-4888-8CE6-131C61E4C7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B45D67-5737-46EA-B43B-4E9927AFA4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6AE6A1-8062-48C3-8477-9D5412C995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0d798ffab14178" /><Relationship Type="http://schemas.openxmlformats.org/officeDocument/2006/relationships/slideLayout" Target="/ppt/slideLayouts/slideLayout1.xml" Id="Rff828e32696a440a" /><Relationship Type="http://schemas.openxmlformats.org/officeDocument/2006/relationships/slideLayout" Target="/ppt/slideLayouts/slideLayout2.xml" Id="Rf2c6d66de3ab44f8" /><Relationship Type="http://schemas.openxmlformats.org/officeDocument/2006/relationships/slideLayout" Target="/ppt/slideLayouts/slideLayout3.xml" Id="Rc4c7db385e524201" /><Relationship Type="http://schemas.openxmlformats.org/officeDocument/2006/relationships/slideLayout" Target="/ppt/slideLayouts/slideLayout4.xml" Id="Rc836a04fdbf5487c" /><Relationship Type="http://schemas.openxmlformats.org/officeDocument/2006/relationships/slideLayout" Target="/ppt/slideLayouts/slideLayout5.xml" Id="Rfacc11e216b04293" /><Relationship Type="http://schemas.openxmlformats.org/officeDocument/2006/relationships/slideLayout" Target="/ppt/slideLayouts/slideLayout6.xml" Id="Refe3183479b34c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828e32696a440a"/>
    <p:sldLayoutId xmlns:r="http://schemas.openxmlformats.org/officeDocument/2006/relationships" id="2147483650" r:id="Rf2c6d66de3ab44f8"/>
    <p:sldLayoutId xmlns:r="http://schemas.openxmlformats.org/officeDocument/2006/relationships" id="2147483651" r:id="Rc4c7db385e524201"/>
    <p:sldLayoutId xmlns:r="http://schemas.openxmlformats.org/officeDocument/2006/relationships" id="2147483652" r:id="Rc836a04fdbf5487c"/>
    <p:sldLayoutId xmlns:r="http://schemas.openxmlformats.org/officeDocument/2006/relationships" id="2147483653" r:id="Rfacc11e216b04293"/>
    <p:sldLayoutId xmlns:r="http://schemas.openxmlformats.org/officeDocument/2006/relationships" id="2147483654" r:id="Refe3183479b34c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Notebook Marker">
      <a:dk1>
        <a:srgbClr val="000000"/>
      </a:dk1>
      <a:lt1>
        <a:srgbClr val="FFFFFF"/>
      </a:lt1>
      <a:dk2>
        <a:srgbClr val="2A302D"/>
      </a:dk2>
      <a:lt2>
        <a:srgbClr val="FAF6EB"/>
      </a:lt2>
      <a:accent1>
        <a:srgbClr val="28638C"/>
      </a:accent1>
      <a:accent2>
        <a:srgbClr val="397B60"/>
      </a:accent2>
      <a:accent3>
        <a:srgbClr val="D89E38"/>
      </a:accent3>
      <a:accent4>
        <a:srgbClr val="AA554B"/>
      </a:accent4>
      <a:accent5>
        <a:srgbClr val="8D9D86"/>
      </a:accent5>
      <a:accent6>
        <a:srgbClr val="77654F"/>
      </a:accent6>
      <a:hlink>
        <a:srgbClr val="28638C"/>
      </a:hlink>
      <a:folHlink>
        <a:srgbClr val="397B60"/>
      </a:folHlink>
    </a:clrScheme>
    <a:fontScheme name="">
      <a:majorFont>
        <a:latin typeface="Ma Shan Zheng"/>
        <a:ea typeface=""/>
        <a:cs typeface=""/>
      </a:majorFont>
      <a:minorFont>
        <a:latin typeface="Ma Shan Zheng"/>
        <a:ea typeface=""/>
        <a:cs typeface=""/>
      </a:minorFont>
    </a:fontScheme>
    <a:fmtScheme name="Notebook Mar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49f1b96224c0b" /><Relationship Type="http://schemas.openxmlformats.org/officeDocument/2006/relationships/image" Target="/ppt/media/image.png" Id="R7a861783b0374665" /><Relationship Type="http://schemas.openxmlformats.org/officeDocument/2006/relationships/image" Target="/ppt/media/image.jpeg" Id="R97b7c51aac90485f" /><Relationship Type="http://schemas.openxmlformats.org/officeDocument/2006/relationships/notesSlide" Target="/ppt/notesSlides/notesSlide1.xml" Id="Rd60bf09bbf404c66" 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a2fed50509654499" /><ns0:Relationship Type="http://schemas.openxmlformats.org/officeDocument/2006/relationships/image" Target="../media/image.png" Id="Rbf04fdaf2bc54030" /><ns0:Relationship Type="http://schemas.openxmlformats.org/officeDocument/2006/relationships/image" Target="/ppt/media/image2.jpeg" Id="R18a80c3152314345" /><ns0:Relationship Type="http://schemas.openxmlformats.org/officeDocument/2006/relationships/notesSlide" Target="/ppt/notesSlides/notesSlide2.xml" Id="R57d4912e8cd543bf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9be59241a0964c90" /><ns0:Relationship Type="http://schemas.openxmlformats.org/officeDocument/2006/relationships/image" Target="../media/image.png" Id="R18e540b0f35240d5" /><ns0:Relationship Type="http://schemas.openxmlformats.org/officeDocument/2006/relationships/image" Target="/ppt/media/image3.jpeg" Id="Re5f67bc1fe654e76" /><ns0:Relationship Type="http://schemas.openxmlformats.org/officeDocument/2006/relationships/notesSlide" Target="/ppt/notesSlides/notesSlide3.xml" Id="R41283709056d4918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131079782314bc9" /><ns0:Relationship Type="http://schemas.openxmlformats.org/officeDocument/2006/relationships/image" Target="../media/image.png" Id="Ra7b19584bb384c0f" /><ns0:Relationship Type="http://schemas.openxmlformats.org/officeDocument/2006/relationships/image" Target="/ppt/media/image4.jpeg" Id="Rc2c09f35dd3944e2" /><ns0:Relationship Type="http://schemas.openxmlformats.org/officeDocument/2006/relationships/image" Target="/ppt/media/image5.jpeg" Id="R09fd37b8c63c4ede" /><ns0:Relationship Type="http://schemas.openxmlformats.org/officeDocument/2006/relationships/notesSlide" Target="/ppt/notesSlides/notesSlide4.xml" Id="R7cc3025d058549b4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47a8089299a420a" /><ns0:Relationship Type="http://schemas.openxmlformats.org/officeDocument/2006/relationships/image" Target="../media/image.png" Id="R8e8bf7ca60be4699" /><ns0:Relationship Type="http://schemas.openxmlformats.org/officeDocument/2006/relationships/notesSlide" Target="/ppt/notesSlides/notesSlide5.xml" Id="Rb77738d703694a1e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2deb983964e48a3" /><ns0:Relationship Type="http://schemas.openxmlformats.org/officeDocument/2006/relationships/image" Target="../media/image.png" Id="R538f551a9aa54256" /><ns0:Relationship Type="http://schemas.openxmlformats.org/officeDocument/2006/relationships/chart" Target="/ppt/slides/charts/chart1.xml" Id="Rc7f4e852f5ad4b29" /><ns0:Relationship Type="http://schemas.openxmlformats.org/officeDocument/2006/relationships/image" Target="/ppt/media/image6.jpeg" Id="R61f49b57e5e546ee" /><ns0:Relationship Type="http://schemas.openxmlformats.org/officeDocument/2006/relationships/notesSlide" Target="/ppt/notesSlides/notesSlide6.xml" Id="Rddfb09e60f0d4be8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a0f4fe2019684477" /><ns0:Relationship Type="http://schemas.openxmlformats.org/officeDocument/2006/relationships/image" Target="../media/image.png" Id="Rf34a8c4397f04420" /><ns0:Relationship Type="http://schemas.openxmlformats.org/officeDocument/2006/relationships/image" Target="/ppt/media/image7.jpeg" Id="Rc3ffaaf72db04953" /><ns0:Relationship Type="http://schemas.openxmlformats.org/officeDocument/2006/relationships/notesSlide" Target="/ppt/notesSlides/notesSlide7.xml" Id="Rbd3cd41c19824581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3baaf6b019e4cfd" /><ns0:Relationship Type="http://schemas.openxmlformats.org/officeDocument/2006/relationships/image" Target="../media/image.png" Id="R93793a1e74b94d2c" /><ns0:Relationship Type="http://schemas.openxmlformats.org/officeDocument/2006/relationships/image" Target="/ppt/media/image8.jpeg" Id="R8df9fdc37a404503" /><ns0:Relationship Type="http://schemas.openxmlformats.org/officeDocument/2006/relationships/notesSlide" Target="/ppt/notesSlides/notesSlide8.xml" Id="R590000402f5b4724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e4b74659c524a76" /><ns0:Relationship Type="http://schemas.openxmlformats.org/officeDocument/2006/relationships/image" Target="../media/image.png" Id="R8fb12035917d492d" /><ns0:Relationship Type="http://schemas.openxmlformats.org/officeDocument/2006/relationships/image" Target="/ppt/media/image9.jpeg" Id="Re3214fb8b0b64f87" /><ns0:Relationship Type="http://schemas.openxmlformats.org/officeDocument/2006/relationships/image" Target="/ppt/media/image10.jpeg" Id="R69fe6031e9d6446b" /><ns0:Relationship Type="http://schemas.openxmlformats.org/officeDocument/2006/relationships/notesSlide" Target="/ppt/notesSlides/notesSlide9.xml" Id="R6b98f5500bde4f61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51f0f79b039481f" /><ns0:Relationship Type="http://schemas.openxmlformats.org/officeDocument/2006/relationships/image" Target="../media/image.png" Id="Re7b6324dd2734a69" /><ns0:Relationship Type="http://schemas.openxmlformats.org/officeDocument/2006/relationships/image" Target="/ppt/media/image11.jpeg" Id="R351163be7a61419c" /><ns0:Relationship Type="http://schemas.openxmlformats.org/officeDocument/2006/relationships/notesSlide" Target="/ppt/notesSlides/notesSlide10.xml" Id="Rdd4562911bbe404f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4627c5173734a3e" /><ns0:Relationship Type="http://schemas.openxmlformats.org/officeDocument/2006/relationships/image" Target="../media/image.png" Id="R18efaf53fc404acc" /><ns0:Relationship Type="http://schemas.openxmlformats.org/officeDocument/2006/relationships/notesSlide" Target="/ppt/notesSlides/notesSlide11.xml" Id="Re31ef790d781484b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90ddc5bc355f4751" /><ns0:Relationship Type="http://schemas.openxmlformats.org/officeDocument/2006/relationships/image" Target="../media/image.png" Id="R01eacd64820a44b9" /><ns0:Relationship Type="http://schemas.openxmlformats.org/officeDocument/2006/relationships/image" Target="/ppt/media/image12.jpeg" Id="R80c36bb401e84fee" /><ns0:Relationship Type="http://schemas.openxmlformats.org/officeDocument/2006/relationships/notesSlide" Target="/ppt/notesSlides/notesSlide12.xml" Id="Rfac25d85fcec40a1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08afe7f33cb454c" /><ns0:Relationship Type="http://schemas.openxmlformats.org/officeDocument/2006/relationships/image" Target="../media/image.png" Id="R609e09137ed446bf" /><ns0:Relationship Type="http://schemas.openxmlformats.org/officeDocument/2006/relationships/notesSlide" Target="/ppt/notesSlides/notesSlide13.xml" Id="Rc8a5c0e456a14897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2ce90e0fc9544ae" /><ns0:Relationship Type="http://schemas.openxmlformats.org/officeDocument/2006/relationships/image" Target="../media/image.png" Id="R5ff9d3d32ec540bd" /><ns0:Relationship Type="http://schemas.openxmlformats.org/officeDocument/2006/relationships/image" Target="/ppt/media/image13.jpeg" Id="R4251a83b2f244563" /><ns0:Relationship Type="http://schemas.openxmlformats.org/officeDocument/2006/relationships/notesSlide" Target="/ppt/notesSlides/notesSlide14.xml" Id="Ra76c0d68d5ad41e0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运行通过</c:v>
          </c:tx>
          <c:spPr>
            <a:solidFill xmlns:a="http://schemas.openxmlformats.org/drawingml/2006/main">
              <a:srgbClr val="9FBAA5"/>
            </a:solidFill>
            <a:ln xmlns:a="http://schemas.openxmlformats.org/drawingml/2006/main" w="19050">
              <a:solidFill>
                <a:srgbClr val="397B60"/>
              </a:solidFill>
              <a:prstDash val="solid"/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SDK 1.2.0</c:v>
                </c:pt>
                <c:pt idx="1">
                  <c:v>SDK 1.1.3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ser>
          <c:idx val="1"/>
          <c:order val="1"/>
          <c:tx>
            <c:v>仅编译</c:v>
          </c:tx>
          <c:spPr>
            <a:solidFill xmlns:a="http://schemas.openxmlformats.org/drawingml/2006/main">
              <a:srgbClr val="EFD18C"/>
            </a:solidFill>
            <a:ln xmlns:a="http://schemas.openxmlformats.org/drawingml/2006/main" w="19050">
              <a:solidFill>
                <a:srgbClr val="A87630"/>
              </a:solidFill>
              <a:prstDash val="solid"/>
            </a:ln>
          </c:spPr>
          <c:invertIfNegative val="0"/>
          <c:cat>
            <c:strRef>
              <c:f>'Chart Data'!$C$2:$C$3</c:f>
              <c:strCache>
                <c:ptCount val="2"/>
                <c:pt idx="0">
                  <c:v>SDK 1.2.0</c:v>
                </c:pt>
                <c:pt idx="1">
                  <c:v>SDK 1.1.3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A302D"/>
                  </a:solidFill>
                  <a:latin typeface="Chalkboard SE"/>
                  <a:ea typeface="Chalkboard SE"/>
                  <a:cs typeface="Chalkboard SE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2C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A302D"/>
              </a:solidFill>
              <a:latin typeface="Ma Shan Zheng"/>
              <a:ea typeface="Ma Shan Zheng"/>
              <a:cs typeface="Ma Shan Zheng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A9CF7-9C1F-4937-B4AF-6CB7B5A1E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61783b037466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70371BF5-DF4F-4EA6-A7D4-172000B1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1 / 10">
            <a:extLst xmlns:a="http://schemas.openxmlformats.org/drawingml/2006/main">
              <a:ext uri="{FF2B5EF4-FFF2-40B4-BE49-F238E27FC236}">
                <a16:creationId xmlns:a16="http://schemas.microsoft.com/office/drawing/2014/main" id="{B3D03BB0-49C2-4021-B007-667E93D4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01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2E342FAB-6232-427B-8D93-B69C1DAB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009650"/>
            <a:ext cx="1809750" cy="276225"/>
          </a:xfrm>
          <a:custGeom xmlns:a="http://schemas.openxmlformats.org/drawingml/2006/main">
            <a:pathLst>
              <a:path w="1809750" h="276225">
                <a:moveTo>
                  <a:pt x="0" y="28575"/>
                </a:moveTo>
                <a:lnTo>
                  <a:pt x="1762125" y="0"/>
                </a:lnTo>
                <a:lnTo>
                  <a:pt x="1809750" y="247650"/>
                </a:lnTo>
                <a:lnTo>
                  <a:pt x="38100" y="27622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决赛答辩">
            <a:extLst xmlns:a="http://schemas.openxmlformats.org/drawingml/2006/main">
              <a:ext uri="{FF2B5EF4-FFF2-40B4-BE49-F238E27FC236}">
                <a16:creationId xmlns:a16="http://schemas.microsoft.com/office/drawing/2014/main" id="{92BFE1B0-4876-4998-9F17-7E495D2B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决赛答辩</a:t>
            </a:r>
          </a:p>
        </p:txBody>
      </p:sp>
      <p:sp>
        <p:nvSpPr>
          <p:cNvPr id="6" name="CJ-DocGuard">
            <a:extLst xmlns:a="http://schemas.openxmlformats.org/drawingml/2006/main">
              <a:ext uri="{FF2B5EF4-FFF2-40B4-BE49-F238E27FC236}">
                <a16:creationId xmlns:a16="http://schemas.microsoft.com/office/drawing/2014/main" id="{F6A4BD75-BB0D-45FD-996E-BD441423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52575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pPr>
            <a:r>
              <a: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rPr>
              <a:t>CJ-DocGuard</a:t>
            </a:r>
          </a:p>
        </p:txBody>
      </p:sp>
      <p:sp>
        <p:nvSpPr>
          <p:cNvPr id="7" name="仓颉项目级 API&#10;文档生成及测试">
            <a:extLst xmlns:a="http://schemas.openxmlformats.org/drawingml/2006/main">
              <a:ext uri="{FF2B5EF4-FFF2-40B4-BE49-F238E27FC236}">
                <a16:creationId xmlns:a16="http://schemas.microsoft.com/office/drawing/2014/main" id="{DCE317E3-8A5C-42F4-8E1B-0C2E721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53054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仓颉项目级 API</a:t>
            </a:r>
          </a:p>
          <a:p xmlns:a="http://schemas.openxmlformats.org/drawingml/2006/main">
            <a: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文档生成及测试</a:t>
            </a:r>
          </a:p>
        </p:txBody>
      </p:sp>
      <p:sp>
        <p:nvSpPr>
          <p:cNvPr id="8" name="面向仓颉库维护者&#10;维护接口说明、受测示例与版本关系&#10;在一个本地工作台查看检查结果">
            <a:extLst xmlns:a="http://schemas.openxmlformats.org/drawingml/2006/main">
              <a:ext uri="{FF2B5EF4-FFF2-40B4-BE49-F238E27FC236}">
                <a16:creationId xmlns:a16="http://schemas.microsoft.com/office/drawing/2014/main" id="{2C2F6D55-DFA3-4A9F-946B-DAD422AD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3325"/>
            <a:ext cx="52768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面向仓颉库维护者</a:t>
            </a:r>
          </a:p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维护接口说明、受测示例与版本关系</a:t>
            </a:r>
          </a:p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在一个本地工作台查看检查结果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490B3-C6FA-4689-8235-1F6716C5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43100"/>
            <a:ext cx="5229225" cy="3324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3FAB1-AB1B-4AC5-950E-83AD047C4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7c51aac90485f"/>
          <a:srcRect xmlns:a="http://schemas.openxmlformats.org/drawingml/2006/main" l="20000" t="19000" r="1500" b="8000"/>
          <a:stretch xmlns:a="http://schemas.openxmlformats.org/drawingml/2006/main"/>
        </p:blipFill>
        <p:spPr>
          <a:xfrm xmlns:a="http://schemas.openxmlformats.org/drawingml/2006/main">
            <a:off x="6305550" y="1990725"/>
            <a:ext cx="5133975" cy="3228975"/>
          </a:xfrm>
          <a:prstGeom xmlns:a="http://schemas.openxmlformats.org/drawingml/2006/main" prst="rect">
            <a:avLst/>
          </a:prstGeom>
        </p:spPr>
      </p:pic>
      <p:sp>
        <p:nvSpPr>
          <p:cNvPr id="11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529D8EEE-9DBC-4007-9C3F-EA68891B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43100"/>
            <a:ext cx="5229225" cy="3324225"/>
          </a:xfrm>
          <a:custGeom xmlns:a="http://schemas.openxmlformats.org/drawingml/2006/main">
            <a:pathLst>
              <a:path w="5229225" h="3324225">
                <a:moveTo>
                  <a:pt x="38100" y="28575"/>
                </a:moveTo>
                <a:cubicBezTo>
                  <a:pt x="1464183" y="0"/>
                  <a:pt x="3555873" y="57150"/>
                  <a:pt x="5200650" y="19050"/>
                </a:cubicBezTo>
                <a:cubicBezTo>
                  <a:pt x="5238750" y="930783"/>
                  <a:pt x="5191125" y="2493169"/>
                  <a:pt x="5219700" y="3295650"/>
                </a:cubicBezTo>
                <a:cubicBezTo>
                  <a:pt x="3451289" y="3333750"/>
                  <a:pt x="1516475" y="3286125"/>
                  <a:pt x="19050" y="3314700"/>
                </a:cubicBezTo>
                <a:cubicBezTo>
                  <a:pt x="47625" y="2326958"/>
                  <a:pt x="0" y="99726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551E8-538D-4C08-B1C4-FF46596F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43100"/>
            <a:ext cx="5229225" cy="332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当前工作区：接口、示例、版本结果集中查看">
            <a:extLst xmlns:a="http://schemas.openxmlformats.org/drawingml/2006/main">
              <a:ext uri="{FF2B5EF4-FFF2-40B4-BE49-F238E27FC236}">
                <a16:creationId xmlns:a16="http://schemas.microsoft.com/office/drawing/2014/main" id="{DE52E895-07CA-41F4-BCA5-49D74953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362575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当前工作区：接口、示例、版本结果集中查看</a:t>
            </a:r>
          </a:p>
        </p:txBody>
      </p:sp>
      <p:sp>
        <p:nvSpPr>
          <p:cNvPr id="1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AF0DC158-AAA9-4127-8FBD-FC558288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5048250" cy="257175"/>
          </a:xfrm>
          <a:custGeom xmlns:a="http://schemas.openxmlformats.org/drawingml/2006/main">
            <a:pathLst>
              <a:path w="5048250" h="257175">
                <a:moveTo>
                  <a:pt x="0" y="28575"/>
                </a:moveTo>
                <a:lnTo>
                  <a:pt x="5000625" y="0"/>
                </a:lnTo>
                <a:lnTo>
                  <a:pt x="5048250" y="228600"/>
                </a:lnTo>
                <a:lnTo>
                  <a:pt x="38100" y="257175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本地网页 · 原生仓颉服务与核心">
            <a:extLst xmlns:a="http://schemas.openxmlformats.org/drawingml/2006/main">
              <a:ext uri="{FF2B5EF4-FFF2-40B4-BE49-F238E27FC236}">
                <a16:creationId xmlns:a16="http://schemas.microsoft.com/office/drawing/2014/main" id="{46FA98FF-5748-487F-B7C0-6F6F63A0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8157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本地网页 · 原生仓颉服务与核心</a:t>
            </a:r>
          </a:p>
        </p:txBody>
      </p:sp>
      <p:sp>
        <p:nvSpPr>
          <p:cNvPr id="16" name="47">
            <a:extLst xmlns:a="http://schemas.openxmlformats.org/drawingml/2006/main">
              <a:ext uri="{FF2B5EF4-FFF2-40B4-BE49-F238E27FC236}">
                <a16:creationId xmlns:a16="http://schemas.microsoft.com/office/drawing/2014/main" id="{308F3F7D-AD5B-4D28-959B-9FFF9629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47</a:t>
            </a:r>
          </a:p>
        </p:txBody>
      </p:sp>
      <p:sp>
        <p:nvSpPr>
          <p:cNvPr id="17" name="公共接口">
            <a:extLst xmlns:a="http://schemas.openxmlformats.org/drawingml/2006/main">
              <a:ext uri="{FF2B5EF4-FFF2-40B4-BE49-F238E27FC236}">
                <a16:creationId xmlns:a16="http://schemas.microsoft.com/office/drawing/2014/main" id="{C1DDFAFB-1A01-4B0E-9D45-7BB94620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9340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公共接口</a:t>
            </a:r>
          </a:p>
        </p:txBody>
      </p:sp>
      <p:sp>
        <p:nvSpPr>
          <p:cNvPr id="18" name="14">
            <a:extLst xmlns:a="http://schemas.openxmlformats.org/drawingml/2006/main">
              <a:ext uri="{FF2B5EF4-FFF2-40B4-BE49-F238E27FC236}">
                <a16:creationId xmlns:a16="http://schemas.microsoft.com/office/drawing/2014/main" id="{4FC5F984-EB8E-4E51-990E-10580A57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435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14</a:t>
            </a:r>
          </a:p>
        </p:txBody>
      </p:sp>
      <p:sp>
        <p:nvSpPr>
          <p:cNvPr id="19" name="登记示例">
            <a:extLst xmlns:a="http://schemas.openxmlformats.org/drawingml/2006/main">
              <a:ext uri="{FF2B5EF4-FFF2-40B4-BE49-F238E27FC236}">
                <a16:creationId xmlns:a16="http://schemas.microsoft.com/office/drawing/2014/main" id="{FA3D7099-5C42-47B1-8370-DB8A1784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9340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登记示例</a:t>
            </a:r>
          </a:p>
        </p:txBody>
      </p:sp>
      <p:sp>
        <p:nvSpPr>
          <p:cNvPr id="20" name="2">
            <a:extLst xmlns:a="http://schemas.openxmlformats.org/drawingml/2006/main">
              <a:ext uri="{FF2B5EF4-FFF2-40B4-BE49-F238E27FC236}">
                <a16:creationId xmlns:a16="http://schemas.microsoft.com/office/drawing/2014/main" id="{BB1E1C45-88C1-4CA3-AA21-FB5C6326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7435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2</a:t>
            </a:r>
          </a:p>
        </p:txBody>
      </p:sp>
      <p:sp>
        <p:nvSpPr>
          <p:cNvPr id="21" name="SDK 版本">
            <a:extLst xmlns:a="http://schemas.openxmlformats.org/drawingml/2006/main">
              <a:ext uri="{FF2B5EF4-FFF2-40B4-BE49-F238E27FC236}">
                <a16:creationId xmlns:a16="http://schemas.microsoft.com/office/drawing/2014/main" id="{0BE0146C-6FD0-4403-8F28-DAFB3C9B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934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SDK 版本</a:t>
            </a:r>
          </a:p>
        </p:txBody>
      </p:sp>
      <p:sp>
        <p:nvSpPr>
          <p:cNvPr id="22" name="当前完整实测：macOS arm64；仓颉 1.1.3 / 1.2.0">
            <a:extLst xmlns:a="http://schemas.openxmlformats.org/drawingml/2006/main">
              <a:ext uri="{FF2B5EF4-FFF2-40B4-BE49-F238E27FC236}">
                <a16:creationId xmlns:a16="http://schemas.microsoft.com/office/drawing/2014/main" id="{FB4BB484-8860-4A47-BF37-5D829DD6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0557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当前完整实测：macOS arm64；仓颉 1.1.3 / 1.2.0</a:t>
            </a:r>
          </a:p>
        </p:txBody>
      </p:sp>
    </p:spTree>
    <p:extLst>
      <p:ext uri="{BB962C8B-B14F-4D97-AF65-F5344CB8AC3E}">
        <p14:creationId xmlns:p14="http://schemas.microsoft.com/office/powerpoint/2010/main" val="300164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52243-2A12-4915-A4D0-88961DD167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4fdaf2bc5403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C8625A08-B5AB-4E1C-91BD-C4EF0234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2 / 10">
            <a:extLst xmlns:a="http://schemas.openxmlformats.org/drawingml/2006/main">
              <a:ext uri="{FF2B5EF4-FFF2-40B4-BE49-F238E27FC236}">
                <a16:creationId xmlns:a16="http://schemas.microsoft.com/office/drawing/2014/main" id="{D158886D-F07D-47D8-A787-32998681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02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20E7FBA4-CE1D-4385-8E56-2A275C4D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3467100" cy="219075"/>
          </a:xfrm>
          <a:custGeom xmlns:a="http://schemas.openxmlformats.org/drawingml/2006/main">
            <a:pathLst>
              <a:path w="3467100" h="219075">
                <a:moveTo>
                  <a:pt x="0" y="28575"/>
                </a:moveTo>
                <a:lnTo>
                  <a:pt x="3419475" y="0"/>
                </a:lnTo>
                <a:lnTo>
                  <a:pt x="34671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赛题交付与库维护流程">
            <a:extLst xmlns:a="http://schemas.openxmlformats.org/drawingml/2006/main">
              <a:ext uri="{FF2B5EF4-FFF2-40B4-BE49-F238E27FC236}">
                <a16:creationId xmlns:a16="http://schemas.microsoft.com/office/drawing/2014/main" id="{FD3D8E1D-22CA-4865-8890-D68BD06D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赛题交付与库维护流程</a:t>
            </a:r>
          </a:p>
        </p:txBody>
      </p:sp>
      <p:sp>
        <p:nvSpPr>
          <p:cNvPr id="6" name="从接入项目，到生成文档、执行示例和定位问题">
            <a:extLst xmlns:a="http://schemas.openxmlformats.org/drawingml/2006/main">
              <a:ext uri="{FF2B5EF4-FFF2-40B4-BE49-F238E27FC236}">
                <a16:creationId xmlns:a16="http://schemas.microsoft.com/office/drawing/2014/main" id="{0EE44557-ABFB-4C16-851D-6F71408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从接入项目，到生成文档、执行示例和定位问题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76809-DBC0-4C21-9538-437E73D0004C}"/>
              </a:ext>
            </a:extLst>
          </p:cNvPr>
          <p:cNvGraphicFramePr/>
          <p:nvPr/>
        </p:nvGraphicFramePr>
        <p:xfrm>
          <a:off xmlns:a="http://schemas.openxmlformats.org/drawingml/2006/main" x="714375" y="2076450"/>
          <a:ext xmlns:a="http://schemas.openxmlformats.org/drawingml/2006/main" cx="7162800" cy="3124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71650"/>
                <a:gridCol w="1924050"/>
                <a:gridCol w="3467100"/>
              </a:tblGrid>
              <a:tr h="7810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交付要求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网页入口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实际产物与检查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7810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结构化文档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接口文档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源码编辑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声明、参数、返回类型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关联示例及源码位置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7810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示例正确性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测试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示例测试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任务中心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真实编译与运行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退出码、期望/实际输出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7810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版本与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索引链接测试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测试矩阵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链接与问题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按SDK和平台保留结果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目标文件、锚点与来源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9F6E1104-94C6-4FCB-8871-7996D6B9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57400"/>
            <a:ext cx="7200900" cy="3162300"/>
          </a:xfrm>
          <a:custGeom xmlns:a="http://schemas.openxmlformats.org/drawingml/2006/main">
            <a:pathLst>
              <a:path w="7200900" h="3162300">
                <a:moveTo>
                  <a:pt x="38100" y="28575"/>
                </a:moveTo>
                <a:cubicBezTo>
                  <a:pt x="2016252" y="0"/>
                  <a:pt x="4896612" y="57150"/>
                  <a:pt x="7172325" y="19050"/>
                </a:cubicBezTo>
                <a:cubicBezTo>
                  <a:pt x="7210425" y="885444"/>
                  <a:pt x="7162800" y="2371725"/>
                  <a:pt x="7191375" y="3133725"/>
                </a:cubicBezTo>
                <a:cubicBezTo>
                  <a:pt x="4752594" y="3171825"/>
                  <a:pt x="2088261" y="3124200"/>
                  <a:pt x="19050" y="3152775"/>
                </a:cubicBezTo>
                <a:cubicBezTo>
                  <a:pt x="47625" y="2213610"/>
                  <a:pt x="0" y="94869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C6A2D-C995-4D99-9ED6-FD1C8B47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57400"/>
            <a:ext cx="72009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接入现有库">
            <a:extLst xmlns:a="http://schemas.openxmlformats.org/drawingml/2006/main">
              <a:ext uri="{FF2B5EF4-FFF2-40B4-BE49-F238E27FC236}">
                <a16:creationId xmlns:a16="http://schemas.microsoft.com/office/drawing/2014/main" id="{4FFAE442-B1F1-44FB-AA47-0D9F2842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669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接入现有库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7A56C-2673-4375-91F6-D02BD302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62225"/>
            <a:ext cx="3238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D8474-C1AC-4DF6-AEDD-665D9FACE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80c3152314345"/>
          <a:srcRect xmlns:a="http://schemas.openxmlformats.org/drawingml/2006/main" l="22500" t="16000" r="34000" b="69000"/>
          <a:stretch xmlns:a="http://schemas.openxmlformats.org/drawingml/2006/main"/>
        </p:blipFill>
        <p:spPr>
          <a:xfrm xmlns:a="http://schemas.openxmlformats.org/drawingml/2006/main">
            <a:off x="8286750" y="2609850"/>
            <a:ext cx="3143250" cy="1504950"/>
          </a:xfrm>
          <a:prstGeom xmlns:a="http://schemas.openxmlformats.org/drawingml/2006/main" prst="rect">
            <a:avLst/>
          </a:prstGeom>
        </p:spPr>
      </p:pic>
      <p:sp>
        <p:nvSpPr>
          <p:cNvPr id="13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BB0894F7-B66A-414C-8427-F5736417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62225"/>
            <a:ext cx="3238500" cy="1600200"/>
          </a:xfrm>
          <a:custGeom xmlns:a="http://schemas.openxmlformats.org/drawingml/2006/main">
            <a:pathLst>
              <a:path w="3238500" h="1600200">
                <a:moveTo>
                  <a:pt x="38100" y="28575"/>
                </a:moveTo>
                <a:cubicBezTo>
                  <a:pt x="906780" y="0"/>
                  <a:pt x="2202180" y="57150"/>
                  <a:pt x="3209925" y="19050"/>
                </a:cubicBezTo>
                <a:cubicBezTo>
                  <a:pt x="3248025" y="448056"/>
                  <a:pt x="3200400" y="1200150"/>
                  <a:pt x="3228975" y="1571625"/>
                </a:cubicBezTo>
                <a:cubicBezTo>
                  <a:pt x="2137410" y="1609725"/>
                  <a:pt x="939165" y="1562100"/>
                  <a:pt x="19050" y="1590675"/>
                </a:cubicBezTo>
                <a:cubicBezTo>
                  <a:pt x="47625" y="1120140"/>
                  <a:pt x="0" y="48006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63D1B-2A37-40D2-92D3-248535BE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62225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登记本地配置绝对路径；&#10;登记不会自动授予执行信任。">
            <a:extLst xmlns:a="http://schemas.openxmlformats.org/drawingml/2006/main">
              <a:ext uri="{FF2B5EF4-FFF2-40B4-BE49-F238E27FC236}">
                <a16:creationId xmlns:a16="http://schemas.microsoft.com/office/drawing/2014/main" id="{D4374BC9-A88C-499E-835E-6E04EBDE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05300"/>
            <a:ext cx="320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登记本地配置绝对路径；</a:t>
            </a:r>
          </a:p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登记不会自动授予执行信任。</a:t>
            </a:r>
          </a:p>
        </p:txBody>
      </p:sp>
      <p:sp>
        <p:nvSpPr>
          <p:cNvPr id="16" name="接入 → 诊断环境&#10;生成文档 → 运行与检查&#10;查看结果 → 修改后重测">
            <a:extLst xmlns:a="http://schemas.openxmlformats.org/drawingml/2006/main">
              <a:ext uri="{FF2B5EF4-FFF2-40B4-BE49-F238E27FC236}">
                <a16:creationId xmlns:a16="http://schemas.microsoft.com/office/drawing/2014/main" id="{3B9737C3-9FA6-408E-BCF9-B9CF324D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29225"/>
            <a:ext cx="320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接入 → 诊断环境</a:t>
            </a:r>
          </a:p>
          <a:p xmlns:a="http://schemas.openxmlformats.org/drawingml/2006/main">
            <a: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生成文档 → 运行与检查</a:t>
            </a:r>
          </a:p>
          <a:p xmlns:a="http://schemas.openxmlformats.org/drawingml/2006/main">
            <a: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查看结果 → 修改后重测</a:t>
            </a:r>
          </a:p>
        </p:txBody>
      </p:sp>
      <p:sp>
        <p:nvSpPr>
          <p:cNvPr id="17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B3F8C78B-21F0-49A9-918A-FB5318B8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95950"/>
            <a:ext cx="6991350" cy="257175"/>
          </a:xfrm>
          <a:custGeom xmlns:a="http://schemas.openxmlformats.org/drawingml/2006/main">
            <a:pathLst>
              <a:path w="6991350" h="257175">
                <a:moveTo>
                  <a:pt x="0" y="28575"/>
                </a:moveTo>
                <a:lnTo>
                  <a:pt x="6943725" y="0"/>
                </a:lnTo>
                <a:lnTo>
                  <a:pt x="6991350" y="228600"/>
                </a:lnTo>
                <a:lnTo>
                  <a:pt x="38100" y="257175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把查文档、核示例、比版本&#10;放进可重复执行的维护流程。">
            <a:extLst xmlns:a="http://schemas.openxmlformats.org/drawingml/2006/main">
              <a:ext uri="{FF2B5EF4-FFF2-40B4-BE49-F238E27FC236}">
                <a16:creationId xmlns:a16="http://schemas.microsoft.com/office/drawing/2014/main" id="{F9DF2B41-B718-41ED-9FB3-16F37F45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70580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把查文档、核示例、比版本</a:t>
            </a:r>
          </a:p>
          <a:p xmlns:a="http://schemas.openxmlformats.org/drawingml/2006/main">
            <a: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放进可重复执行的维护流程。</a:t>
            </a:r>
          </a:p>
        </p:txBody>
      </p:sp>
      <p:sp>
        <p:nvSpPr>
          <p:cNvPr id="19" name="API：应用程序接口；SDK：仓颉编译器、运行库等开发工具。">
            <a:extLst xmlns:a="http://schemas.openxmlformats.org/drawingml/2006/main">
              <a:ext uri="{FF2B5EF4-FFF2-40B4-BE49-F238E27FC236}">
                <a16:creationId xmlns:a16="http://schemas.microsoft.com/office/drawing/2014/main" id="{88B37FF5-A45C-4A85-B0D2-F0939141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0557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API：应用程序接口；SDK：仓颉编译器、运行库等开发工具。</a:t>
            </a:r>
          </a:p>
        </p:txBody>
      </p:sp>
    </p:spTree>
    <p:extLst>
      <p:ext uri="{BB962C8B-B14F-4D97-AF65-F5344CB8AC3E}">
        <p14:creationId xmlns:p14="http://schemas.microsoft.com/office/powerpoint/2010/main" val="938242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8D211-13C7-4957-9C28-64C4097124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540b0f35240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A377E0E6-F950-41F9-8668-659F4D43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3 / 10">
            <a:extLst xmlns:a="http://schemas.openxmlformats.org/drawingml/2006/main">
              <a:ext uri="{FF2B5EF4-FFF2-40B4-BE49-F238E27FC236}">
                <a16:creationId xmlns:a16="http://schemas.microsoft.com/office/drawing/2014/main" id="{4D66510D-13C7-4754-AFA8-C9D59B86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03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1A955398-B857-4D29-872A-30CA56D9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724400" cy="219075"/>
          </a:xfrm>
          <a:custGeom xmlns:a="http://schemas.openxmlformats.org/drawingml/2006/main">
            <a:pathLst>
              <a:path w="4724400" h="219075">
                <a:moveTo>
                  <a:pt x="0" y="28575"/>
                </a:moveTo>
                <a:lnTo>
                  <a:pt x="4676775" y="0"/>
                </a:lnTo>
                <a:lnTo>
                  <a:pt x="47244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从接口说明，找到可运行的示例">
            <a:extLst xmlns:a="http://schemas.openxmlformats.org/drawingml/2006/main">
              <a:ext uri="{FF2B5EF4-FFF2-40B4-BE49-F238E27FC236}">
                <a16:creationId xmlns:a16="http://schemas.microsoft.com/office/drawing/2014/main" id="{50B131D2-71F1-4FB5-BC3E-384F8E26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从接口说明，找到可运行的示例</a:t>
            </a:r>
          </a:p>
        </p:txBody>
      </p:sp>
      <p:sp>
        <p:nvSpPr>
          <p:cNvPr id="6" name="声明、源码位置、参数、返回类型和登记示例互相关联">
            <a:extLst xmlns:a="http://schemas.openxmlformats.org/drawingml/2006/main">
              <a:ext uri="{FF2B5EF4-FFF2-40B4-BE49-F238E27FC236}">
                <a16:creationId xmlns:a16="http://schemas.microsoft.com/office/drawing/2014/main" id="{C5734DD0-434C-47CE-BACF-16F16EC0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声明、源码位置、参数、返回类型和登记示例互相关联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66F376E-83CA-452D-BDA1-D48D8F71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66925"/>
            <a:ext cx="4914900" cy="1323975"/>
          </a:xfrm>
          <a:custGeom xmlns:a="http://schemas.openxmlformats.org/drawingml/2006/main">
            <a:pathLst>
              <a:path w="4914900" h="1323975">
                <a:moveTo>
                  <a:pt x="38100" y="28575"/>
                </a:moveTo>
                <a:cubicBezTo>
                  <a:pt x="1376172" y="0"/>
                  <a:pt x="3342132" y="57150"/>
                  <a:pt x="4886325" y="19050"/>
                </a:cubicBezTo>
                <a:cubicBezTo>
                  <a:pt x="4924425" y="370713"/>
                  <a:pt x="4876800" y="992981"/>
                  <a:pt x="4905375" y="1295400"/>
                </a:cubicBezTo>
                <a:cubicBezTo>
                  <a:pt x="3243834" y="1333500"/>
                  <a:pt x="1425321" y="1285875"/>
                  <a:pt x="19050" y="1314450"/>
                </a:cubicBezTo>
                <a:cubicBezTo>
                  <a:pt x="47625" y="926783"/>
                  <a:pt x="0" y="397192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863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A888D-817A-4036-AEA1-5B75897F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66925"/>
            <a:ext cx="49149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dd · 公共函数">
            <a:extLst xmlns:a="http://schemas.openxmlformats.org/drawingml/2006/main">
              <a:ext uri="{FF2B5EF4-FFF2-40B4-BE49-F238E27FC236}">
                <a16:creationId xmlns:a16="http://schemas.microsoft.com/office/drawing/2014/main" id="{A56B6077-7D63-412B-A87A-49EDBDBF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562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add · 公共函数</a:t>
            </a:r>
          </a:p>
        </p:txBody>
      </p:sp>
      <p:sp>
        <p:nvSpPr>
          <p:cNvPr id="10" name="public func add(a: Int64,&#10;                b: Int64">
            <a:extLst xmlns:a="http://schemas.openxmlformats.org/drawingml/2006/main">
              <a:ext uri="{FF2B5EF4-FFF2-40B4-BE49-F238E27FC236}">
                <a16:creationId xmlns:a16="http://schemas.microsoft.com/office/drawing/2014/main" id="{CB282FF0-8C4B-48CA-8AB5-823DB3FA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552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public func add(a: Int64,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                b: Int64): Int64</a:t>
            </a:r>
          </a:p>
        </p:txBody>
      </p:sp>
      <p:sp>
        <p:nvSpPr>
          <p:cNvPr id="11" name="登记示例 arithmetic（摘录）">
            <a:extLst xmlns:a="http://schemas.openxmlformats.org/drawingml/2006/main">
              <a:ext uri="{FF2B5EF4-FFF2-40B4-BE49-F238E27FC236}">
                <a16:creationId xmlns:a16="http://schemas.microsoft.com/office/drawing/2014/main" id="{F23E9E6C-074D-4CCB-B0BC-BE4C8838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登记示例 arithmetic（摘录）</a:t>
            </a:r>
          </a:p>
        </p:txBody>
      </p:sp>
      <p:sp>
        <p:nvSpPr>
          <p:cNvPr id="12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622F8304-B35E-4D7B-8858-47A2077A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38600"/>
            <a:ext cx="4914900" cy="1066800"/>
          </a:xfrm>
          <a:custGeom xmlns:a="http://schemas.openxmlformats.org/drawingml/2006/main">
            <a:pathLst>
              <a:path w="4914900" h="1066800">
                <a:moveTo>
                  <a:pt x="38100" y="28575"/>
                </a:moveTo>
                <a:cubicBezTo>
                  <a:pt x="1376172" y="0"/>
                  <a:pt x="3342132" y="57150"/>
                  <a:pt x="4886325" y="19050"/>
                </a:cubicBezTo>
                <a:cubicBezTo>
                  <a:pt x="4924425" y="298704"/>
                  <a:pt x="4876800" y="800100"/>
                  <a:pt x="4905375" y="1038225"/>
                </a:cubicBezTo>
                <a:cubicBezTo>
                  <a:pt x="3243834" y="1076325"/>
                  <a:pt x="1425321" y="1028700"/>
                  <a:pt x="19050" y="1057275"/>
                </a:cubicBezTo>
                <a:cubicBezTo>
                  <a:pt x="47625" y="746760"/>
                  <a:pt x="0" y="320040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74CED-6535-411F-BA52-A9A84FFA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38600"/>
            <a:ext cx="491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main(): Unit {&#10;    println(add(20, 22))&#10;}">
            <a:extLst xmlns:a="http://schemas.openxmlformats.org/drawingml/2006/main">
              <a:ext uri="{FF2B5EF4-FFF2-40B4-BE49-F238E27FC236}">
                <a16:creationId xmlns:a16="http://schemas.microsoft.com/office/drawing/2014/main" id="{C7712490-68AB-46EF-B7F4-0092EF40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52900"/>
            <a:ext cx="4524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main(): Unit {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    println(add(20, 22))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}</a:t>
            </a:r>
          </a:p>
        </p:txBody>
      </p:sp>
      <p:sp>
        <p:nvSpPr>
          <p:cNvPr id="15" name="期望：退出码 0；输出 &quot;42\n&quot;">
            <a:extLst xmlns:a="http://schemas.openxmlformats.org/drawingml/2006/main">
              <a:ext uri="{FF2B5EF4-FFF2-40B4-BE49-F238E27FC236}">
                <a16:creationId xmlns:a16="http://schemas.microsoft.com/office/drawing/2014/main" id="{7641A031-92AD-4A36-9722-FE91AA18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4848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期望：退出码 0；输出 "42\n"</a:t>
            </a:r>
          </a:p>
        </p:txBody>
      </p:sp>
      <p:sp>
        <p:nvSpPr>
          <p:cNvPr id="16" name="可搜索、跳转源码、查看关联示例&#10;生成 JSON / HTML / Markdown 文档">
            <a:extLst xmlns:a="http://schemas.openxmlformats.org/drawingml/2006/main">
              <a:ext uri="{FF2B5EF4-FFF2-40B4-BE49-F238E27FC236}">
                <a16:creationId xmlns:a16="http://schemas.microsoft.com/office/drawing/2014/main" id="{B5356D03-3704-44DE-96DD-2FFF9F48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可搜索、跳转源码、查看关联示例</a:t>
            </a:r>
          </a:p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生成 JSON / HTML / Markdown 文档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195E2-F343-4FA5-8CB9-54B8FCB6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57400"/>
            <a:ext cx="54102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D758D-4759-4555-9401-465976791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67bc1fe654e76"/>
          <a:srcRect xmlns:a="http://schemas.openxmlformats.org/drawingml/2006/main" l="41400" t="33000" r="0" b="8000"/>
          <a:stretch xmlns:a="http://schemas.openxmlformats.org/drawingml/2006/main"/>
        </p:blipFill>
        <p:spPr>
          <a:xfrm xmlns:a="http://schemas.openxmlformats.org/drawingml/2006/main">
            <a:off x="6124575" y="2105025"/>
            <a:ext cx="5314950" cy="3914775"/>
          </a:xfrm>
          <a:prstGeom xmlns:a="http://schemas.openxmlformats.org/drawingml/2006/main" prst="rect">
            <a:avLst/>
          </a:prstGeom>
        </p:spPr>
      </p:pic>
      <p:sp>
        <p:nvSpPr>
          <p:cNvPr id="19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B8A33F61-0551-4B2C-BEAA-E5B1E192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57400"/>
            <a:ext cx="5410200" cy="4010025"/>
          </a:xfrm>
          <a:custGeom xmlns:a="http://schemas.openxmlformats.org/drawingml/2006/main">
            <a:pathLst>
              <a:path w="5410200" h="4010025">
                <a:moveTo>
                  <a:pt x="38100" y="28575"/>
                </a:moveTo>
                <a:cubicBezTo>
                  <a:pt x="1514856" y="0"/>
                  <a:pt x="3678936" y="57150"/>
                  <a:pt x="5381625" y="19050"/>
                </a:cubicBezTo>
                <a:cubicBezTo>
                  <a:pt x="5419725" y="1122807"/>
                  <a:pt x="5372100" y="3007519"/>
                  <a:pt x="5400675" y="3981450"/>
                </a:cubicBezTo>
                <a:cubicBezTo>
                  <a:pt x="3570732" y="4019550"/>
                  <a:pt x="1568958" y="3971925"/>
                  <a:pt x="19050" y="4000500"/>
                </a:cubicBezTo>
                <a:cubicBezTo>
                  <a:pt x="47625" y="2807018"/>
                  <a:pt x="0" y="120300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81575-BCF2-4A39-BA79-E0B08FF0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57400"/>
            <a:ext cx="54102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重名与重载需明确身份，不能随意绑定示例。">
            <a:extLst xmlns:a="http://schemas.openxmlformats.org/drawingml/2006/main">
              <a:ext uri="{FF2B5EF4-FFF2-40B4-BE49-F238E27FC236}">
                <a16:creationId xmlns:a16="http://schemas.microsoft.com/office/drawing/2014/main" id="{7F8E1810-AA21-4BA8-9AE7-0D894790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6200775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重名与重载需明确身份，不能随意绑定示例。</a:t>
            </a:r>
          </a:p>
        </p:txBody>
      </p:sp>
    </p:spTree>
    <p:extLst>
      <p:ext uri="{BB962C8B-B14F-4D97-AF65-F5344CB8AC3E}">
        <p14:creationId xmlns:p14="http://schemas.microsoft.com/office/powerpoint/2010/main" val="20281110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3AE49-87BE-479A-9407-EE37C2B13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19584bb384c0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A51BA637-48BE-4AD7-94F5-F9E65CC8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4 / 10">
            <a:extLst xmlns:a="http://schemas.openxmlformats.org/drawingml/2006/main">
              <a:ext uri="{FF2B5EF4-FFF2-40B4-BE49-F238E27FC236}">
                <a16:creationId xmlns:a16="http://schemas.microsoft.com/office/drawing/2014/main" id="{6C2A6AD5-570A-4045-B6BB-D7E40F2B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04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5B1E8239-03B3-46EB-AAF5-B925BCE4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038725" cy="219075"/>
          </a:xfrm>
          <a:custGeom xmlns:a="http://schemas.openxmlformats.org/drawingml/2006/main">
            <a:pathLst>
              <a:path w="5038725" h="219075">
                <a:moveTo>
                  <a:pt x="0" y="28575"/>
                </a:moveTo>
                <a:lnTo>
                  <a:pt x="4991100" y="0"/>
                </a:lnTo>
                <a:lnTo>
                  <a:pt x="503872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网页查询、校验与导出，一次走通">
            <a:extLst xmlns:a="http://schemas.openxmlformats.org/drawingml/2006/main">
              <a:ext uri="{FF2B5EF4-FFF2-40B4-BE49-F238E27FC236}">
                <a16:creationId xmlns:a16="http://schemas.microsoft.com/office/drawing/2014/main" id="{FDCB54EA-F67D-4D89-AD06-946BFCA0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网页查询、校验与导出，一次走通</a:t>
            </a:r>
          </a:p>
        </p:txBody>
      </p:sp>
      <p:sp>
        <p:nvSpPr>
          <p:cNvPr id="6" name="现场约80秒；查询和导出都检查指定环境下的当前结果">
            <a:extLst xmlns:a="http://schemas.openxmlformats.org/drawingml/2006/main">
              <a:ext uri="{FF2B5EF4-FFF2-40B4-BE49-F238E27FC236}">
                <a16:creationId xmlns:a16="http://schemas.microsoft.com/office/drawing/2014/main" id="{4F23DE6F-E35F-4516-BE7F-0C663A1F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现场约80秒；查询和导出都检查指定环境下的当前结果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FF68AC50-6239-48AE-91B6-79C42F18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9775"/>
            <a:ext cx="2409825" cy="571500"/>
          </a:xfrm>
          <a:custGeom xmlns:a="http://schemas.openxmlformats.org/drawingml/2006/main">
            <a:pathLst>
              <a:path w="2409825" h="571500">
                <a:moveTo>
                  <a:pt x="38100" y="28575"/>
                </a:moveTo>
                <a:cubicBezTo>
                  <a:pt x="674751" y="0"/>
                  <a:pt x="1638681" y="57150"/>
                  <a:pt x="2381250" y="19050"/>
                </a:cubicBezTo>
                <a:cubicBezTo>
                  <a:pt x="2419350" y="160020"/>
                  <a:pt x="2371725" y="428625"/>
                  <a:pt x="2400300" y="542925"/>
                </a:cubicBezTo>
                <a:cubicBezTo>
                  <a:pt x="1590485" y="581025"/>
                  <a:pt x="698849" y="533400"/>
                  <a:pt x="19050" y="561975"/>
                </a:cubicBezTo>
                <a:cubicBezTo>
                  <a:pt x="47625" y="400050"/>
                  <a:pt x="0" y="17145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3E7AB-0767-44E1-AA48-81D09D4A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9775"/>
            <a:ext cx="2409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检索接口">
            <a:extLst xmlns:a="http://schemas.openxmlformats.org/drawingml/2006/main">
              <a:ext uri="{FF2B5EF4-FFF2-40B4-BE49-F238E27FC236}">
                <a16:creationId xmlns:a16="http://schemas.microsoft.com/office/drawing/2014/main" id="{D60DE8D6-21D1-4DDB-95BF-CD5DFF40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145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检索接口</a:t>
            </a:r>
          </a:p>
        </p:txBody>
      </p:sp>
      <p:sp>
        <p:nvSpPr>
          <p:cNvPr id="10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49828587-E07B-4C95-8014-122EC4D8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9775"/>
            <a:ext cx="2409825" cy="571500"/>
          </a:xfrm>
          <a:custGeom xmlns:a="http://schemas.openxmlformats.org/drawingml/2006/main">
            <a:pathLst>
              <a:path w="2409825" h="571500">
                <a:moveTo>
                  <a:pt x="38100" y="28575"/>
                </a:moveTo>
                <a:cubicBezTo>
                  <a:pt x="674751" y="0"/>
                  <a:pt x="1638681" y="57150"/>
                  <a:pt x="2381250" y="19050"/>
                </a:cubicBezTo>
                <a:cubicBezTo>
                  <a:pt x="2419350" y="160020"/>
                  <a:pt x="2371725" y="428625"/>
                  <a:pt x="2400300" y="542925"/>
                </a:cubicBezTo>
                <a:cubicBezTo>
                  <a:pt x="1590485" y="581025"/>
                  <a:pt x="698849" y="533400"/>
                  <a:pt x="19050" y="561975"/>
                </a:cubicBezTo>
                <a:cubicBezTo>
                  <a:pt x="47625" y="400050"/>
                  <a:pt x="0" y="17145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C01C0-5DF3-492F-AB82-68421847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9775"/>
            <a:ext cx="2409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查看矩阵">
            <a:extLst xmlns:a="http://schemas.openxmlformats.org/drawingml/2006/main">
              <a:ext uri="{FF2B5EF4-FFF2-40B4-BE49-F238E27FC236}">
                <a16:creationId xmlns:a16="http://schemas.microsoft.com/office/drawing/2014/main" id="{EBBA8847-72C6-47E1-A16E-E7774E77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查看矩阵</a:t>
            </a:r>
          </a:p>
        </p:txBody>
      </p:sp>
      <p:sp>
        <p:nvSpPr>
          <p:cNvPr id="13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03667363-F5A3-43F1-AF13-D0068930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09775"/>
            <a:ext cx="2409825" cy="571500"/>
          </a:xfrm>
          <a:custGeom xmlns:a="http://schemas.openxmlformats.org/drawingml/2006/main">
            <a:pathLst>
              <a:path w="2409825" h="571500">
                <a:moveTo>
                  <a:pt x="38100" y="28575"/>
                </a:moveTo>
                <a:cubicBezTo>
                  <a:pt x="674751" y="0"/>
                  <a:pt x="1638681" y="57150"/>
                  <a:pt x="2381250" y="19050"/>
                </a:cubicBezTo>
                <a:cubicBezTo>
                  <a:pt x="2419350" y="160020"/>
                  <a:pt x="2371725" y="428625"/>
                  <a:pt x="2400300" y="542925"/>
                </a:cubicBezTo>
                <a:cubicBezTo>
                  <a:pt x="1590485" y="581025"/>
                  <a:pt x="698849" y="533400"/>
                  <a:pt x="19050" y="561975"/>
                </a:cubicBezTo>
                <a:cubicBezTo>
                  <a:pt x="47625" y="400050"/>
                  <a:pt x="0" y="171450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6BD23-0FA5-4D16-883F-9CBC24CA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09775"/>
            <a:ext cx="2409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精确查询">
            <a:extLst xmlns:a="http://schemas.openxmlformats.org/drawingml/2006/main">
              <a:ext uri="{FF2B5EF4-FFF2-40B4-BE49-F238E27FC236}">
                <a16:creationId xmlns:a16="http://schemas.microsoft.com/office/drawing/2014/main" id="{BE24707A-0918-4F4C-B512-021E841F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145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精确查询</a:t>
            </a:r>
          </a:p>
        </p:txBody>
      </p:sp>
      <p:sp>
        <p:nvSpPr>
          <p:cNvPr id="16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23C9FE55-9173-4492-8602-6093D100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9775"/>
            <a:ext cx="2409825" cy="571500"/>
          </a:xfrm>
          <a:custGeom xmlns:a="http://schemas.openxmlformats.org/drawingml/2006/main">
            <a:pathLst>
              <a:path w="2409825" h="571500">
                <a:moveTo>
                  <a:pt x="38100" y="28575"/>
                </a:moveTo>
                <a:cubicBezTo>
                  <a:pt x="674751" y="0"/>
                  <a:pt x="1638681" y="57150"/>
                  <a:pt x="2381250" y="19050"/>
                </a:cubicBezTo>
                <a:cubicBezTo>
                  <a:pt x="2419350" y="160020"/>
                  <a:pt x="2371725" y="428625"/>
                  <a:pt x="2400300" y="542925"/>
                </a:cubicBezTo>
                <a:cubicBezTo>
                  <a:pt x="1590485" y="581025"/>
                  <a:pt x="698849" y="533400"/>
                  <a:pt x="19050" y="561975"/>
                </a:cubicBezTo>
                <a:cubicBezTo>
                  <a:pt x="47625" y="400050"/>
                  <a:pt x="0" y="17145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5211B-F5F5-49FE-8FDE-809EE28E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9775"/>
            <a:ext cx="2409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导出示例">
            <a:extLst xmlns:a="http://schemas.openxmlformats.org/drawingml/2006/main">
              <a:ext uri="{FF2B5EF4-FFF2-40B4-BE49-F238E27FC236}">
                <a16:creationId xmlns:a16="http://schemas.microsoft.com/office/drawing/2014/main" id="{35EF9F82-3CD5-4AB2-A3BE-FD11EAFB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145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导出示例</a:t>
            </a:r>
          </a:p>
        </p:txBody>
      </p:sp>
      <p:sp>
        <p:nvSpPr>
          <p:cNvPr id="19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1A7D7B88-9A87-485D-B52B-F19153B4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71700"/>
            <a:ext cx="276225" cy="247650"/>
          </a:xfrm>
          <a:custGeom xmlns:a="http://schemas.openxmlformats.org/drawingml/2006/main">
            <a:pathLst>
              <a:path w="276225" h="247650">
                <a:moveTo>
                  <a:pt x="9525" y="123825"/>
                </a:moveTo>
                <a:cubicBezTo>
                  <a:pt x="74581" y="85725"/>
                  <a:pt x="193357" y="152400"/>
                  <a:pt x="257175" y="114300"/>
                </a:cubicBezTo>
                <a:moveTo>
                  <a:pt x="114300" y="19050"/>
                </a:moveTo>
                <a:lnTo>
                  <a:pt x="257175" y="114300"/>
                </a:lnTo>
                <a:lnTo>
                  <a:pt x="1143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0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2377570E-4924-4829-802E-8A7F12CF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276225" cy="247650"/>
          </a:xfrm>
          <a:custGeom xmlns:a="http://schemas.openxmlformats.org/drawingml/2006/main">
            <a:pathLst>
              <a:path w="276225" h="247650">
                <a:moveTo>
                  <a:pt x="9525" y="123825"/>
                </a:moveTo>
                <a:cubicBezTo>
                  <a:pt x="74581" y="85725"/>
                  <a:pt x="193357" y="152400"/>
                  <a:pt x="257175" y="114300"/>
                </a:cubicBezTo>
                <a:moveTo>
                  <a:pt x="114300" y="19050"/>
                </a:moveTo>
                <a:lnTo>
                  <a:pt x="257175" y="114300"/>
                </a:lnTo>
                <a:lnTo>
                  <a:pt x="1143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1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9C996B02-6D89-4CF1-BC25-473444D2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276225" cy="247650"/>
          </a:xfrm>
          <a:custGeom xmlns:a="http://schemas.openxmlformats.org/drawingml/2006/main">
            <a:pathLst>
              <a:path w="276225" h="247650">
                <a:moveTo>
                  <a:pt x="9525" y="123825"/>
                </a:moveTo>
                <a:cubicBezTo>
                  <a:pt x="74581" y="85725"/>
                  <a:pt x="193357" y="152400"/>
                  <a:pt x="257175" y="114300"/>
                </a:cubicBezTo>
                <a:moveTo>
                  <a:pt x="114300" y="19050"/>
                </a:moveTo>
                <a:lnTo>
                  <a:pt x="257175" y="114300"/>
                </a:lnTo>
                <a:lnTo>
                  <a:pt x="1143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2" name="本次查询：1条有效，0条拒绝">
            <a:extLst xmlns:a="http://schemas.openxmlformats.org/drawingml/2006/main">
              <a:ext uri="{FF2B5EF4-FFF2-40B4-BE49-F238E27FC236}">
                <a16:creationId xmlns:a16="http://schemas.microsoft.com/office/drawing/2014/main" id="{6093DB00-CDF5-46AA-B621-28F71F8C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本次查询：1条有效，0条拒绝</a:t>
            </a:r>
          </a:p>
        </p:txBody>
      </p:sp>
      <p:sp>
        <p:nvSpPr>
          <p:cNvPr id="23" name="同一示例：检查后导出 ZIP">
            <a:extLst xmlns:a="http://schemas.openxmlformats.org/drawingml/2006/main">
              <a:ext uri="{FF2B5EF4-FFF2-40B4-BE49-F238E27FC236}">
                <a16:creationId xmlns:a16="http://schemas.microsoft.com/office/drawing/2014/main" id="{96F8529E-0AD3-4CED-AD6D-1ABB71B5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813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同一示例：检查后导出 ZIP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2F34C-3742-4AFA-AE04-EC7D2619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48025"/>
            <a:ext cx="5200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5ACDA3-231E-469B-859F-021755D20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09f35dd3944e2"/>
          <a:srcRect xmlns:a="http://schemas.openxmlformats.org/drawingml/2006/main" l="14000" t="16000" r="14000" b="16000"/>
          <a:stretch xmlns:a="http://schemas.openxmlformats.org/drawingml/2006/main"/>
        </p:blipFill>
        <p:spPr>
          <a:xfrm xmlns:a="http://schemas.openxmlformats.org/drawingml/2006/main">
            <a:off x="781050" y="3295650"/>
            <a:ext cx="5105400" cy="2381250"/>
          </a:xfrm>
          <a:prstGeom xmlns:a="http://schemas.openxmlformats.org/drawingml/2006/main" prst="rect">
            <a:avLst/>
          </a:prstGeom>
        </p:spPr>
      </p:pic>
      <p:sp>
        <p:nvSpPr>
          <p:cNvPr id="26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99EDFF7C-14DB-4C4B-BB58-80203825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48025"/>
            <a:ext cx="5200650" cy="2476500"/>
          </a:xfrm>
          <a:custGeom xmlns:a="http://schemas.openxmlformats.org/drawingml/2006/main">
            <a:pathLst>
              <a:path w="5200650" h="2476500">
                <a:moveTo>
                  <a:pt x="38100" y="28575"/>
                </a:moveTo>
                <a:cubicBezTo>
                  <a:pt x="1456182" y="0"/>
                  <a:pt x="3536442" y="57150"/>
                  <a:pt x="5172075" y="19050"/>
                </a:cubicBezTo>
                <a:cubicBezTo>
                  <a:pt x="5210175" y="693420"/>
                  <a:pt x="5162550" y="1857375"/>
                  <a:pt x="5191125" y="2447925"/>
                </a:cubicBezTo>
                <a:cubicBezTo>
                  <a:pt x="3432429" y="2486025"/>
                  <a:pt x="1508188" y="2438400"/>
                  <a:pt x="19050" y="2466975"/>
                </a:cubicBezTo>
                <a:cubicBezTo>
                  <a:pt x="47625" y="1733550"/>
                  <a:pt x="0" y="74295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6AD67-9137-4FD1-A76D-288F5564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48025"/>
            <a:ext cx="52006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60F28B-A907-41D5-9B54-CE515C6B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48025"/>
            <a:ext cx="5200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0F5AB4-7BC6-4C05-AE61-445943E8A5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d37b8c63c4ede"/>
          <a:srcRect xmlns:a="http://schemas.openxmlformats.org/drawingml/2006/main" l="14000" t="23500" r="14000" b="23500"/>
          <a:stretch xmlns:a="http://schemas.openxmlformats.org/drawingml/2006/main"/>
        </p:blipFill>
        <p:spPr>
          <a:xfrm xmlns:a="http://schemas.openxmlformats.org/drawingml/2006/main">
            <a:off x="6324600" y="3295650"/>
            <a:ext cx="5105400" cy="2381250"/>
          </a:xfrm>
          <a:prstGeom xmlns:a="http://schemas.openxmlformats.org/drawingml/2006/main" prst="rect">
            <a:avLst/>
          </a:prstGeom>
        </p:spPr>
      </p:pic>
      <p:sp>
        <p:nvSpPr>
          <p:cNvPr id="30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C5907AA2-EAC7-4A21-AEFE-022B5D45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48025"/>
            <a:ext cx="5200650" cy="2476500"/>
          </a:xfrm>
          <a:custGeom xmlns:a="http://schemas.openxmlformats.org/drawingml/2006/main">
            <a:pathLst>
              <a:path w="5200650" h="2476500">
                <a:moveTo>
                  <a:pt x="38100" y="28575"/>
                </a:moveTo>
                <a:cubicBezTo>
                  <a:pt x="1456182" y="0"/>
                  <a:pt x="3536442" y="57150"/>
                  <a:pt x="5172075" y="19050"/>
                </a:cubicBezTo>
                <a:cubicBezTo>
                  <a:pt x="5210175" y="693420"/>
                  <a:pt x="5162550" y="1857375"/>
                  <a:pt x="5191125" y="2447925"/>
                </a:cubicBezTo>
                <a:cubicBezTo>
                  <a:pt x="3432429" y="2486025"/>
                  <a:pt x="1508188" y="2438400"/>
                  <a:pt x="19050" y="2466975"/>
                </a:cubicBezTo>
                <a:cubicBezTo>
                  <a:pt x="47625" y="1733550"/>
                  <a:pt x="0" y="74295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BAFC9-8063-4D53-9B1A-D0EBFE83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48025"/>
            <a:ext cx="52006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SDK 1.2.0 / Darwin-arm64 / arithmetic&#10;只读查询，不改变项目源码">
            <a:extLst xmlns:a="http://schemas.openxmlformats.org/drawingml/2006/main">
              <a:ext uri="{FF2B5EF4-FFF2-40B4-BE49-F238E27FC236}">
                <a16:creationId xmlns:a16="http://schemas.microsoft.com/office/drawing/2014/main" id="{72E6D4A4-FA93-4831-9F14-F929366B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86450"/>
            <a:ext cx="5153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SDK 1.2.0 / Darwin-arm64 / arithmetic</a:t>
            </a:r>
          </a:p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只读查询，不改变项目源码。</a:t>
            </a:r>
          </a:p>
        </p:txBody>
      </p:sp>
      <p:sp>
        <p:nvSpPr>
          <p:cNvPr id="33" name="源码、环境清单和 build.sh 一并导出；&#10;包内脚本用于按指定SDK重建示例。">
            <a:extLst xmlns:a="http://schemas.openxmlformats.org/drawingml/2006/main">
              <a:ext uri="{FF2B5EF4-FFF2-40B4-BE49-F238E27FC236}">
                <a16:creationId xmlns:a16="http://schemas.microsoft.com/office/drawing/2014/main" id="{3459C9D0-B374-4152-8C65-6CD4D055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886450"/>
            <a:ext cx="512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源码、环境清单和 build.sh 一并导出；</a:t>
            </a:r>
          </a:p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包内脚本用于按指定SDK重建示例。</a:t>
            </a:r>
          </a:p>
        </p:txBody>
      </p:sp>
    </p:spTree>
    <p:extLst>
      <p:ext uri="{BB962C8B-B14F-4D97-AF65-F5344CB8AC3E}">
        <p14:creationId xmlns:p14="http://schemas.microsoft.com/office/powerpoint/2010/main" val="2040820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20E41F-DEBA-4C64-90CE-48843AC9DF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bf7ca60be46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2EAB2E59-EAEE-47D1-AD7D-056E31F6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5 / 10">
            <a:extLst xmlns:a="http://schemas.openxmlformats.org/drawingml/2006/main">
              <a:ext uri="{FF2B5EF4-FFF2-40B4-BE49-F238E27FC236}">
                <a16:creationId xmlns:a16="http://schemas.microsoft.com/office/drawing/2014/main" id="{EA40546C-C99F-4BCD-AA36-42A1E34E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05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21471032-ABA4-4436-B4C9-22EA5286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038725" cy="219075"/>
          </a:xfrm>
          <a:custGeom xmlns:a="http://schemas.openxmlformats.org/drawingml/2006/main">
            <a:pathLst>
              <a:path w="5038725" h="219075">
                <a:moveTo>
                  <a:pt x="0" y="28575"/>
                </a:moveTo>
                <a:lnTo>
                  <a:pt x="4991100" y="0"/>
                </a:lnTo>
                <a:lnTo>
                  <a:pt x="503872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仓颉服务、核心模块与真实工具链">
            <a:extLst xmlns:a="http://schemas.openxmlformats.org/drawingml/2006/main">
              <a:ext uri="{FF2B5EF4-FFF2-40B4-BE49-F238E27FC236}">
                <a16:creationId xmlns:a16="http://schemas.microsoft.com/office/drawing/2014/main" id="{CC546A17-3486-491F-BA3A-6FB0C63C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仓颉服务、核心模块与真实工具链</a:t>
            </a:r>
          </a:p>
        </p:txBody>
      </p:sp>
      <p:sp>
        <p:nvSpPr>
          <p:cNvPr id="6" name="浏览器负责交互；本地服务和核心处理由仓颉实现">
            <a:extLst xmlns:a="http://schemas.openxmlformats.org/drawingml/2006/main">
              <a:ext uri="{FF2B5EF4-FFF2-40B4-BE49-F238E27FC236}">
                <a16:creationId xmlns:a16="http://schemas.microsoft.com/office/drawing/2014/main" id="{4708FBD7-570E-45D2-A096-D2BDCF5F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浏览器负责交互；本地服务和核心处理由仓颉实现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B2524302-A990-44F7-92E7-731520EA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47875"/>
            <a:ext cx="2571750" cy="1152525"/>
          </a:xfrm>
          <a:custGeom xmlns:a="http://schemas.openxmlformats.org/drawingml/2006/main">
            <a:pathLst>
              <a:path w="2571750" h="1152525">
                <a:moveTo>
                  <a:pt x="38100" y="28575"/>
                </a:moveTo>
                <a:cubicBezTo>
                  <a:pt x="720090" y="0"/>
                  <a:pt x="1748790" y="57150"/>
                  <a:pt x="2543175" y="19050"/>
                </a:cubicBezTo>
                <a:cubicBezTo>
                  <a:pt x="2581275" y="322707"/>
                  <a:pt x="2533650" y="864394"/>
                  <a:pt x="2562225" y="1123950"/>
                </a:cubicBezTo>
                <a:cubicBezTo>
                  <a:pt x="1697355" y="1162050"/>
                  <a:pt x="745808" y="1114425"/>
                  <a:pt x="19050" y="1143000"/>
                </a:cubicBezTo>
                <a:cubicBezTo>
                  <a:pt x="47625" y="806767"/>
                  <a:pt x="0" y="34575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BBF45-50A2-46E1-AA9F-297BB0E6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47875"/>
            <a:ext cx="2571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浏览器页面">
            <a:extLst xmlns:a="http://schemas.openxmlformats.org/drawingml/2006/main">
              <a:ext uri="{FF2B5EF4-FFF2-40B4-BE49-F238E27FC236}">
                <a16:creationId xmlns:a16="http://schemas.microsoft.com/office/drawing/2014/main" id="{642D74C2-4F79-4115-9AC3-A599FC5B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1932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浏览器页面</a:t>
            </a:r>
          </a:p>
        </p:txBody>
      </p:sp>
      <p:sp>
        <p:nvSpPr>
          <p:cNvPr id="10" name="HTML / CSS / JavaScript">
            <a:extLst xmlns:a="http://schemas.openxmlformats.org/drawingml/2006/main">
              <a:ext uri="{FF2B5EF4-FFF2-40B4-BE49-F238E27FC236}">
                <a16:creationId xmlns:a16="http://schemas.microsoft.com/office/drawing/2014/main" id="{81F72194-12AC-4363-A327-5AE297B3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62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HTML / CSS / JavaScript</a:t>
            </a:r>
          </a:p>
        </p:txBody>
      </p:sp>
      <p:sp>
        <p:nvSpPr>
          <p:cNvPr id="11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AE83FD84-CF85-43F7-9CFB-15E06C42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47875"/>
            <a:ext cx="2952750" cy="1152525"/>
          </a:xfrm>
          <a:custGeom xmlns:a="http://schemas.openxmlformats.org/drawingml/2006/main">
            <a:pathLst>
              <a:path w="2952750" h="1152525">
                <a:moveTo>
                  <a:pt x="38100" y="28575"/>
                </a:moveTo>
                <a:cubicBezTo>
                  <a:pt x="826770" y="0"/>
                  <a:pt x="2007870" y="57150"/>
                  <a:pt x="2924175" y="19050"/>
                </a:cubicBezTo>
                <a:cubicBezTo>
                  <a:pt x="2962275" y="322707"/>
                  <a:pt x="2914650" y="864394"/>
                  <a:pt x="2943225" y="1123950"/>
                </a:cubicBezTo>
                <a:cubicBezTo>
                  <a:pt x="1948815" y="1162050"/>
                  <a:pt x="856297" y="1114425"/>
                  <a:pt x="19050" y="1143000"/>
                </a:cubicBezTo>
                <a:cubicBezTo>
                  <a:pt x="47625" y="806767"/>
                  <a:pt x="0" y="345758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2105E-7ABB-440D-BAF0-557AC23D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47875"/>
            <a:ext cx="2952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仓颉本地服务">
            <a:extLst xmlns:a="http://schemas.openxmlformats.org/drawingml/2006/main">
              <a:ext uri="{FF2B5EF4-FFF2-40B4-BE49-F238E27FC236}">
                <a16:creationId xmlns:a16="http://schemas.microsoft.com/office/drawing/2014/main" id="{211B7ECD-2F5A-421F-94D6-32959EBD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193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仓颉本地服务</a:t>
            </a:r>
          </a:p>
        </p:txBody>
      </p:sp>
      <p:sp>
        <p:nvSpPr>
          <p:cNvPr id="14" name="HTTP、项目、配置与任务">
            <a:extLst xmlns:a="http://schemas.openxmlformats.org/drawingml/2006/main">
              <a:ext uri="{FF2B5EF4-FFF2-40B4-BE49-F238E27FC236}">
                <a16:creationId xmlns:a16="http://schemas.microsoft.com/office/drawing/2014/main" id="{5631CE45-5FD4-4BBC-913D-E8F07880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HTTP、项目、配置与任务</a:t>
            </a:r>
          </a:p>
        </p:txBody>
      </p:sp>
      <p:sp>
        <p:nvSpPr>
          <p:cNvPr id="1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AF8CCAEB-B728-4A2A-B159-6CB66638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47875"/>
            <a:ext cx="3924300" cy="1152525"/>
          </a:xfrm>
          <a:custGeom xmlns:a="http://schemas.openxmlformats.org/drawingml/2006/main">
            <a:pathLst>
              <a:path w="3924300" h="1152525">
                <a:moveTo>
                  <a:pt x="38100" y="28575"/>
                </a:moveTo>
                <a:cubicBezTo>
                  <a:pt x="1098804" y="0"/>
                  <a:pt x="2668524" y="57150"/>
                  <a:pt x="3895725" y="19050"/>
                </a:cubicBezTo>
                <a:cubicBezTo>
                  <a:pt x="3933825" y="322707"/>
                  <a:pt x="3886200" y="864394"/>
                  <a:pt x="3914775" y="1123950"/>
                </a:cubicBezTo>
                <a:cubicBezTo>
                  <a:pt x="2590038" y="1162050"/>
                  <a:pt x="1138047" y="1114425"/>
                  <a:pt x="19050" y="1143000"/>
                </a:cubicBezTo>
                <a:cubicBezTo>
                  <a:pt x="47625" y="806767"/>
                  <a:pt x="0" y="34575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4B37E-AFBE-4CBA-B27E-EFC1EC1B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47875"/>
            <a:ext cx="39243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仓颉核心">
            <a:extLst xmlns:a="http://schemas.openxmlformats.org/drawingml/2006/main">
              <a:ext uri="{FF2B5EF4-FFF2-40B4-BE49-F238E27FC236}">
                <a16:creationId xmlns:a16="http://schemas.microsoft.com/office/drawing/2014/main" id="{343B3B56-1ADB-4301-99E3-696D0EE6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19325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仓颉核心</a:t>
            </a:r>
          </a:p>
        </p:txBody>
      </p:sp>
      <p:sp>
        <p:nvSpPr>
          <p:cNvPr id="18" name="声明提取、测试与结果判断">
            <a:extLst xmlns:a="http://schemas.openxmlformats.org/drawingml/2006/main">
              <a:ext uri="{FF2B5EF4-FFF2-40B4-BE49-F238E27FC236}">
                <a16:creationId xmlns:a16="http://schemas.microsoft.com/office/drawing/2014/main" id="{E32BF78E-C61A-4787-A574-739C17DC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622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声明提取、测试与结果判断</a:t>
            </a:r>
          </a:p>
        </p:txBody>
      </p:sp>
      <p:sp>
        <p:nvSpPr>
          <p:cNvPr id="19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AC053CDC-178E-42B9-B43A-3B8BC873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00313"/>
            <a:ext cx="571500" cy="247650"/>
          </a:xfrm>
          <a:custGeom xmlns:a="http://schemas.openxmlformats.org/drawingml/2006/main">
            <a:pathLst>
              <a:path w="571500" h="247650">
                <a:moveTo>
                  <a:pt x="9525" y="123825"/>
                </a:moveTo>
                <a:cubicBezTo>
                  <a:pt x="154305" y="85725"/>
                  <a:pt x="400050" y="152400"/>
                  <a:pt x="552450" y="114300"/>
                </a:cubicBezTo>
                <a:moveTo>
                  <a:pt x="409575" y="19050"/>
                </a:moveTo>
                <a:lnTo>
                  <a:pt x="552450" y="114300"/>
                </a:lnTo>
                <a:lnTo>
                  <a:pt x="40957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0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B6E8159B-B1D4-49CD-89CB-3772404F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0313"/>
            <a:ext cx="561975" cy="247650"/>
          </a:xfrm>
          <a:custGeom xmlns:a="http://schemas.openxmlformats.org/drawingml/2006/main">
            <a:pathLst>
              <a:path w="561975" h="247650">
                <a:moveTo>
                  <a:pt x="9525" y="123825"/>
                </a:moveTo>
                <a:cubicBezTo>
                  <a:pt x="151733" y="85725"/>
                  <a:pt x="393383" y="152400"/>
                  <a:pt x="542925" y="114300"/>
                </a:cubicBezTo>
                <a:moveTo>
                  <a:pt x="400050" y="19050"/>
                </a:moveTo>
                <a:lnTo>
                  <a:pt x="542925" y="114300"/>
                </a:lnTo>
                <a:lnTo>
                  <a:pt x="40005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1" name="std.ast → 结构化声明 → 关联登记示例">
            <a:extLst xmlns:a="http://schemas.openxmlformats.org/drawingml/2006/main">
              <a:ext uri="{FF2B5EF4-FFF2-40B4-BE49-F238E27FC236}">
                <a16:creationId xmlns:a16="http://schemas.microsoft.com/office/drawing/2014/main" id="{B2C67D42-7240-4025-855C-1E7CC53A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69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std.ast → 结构化声明 → 关联登记示例</a:t>
            </a:r>
          </a:p>
        </p:txBody>
      </p:sp>
      <p:graphicFrame>
        <p:nvGraphicFrame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A37B6-6E24-4382-A5F4-6FF6E01F4DA3}"/>
              </a:ext>
            </a:extLst>
          </p:cNvPr>
          <p:cNvGraphicFramePr/>
          <p:nvPr/>
        </p:nvGraphicFramePr>
        <p:xfrm>
          <a:off xmlns:a="http://schemas.openxmlformats.org/drawingml/2006/main" x="733425" y="4095750"/>
          <a:ext xmlns:a="http://schemas.openxmlformats.org/drawingml/2006/main" cx="6248400" cy="2133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66950"/>
                <a:gridCol w="3981450"/>
              </a:tblGrid>
              <a:tr h="4267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主要源码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4267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workbench_native/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HTTP 请求、项目和任务管理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4267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src/extractor.cj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提取公共声明、参数和返回类型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4267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src/evidence.cj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判断当前输入与执行记录是否匹配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4267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src/export.cj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校验指定环境后生成可重建示例包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3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F44BAD8F-3ECA-4F00-B7DC-716110D8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6286500" cy="2171700"/>
          </a:xfrm>
          <a:custGeom xmlns:a="http://schemas.openxmlformats.org/drawingml/2006/main">
            <a:pathLst>
              <a:path w="6286500" h="2171700">
                <a:moveTo>
                  <a:pt x="38100" y="28575"/>
                </a:moveTo>
                <a:cubicBezTo>
                  <a:pt x="1760220" y="0"/>
                  <a:pt x="4274820" y="57150"/>
                  <a:pt x="6257925" y="19050"/>
                </a:cubicBezTo>
                <a:cubicBezTo>
                  <a:pt x="6296025" y="608076"/>
                  <a:pt x="6248400" y="1628775"/>
                  <a:pt x="6276975" y="2143125"/>
                </a:cubicBezTo>
                <a:cubicBezTo>
                  <a:pt x="4149090" y="2181225"/>
                  <a:pt x="1823085" y="2133600"/>
                  <a:pt x="19050" y="2162175"/>
                </a:cubicBezTo>
                <a:cubicBezTo>
                  <a:pt x="47625" y="1520190"/>
                  <a:pt x="0" y="65151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1078A-9275-4CA3-9E11-D2581BDB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6286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F2EC25E-2062-4C8A-8DD2-E03F9454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67175"/>
            <a:ext cx="3924300" cy="1066800"/>
          </a:xfrm>
          <a:custGeom xmlns:a="http://schemas.openxmlformats.org/drawingml/2006/main">
            <a:pathLst>
              <a:path w="3924300" h="1066800">
                <a:moveTo>
                  <a:pt x="38100" y="28575"/>
                </a:moveTo>
                <a:cubicBezTo>
                  <a:pt x="1098804" y="0"/>
                  <a:pt x="2668524" y="57150"/>
                  <a:pt x="3895725" y="19050"/>
                </a:cubicBezTo>
                <a:cubicBezTo>
                  <a:pt x="3933825" y="298704"/>
                  <a:pt x="3886200" y="800100"/>
                  <a:pt x="3914775" y="1038225"/>
                </a:cubicBezTo>
                <a:cubicBezTo>
                  <a:pt x="2590038" y="1076325"/>
                  <a:pt x="1138047" y="1028700"/>
                  <a:pt x="19050" y="1057275"/>
                </a:cubicBezTo>
                <a:cubicBezTo>
                  <a:pt x="47625" y="746760"/>
                  <a:pt x="0" y="320040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25718">
            <a:solidFill>
              <a:srgbClr val="397B6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46F26-0347-457C-B523-0BD52955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67175"/>
            <a:ext cx="3924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真实 SDK 1.1.3 / 1.2.0">
            <a:extLst xmlns:a="http://schemas.openxmlformats.org/drawingml/2006/main">
              <a:ext uri="{FF2B5EF4-FFF2-40B4-BE49-F238E27FC236}">
                <a16:creationId xmlns:a16="http://schemas.microsoft.com/office/drawing/2014/main" id="{7DAA8019-562A-4D80-A40C-4C1EDDFB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38625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真实 SDK 1.1.3 / 1.2.0</a:t>
            </a:r>
          </a:p>
        </p:txBody>
      </p:sp>
      <p:sp>
        <p:nvSpPr>
          <p:cNvPr id="28" name="编译 → 运行 → 登记输出核对">
            <a:extLst xmlns:a="http://schemas.openxmlformats.org/drawingml/2006/main">
              <a:ext uri="{FF2B5EF4-FFF2-40B4-BE49-F238E27FC236}">
                <a16:creationId xmlns:a16="http://schemas.microsoft.com/office/drawing/2014/main" id="{C700F349-0D04-48CC-9CE6-429C45A2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81550"/>
            <a:ext cx="3543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编译 → 运行 → 登记输出核对</a:t>
            </a:r>
          </a:p>
        </p:txBody>
      </p:sp>
      <p:sp>
        <p:nvSpPr>
          <p:cNvPr id="29" name="手绘向下流程箭头">
            <a:extLst xmlns:a="http://schemas.openxmlformats.org/drawingml/2006/main">
              <a:ext uri="{FF2B5EF4-FFF2-40B4-BE49-F238E27FC236}">
                <a16:creationId xmlns:a16="http://schemas.microsoft.com/office/drawing/2014/main" id="{4EE3DD95-E36B-4AA0-8909-12503B30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238500"/>
            <a:ext cx="247650" cy="781050"/>
          </a:xfrm>
          <a:custGeom xmlns:a="http://schemas.openxmlformats.org/drawingml/2006/main">
            <a:pathLst>
              <a:path w="247650" h="781050">
                <a:moveTo>
                  <a:pt x="114300" y="9525"/>
                </a:moveTo>
                <a:cubicBezTo>
                  <a:pt x="142875" y="218694"/>
                  <a:pt x="85725" y="538925"/>
                  <a:pt x="123825" y="762000"/>
                </a:cubicBezTo>
                <a:moveTo>
                  <a:pt x="19050" y="628650"/>
                </a:moveTo>
                <a:lnTo>
                  <a:pt x="123825" y="762000"/>
                </a:lnTo>
                <a:lnTo>
                  <a:pt x="228600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30" name="C：子进程监督与信号&#10;Bash：构建与启动&#10;Python：测试和只读适配等辅助">
            <a:extLst xmlns:a="http://schemas.openxmlformats.org/drawingml/2006/main">
              <a:ext uri="{FF2B5EF4-FFF2-40B4-BE49-F238E27FC236}">
                <a16:creationId xmlns:a16="http://schemas.microsoft.com/office/drawing/2014/main" id="{37170C0F-EB61-4C57-9BEB-7E7B1B35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43525"/>
            <a:ext cx="3867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C：子进程监督与信号</a:t>
            </a:r>
          </a:p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Bash：构建与启动</a:t>
            </a:r>
          </a:p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Python：测试和只读适配等辅助</a:t>
            </a:r>
          </a:p>
        </p:txBody>
      </p:sp>
      <p:sp>
        <p:nvSpPr>
          <p:cNvPr id="31" name="解析限于已实现、已测试的声明子集；进程资源控制不等于完整安全沙箱。">
            <a:extLst xmlns:a="http://schemas.openxmlformats.org/drawingml/2006/main">
              <a:ext uri="{FF2B5EF4-FFF2-40B4-BE49-F238E27FC236}">
                <a16:creationId xmlns:a16="http://schemas.microsoft.com/office/drawing/2014/main" id="{5DD3E51A-FF4B-4AA1-8DA3-6E6B0F2F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0557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解析限于已实现、已测试的声明子集；进程资源控制不等于完整安全沙箱。</a:t>
            </a:r>
          </a:p>
        </p:txBody>
      </p:sp>
    </p:spTree>
    <p:extLst>
      <p:ext uri="{BB962C8B-B14F-4D97-AF65-F5344CB8AC3E}">
        <p14:creationId xmlns:p14="http://schemas.microsoft.com/office/powerpoint/2010/main" val="997220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D71C6-1479-45CD-9CA9-70B1E912A6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f551a9aa5425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F47F1B55-006B-438D-86C8-51E2BE3F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6 / 10">
            <a:extLst xmlns:a="http://schemas.openxmlformats.org/drawingml/2006/main">
              <a:ext uri="{FF2B5EF4-FFF2-40B4-BE49-F238E27FC236}">
                <a16:creationId xmlns:a16="http://schemas.microsoft.com/office/drawing/2014/main" id="{F0661A6D-6558-463F-83FB-15878DD7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06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1C61F331-0B5E-4EFB-ABA3-0104ADF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981700" cy="219075"/>
          </a:xfrm>
          <a:custGeom xmlns:a="http://schemas.openxmlformats.org/drawingml/2006/main">
            <a:pathLst>
              <a:path w="5981700" h="219075">
                <a:moveTo>
                  <a:pt x="0" y="28575"/>
                </a:moveTo>
                <a:lnTo>
                  <a:pt x="5934075" y="0"/>
                </a:lnTo>
                <a:lnTo>
                  <a:pt x="59817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双 SDK 结果：统计与矩阵同时查看">
            <a:extLst xmlns:a="http://schemas.openxmlformats.org/drawingml/2006/main">
              <a:ext uri="{FF2B5EF4-FFF2-40B4-BE49-F238E27FC236}">
                <a16:creationId xmlns:a16="http://schemas.microsoft.com/office/drawing/2014/main" id="{BD6A09EC-EDC8-4EAC-AAE4-99AC489D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双 SDK 结果：统计与矩阵同时查看</a:t>
            </a:r>
          </a:p>
        </p:txBody>
      </p:sp>
      <p:sp>
        <p:nvSpPr>
          <p:cNvPr id="6" name="14 个登记示例 × 2 个 SDK；仅编译不等于运行通过">
            <a:extLst xmlns:a="http://schemas.openxmlformats.org/drawingml/2006/main">
              <a:ext uri="{FF2B5EF4-FFF2-40B4-BE49-F238E27FC236}">
                <a16:creationId xmlns:a16="http://schemas.microsoft.com/office/drawing/2014/main" id="{6D25C3ED-5CEC-4B0C-B66F-80EB33CD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14 个登记示例 × 2 个 SDK；仅编译不等于运行通过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A8BDB4F-CC82-49FF-A218-C028D17DE08D}"/>
              </a:ext>
            </a:extLst>
          </p:cNvPr>
          <p:cNvGraphicFramePr/>
          <p:nvPr/>
        </p:nvGraphicFramePr>
        <p:xfrm>
          <a:off xmlns:a="http://schemas.openxmlformats.org/drawingml/2006/main" x="723900" y="1990725"/>
          <a:ext xmlns:a="http://schemas.openxmlformats.org/drawingml/2006/main" cx="5172075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f4e852f5ad4b2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3A98A-F764-40CC-80F8-076043F1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09775"/>
            <a:ext cx="5305425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7E247-EFF8-49E4-955D-361FC480CD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49b57e5e546ee"/>
          <a:srcRect xmlns:a="http://schemas.openxmlformats.org/drawingml/2006/main" l="22500" t="17000" r="2500" b="53000"/>
          <a:stretch xmlns:a="http://schemas.openxmlformats.org/drawingml/2006/main"/>
        </p:blipFill>
        <p:spPr>
          <a:xfrm xmlns:a="http://schemas.openxmlformats.org/drawingml/2006/main">
            <a:off x="6229350" y="2057400"/>
            <a:ext cx="5210175" cy="2466975"/>
          </a:xfrm>
          <a:prstGeom xmlns:a="http://schemas.openxmlformats.org/drawingml/2006/main" prst="rect">
            <a:avLst/>
          </a:prstGeom>
        </p:spPr>
      </p:pic>
      <p:sp>
        <p:nvSpPr>
          <p:cNvPr id="10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719F4B83-6251-4435-97CD-968D442D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09775"/>
            <a:ext cx="5305425" cy="2562225"/>
          </a:xfrm>
          <a:custGeom xmlns:a="http://schemas.openxmlformats.org/drawingml/2006/main">
            <a:pathLst>
              <a:path w="5305425" h="2562225">
                <a:moveTo>
                  <a:pt x="38100" y="28575"/>
                </a:moveTo>
                <a:cubicBezTo>
                  <a:pt x="1485519" y="0"/>
                  <a:pt x="3607689" y="57150"/>
                  <a:pt x="5276850" y="19050"/>
                </a:cubicBezTo>
                <a:cubicBezTo>
                  <a:pt x="5314950" y="717423"/>
                  <a:pt x="5267325" y="1921669"/>
                  <a:pt x="5295900" y="2533650"/>
                </a:cubicBezTo>
                <a:cubicBezTo>
                  <a:pt x="3501581" y="2571750"/>
                  <a:pt x="1538573" y="2524125"/>
                  <a:pt x="19050" y="2552700"/>
                </a:cubicBezTo>
                <a:cubicBezTo>
                  <a:pt x="47625" y="1793557"/>
                  <a:pt x="0" y="76866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74EA7-FC6D-4871-9015-CC9BB16A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09775"/>
            <a:ext cx="5305425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实际矩阵节选：按示例和SDK定位，&#10;点开单元格查看日志与期望/实际输出。">
            <a:extLst xmlns:a="http://schemas.openxmlformats.org/drawingml/2006/main">
              <a:ext uri="{FF2B5EF4-FFF2-40B4-BE49-F238E27FC236}">
                <a16:creationId xmlns:a16="http://schemas.microsoft.com/office/drawing/2014/main" id="{793C0601-0C64-4D55-9C58-6CFB8A63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57725"/>
            <a:ext cx="5219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实际矩阵节选：按示例和SDK定位，</a:t>
            </a:r>
          </a:p>
          <a:p xmlns:a="http://schemas.openxmlformats.org/drawingml/2006/main">
            <a: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点开单元格查看日志与期望/实际输出。</a:t>
            </a:r>
          </a:p>
        </p:txBody>
      </p:sp>
      <p:sp>
        <p:nvSpPr>
          <p:cNvPr id="13" name="26 条运行通过 + 2 条仅编译 = 28 条记录">
            <a:extLst xmlns:a="http://schemas.openxmlformats.org/drawingml/2006/main">
              <a:ext uri="{FF2B5EF4-FFF2-40B4-BE49-F238E27FC236}">
                <a16:creationId xmlns:a16="http://schemas.microsoft.com/office/drawing/2014/main" id="{0B575BAE-F925-45CF-BE36-EAF5A13B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86300"/>
            <a:ext cx="52673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26 条运行通过 + 2 条仅编译 = 28 条记录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68F01-A500-4733-A7FA-2F291E3A4405}"/>
              </a:ext>
            </a:extLst>
          </p:cNvPr>
          <p:cNvGraphicFramePr/>
          <p:nvPr/>
        </p:nvGraphicFramePr>
        <p:xfrm>
          <a:off xmlns:a="http://schemas.openxmlformats.org/drawingml/2006/main" x="733425" y="5343525"/>
          <a:ext xmlns:a="http://schemas.openxmlformats.org/drawingml/2006/main" cx="10753725" cy="1095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09925"/>
                <a:gridCol w="2600325"/>
                <a:gridCol w="2352675"/>
                <a:gridCol w="2590800"/>
              </a:tblGrid>
              <a:tr h="3651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版本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运行通过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仅编译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合计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3651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1.1.3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3651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1.2.0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85CE29CF-6E93-4696-8D6C-B3E4F34F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24475"/>
            <a:ext cx="10791825" cy="1133475"/>
          </a:xfrm>
          <a:custGeom xmlns:a="http://schemas.openxmlformats.org/drawingml/2006/main">
            <a:pathLst>
              <a:path w="10791825" h="1133475">
                <a:moveTo>
                  <a:pt x="38100" y="28575"/>
                </a:moveTo>
                <a:cubicBezTo>
                  <a:pt x="3021711" y="0"/>
                  <a:pt x="7338441" y="57150"/>
                  <a:pt x="10763250" y="19050"/>
                </a:cubicBezTo>
                <a:cubicBezTo>
                  <a:pt x="10801350" y="317373"/>
                  <a:pt x="10753725" y="850106"/>
                  <a:pt x="10782300" y="1104900"/>
                </a:cubicBezTo>
                <a:cubicBezTo>
                  <a:pt x="7122605" y="1143000"/>
                  <a:pt x="3129629" y="1095375"/>
                  <a:pt x="19050" y="1123950"/>
                </a:cubicBezTo>
                <a:cubicBezTo>
                  <a:pt x="47625" y="793433"/>
                  <a:pt x="0" y="340042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4DFB9-4B29-4A36-A926-5DE62E2F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24475"/>
            <a:ext cx="1079182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数量描述当前登记样例，不是项目正确率或全语言覆盖率。">
            <a:extLst xmlns:a="http://schemas.openxmlformats.org/drawingml/2006/main">
              <a:ext uri="{FF2B5EF4-FFF2-40B4-BE49-F238E27FC236}">
                <a16:creationId xmlns:a16="http://schemas.microsoft.com/office/drawing/2014/main" id="{37A1D0E8-F1BE-4095-9F77-BBB99220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53200"/>
            <a:ext cx="1071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数量描述当前登记样例，不是项目正确率或全语言覆盖率。</a:t>
            </a:r>
          </a:p>
        </p:txBody>
      </p:sp>
    </p:spTree>
    <p:extLst>
      <p:ext uri="{BB962C8B-B14F-4D97-AF65-F5344CB8AC3E}">
        <p14:creationId xmlns:p14="http://schemas.microsoft.com/office/powerpoint/2010/main" val="1301599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9A5AA-7E1F-4B5B-8BCD-71D8B5F2A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a8c4397f044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7DB00266-D2D9-4577-940A-C2BFF05B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7 / 10">
            <a:extLst xmlns:a="http://schemas.openxmlformats.org/drawingml/2006/main">
              <a:ext uri="{FF2B5EF4-FFF2-40B4-BE49-F238E27FC236}">
                <a16:creationId xmlns:a16="http://schemas.microsoft.com/office/drawing/2014/main" id="{32349C88-9611-4531-A84E-32D99053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07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767F6871-749C-4691-9418-C691C132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095750" cy="219075"/>
          </a:xfrm>
          <a:custGeom xmlns:a="http://schemas.openxmlformats.org/drawingml/2006/main">
            <a:pathLst>
              <a:path w="4095750" h="219075">
                <a:moveTo>
                  <a:pt x="0" y="28575"/>
                </a:moveTo>
                <a:lnTo>
                  <a:pt x="4048125" y="0"/>
                </a:lnTo>
                <a:lnTo>
                  <a:pt x="409575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当前可用结果，怎样判定？">
            <a:extLst xmlns:a="http://schemas.openxmlformats.org/drawingml/2006/main">
              <a:ext uri="{FF2B5EF4-FFF2-40B4-BE49-F238E27FC236}">
                <a16:creationId xmlns:a16="http://schemas.microsoft.com/office/drawing/2014/main" id="{60EDDB58-A3EA-459D-AB78-332DD372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当前可用结果，怎样判定？</a:t>
            </a:r>
          </a:p>
        </p:txBody>
      </p:sp>
      <p:sp>
        <p:nvSpPr>
          <p:cNvPr id="6" name="查询与导出共用判断规则，保留历史但不回退旧成功">
            <a:extLst xmlns:a="http://schemas.openxmlformats.org/drawingml/2006/main">
              <a:ext uri="{FF2B5EF4-FFF2-40B4-BE49-F238E27FC236}">
                <a16:creationId xmlns:a16="http://schemas.microsoft.com/office/drawing/2014/main" id="{75EE67B1-E27A-4F26-AB19-88674D0F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查询与导出共用判断规则，保留历史但不回退旧成功</a:t>
            </a:r>
          </a:p>
        </p:txBody>
      </p:sp>
      <p:sp>
        <p:nvSpPr>
          <p:cNvPr id="7" name="核对六项条件">
            <a:extLst xmlns:a="http://schemas.openxmlformats.org/drawingml/2006/main">
              <a:ext uri="{FF2B5EF4-FFF2-40B4-BE49-F238E27FC236}">
                <a16:creationId xmlns:a16="http://schemas.microsoft.com/office/drawing/2014/main" id="{96F3CA93-B032-4BC0-8BED-4581E049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6450"/>
            <a:ext cx="603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核对六项条件</a:t>
            </a:r>
          </a:p>
        </p:txBody>
      </p:sp>
      <p:sp>
        <p:nvSpPr>
          <p:cNvPr id="8" name="源码 / 配置 / 工具链 / 平台&#10;记录完整性 / 相应环境的最新尝试">
            <a:extLst xmlns:a="http://schemas.openxmlformats.org/drawingml/2006/main">
              <a:ext uri="{FF2B5EF4-FFF2-40B4-BE49-F238E27FC236}">
                <a16:creationId xmlns:a16="http://schemas.microsoft.com/office/drawing/2014/main" id="{E561092B-9DC7-4D53-AE66-DAD93BF6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0325"/>
            <a:ext cx="6029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源码 / 配置 / 工具链 / 平台</a:t>
            </a:r>
          </a:p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记录完整性 / 相应环境的最新尝试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F0AE9-0A15-4ABC-9681-DD1BB63EB4AC}"/>
              </a:ext>
            </a:extLst>
          </p:cNvPr>
          <p:cNvGraphicFramePr/>
          <p:nvPr/>
        </p:nvGraphicFramePr>
        <p:xfrm>
          <a:off xmlns:a="http://schemas.openxmlformats.org/drawingml/2006/main" x="733425" y="3629025"/>
          <a:ext xmlns:a="http://schemas.openxmlformats.org/drawingml/2006/main" cx="60960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33625"/>
                <a:gridCol w="3762375"/>
              </a:tblGrid>
              <a:tr h="642938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触发情形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当前处理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642938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源码或配置变化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标记需重测，重新执行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42938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最新一次尝试失败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不以较早成功替代失败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42938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或平台不匹配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不跨环境返回有效示例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B056771D-6013-4A6D-9C48-B8356EE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6134100" cy="2609850"/>
          </a:xfrm>
          <a:custGeom xmlns:a="http://schemas.openxmlformats.org/drawingml/2006/main">
            <a:pathLst>
              <a:path w="6134100" h="2609850">
                <a:moveTo>
                  <a:pt x="38100" y="28575"/>
                </a:moveTo>
                <a:cubicBezTo>
                  <a:pt x="1717548" y="0"/>
                  <a:pt x="4171188" y="57150"/>
                  <a:pt x="6105525" y="19050"/>
                </a:cubicBezTo>
                <a:cubicBezTo>
                  <a:pt x="6143625" y="730758"/>
                  <a:pt x="6096000" y="1957388"/>
                  <a:pt x="6124575" y="2581275"/>
                </a:cubicBezTo>
                <a:cubicBezTo>
                  <a:pt x="4048506" y="2619375"/>
                  <a:pt x="1778889" y="2571750"/>
                  <a:pt x="19050" y="2600325"/>
                </a:cubicBezTo>
                <a:cubicBezTo>
                  <a:pt x="47625" y="1826895"/>
                  <a:pt x="0" y="782955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08C07-6F06-4810-A9BC-BCBAF698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61341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历史保留，当前另行判断">
            <a:extLst xmlns:a="http://schemas.openxmlformats.org/drawingml/2006/main">
              <a:ext uri="{FF2B5EF4-FFF2-40B4-BE49-F238E27FC236}">
                <a16:creationId xmlns:a16="http://schemas.microsoft.com/office/drawing/2014/main" id="{5EEBE9CD-0272-47A0-A5FE-A3EA1734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85975"/>
            <a:ext cx="434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历史保留，当前另行判断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C7B82-C6C0-42A3-B84F-EEDB33CC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43624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B155C-9EA4-478B-98E7-9029EF0B07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faaf72db04953"/>
          <a:srcRect xmlns:a="http://schemas.openxmlformats.org/drawingml/2006/main" l="22500" t="38000" r="2500" b="2000"/>
          <a:stretch xmlns:a="http://schemas.openxmlformats.org/drawingml/2006/main"/>
        </p:blipFill>
        <p:spPr>
          <a:xfrm xmlns:a="http://schemas.openxmlformats.org/drawingml/2006/main">
            <a:off x="7172325" y="2714625"/>
            <a:ext cx="4267200" cy="2238375"/>
          </a:xfrm>
          <a:prstGeom xmlns:a="http://schemas.openxmlformats.org/drawingml/2006/main" prst="rect">
            <a:avLst/>
          </a:prstGeom>
        </p:spPr>
      </p:pic>
      <p:sp>
        <p:nvSpPr>
          <p:cNvPr id="1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B86437C8-C50F-4F10-89D6-FEF376A2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4362450" cy="2333625"/>
          </a:xfrm>
          <a:custGeom xmlns:a="http://schemas.openxmlformats.org/drawingml/2006/main">
            <a:pathLst>
              <a:path w="4362450" h="2333625">
                <a:moveTo>
                  <a:pt x="38100" y="28575"/>
                </a:moveTo>
                <a:cubicBezTo>
                  <a:pt x="1221486" y="0"/>
                  <a:pt x="2966466" y="57150"/>
                  <a:pt x="4333875" y="19050"/>
                </a:cubicBezTo>
                <a:cubicBezTo>
                  <a:pt x="4371975" y="653415"/>
                  <a:pt x="4324350" y="1750219"/>
                  <a:pt x="4352925" y="2305050"/>
                </a:cubicBezTo>
                <a:cubicBezTo>
                  <a:pt x="2879217" y="2343150"/>
                  <a:pt x="1265111" y="2295525"/>
                  <a:pt x="19050" y="2324100"/>
                </a:cubicBezTo>
                <a:cubicBezTo>
                  <a:pt x="47625" y="1633538"/>
                  <a:pt x="0" y="70008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34204-BEB1-4A82-A42E-24C4A792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43624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739 条历史完整保留&#10;列表不直接代表当前结果&#10;导出前仍校验当前输入与环境">
            <a:extLst xmlns:a="http://schemas.openxmlformats.org/drawingml/2006/main">
              <a:ext uri="{FF2B5EF4-FFF2-40B4-BE49-F238E27FC236}">
                <a16:creationId xmlns:a16="http://schemas.microsoft.com/office/drawing/2014/main" id="{09F53C3C-4D11-45CD-902A-8316160A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57800"/>
            <a:ext cx="42767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739 条历史完整保留</a:t>
            </a:r>
          </a:p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列表不直接代表当前结果</a:t>
            </a:r>
          </a:p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导出前仍校验当前输入与环境</a:t>
            </a:r>
          </a:p>
        </p:txBody>
      </p:sp>
      <p:sp>
        <p:nvSpPr>
          <p:cNvPr id="18" name="输出检查只覆盖登记的受测行为，不能据一次成功推断所有输入都正确。">
            <a:extLst xmlns:a="http://schemas.openxmlformats.org/drawingml/2006/main">
              <a:ext uri="{FF2B5EF4-FFF2-40B4-BE49-F238E27FC236}">
                <a16:creationId xmlns:a16="http://schemas.microsoft.com/office/drawing/2014/main" id="{56844786-9575-45BF-A42E-15D51D89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0557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输出检查只覆盖登记的受测行为，不能据一次成功推断所有输入都正确。</a:t>
            </a:r>
          </a:p>
        </p:txBody>
      </p:sp>
    </p:spTree>
    <p:extLst>
      <p:ext uri="{BB962C8B-B14F-4D97-AF65-F5344CB8AC3E}">
        <p14:creationId xmlns:p14="http://schemas.microsoft.com/office/powerpoint/2010/main" val="1986004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A75DE-F83A-4379-A70C-45A6B8B374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93a1e74b94d2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0514AE4B-C8AC-4E05-BA1B-4FD6E67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8 / 10">
            <a:extLst xmlns:a="http://schemas.openxmlformats.org/drawingml/2006/main">
              <a:ext uri="{FF2B5EF4-FFF2-40B4-BE49-F238E27FC236}">
                <a16:creationId xmlns:a16="http://schemas.microsoft.com/office/drawing/2014/main" id="{28D142B5-2F40-4B7A-BFE5-CB06B730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08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E0DBF067-765D-441B-B15A-B4052727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038725" cy="219075"/>
          </a:xfrm>
          <a:custGeom xmlns:a="http://schemas.openxmlformats.org/drawingml/2006/main">
            <a:pathLst>
              <a:path w="5038725" h="219075">
                <a:moveTo>
                  <a:pt x="0" y="28575"/>
                </a:moveTo>
                <a:lnTo>
                  <a:pt x="4991100" y="0"/>
                </a:lnTo>
                <a:lnTo>
                  <a:pt x="503872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链接检查：发现问题，也解释原因">
            <a:extLst xmlns:a="http://schemas.openxmlformats.org/drawingml/2006/main">
              <a:ext uri="{FF2B5EF4-FFF2-40B4-BE49-F238E27FC236}">
                <a16:creationId xmlns:a16="http://schemas.microsoft.com/office/drawing/2014/main" id="{A6C1FEBF-BCF1-4637-B666-D82CD48B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链接检查：发现问题，也解释原因</a:t>
            </a:r>
          </a:p>
        </p:txBody>
      </p:sp>
      <p:sp>
        <p:nvSpPr>
          <p:cNvPr id="6" name="保留来源、行号、原始目标与失败原因；两组样例分开统计">
            <a:extLst xmlns:a="http://schemas.openxmlformats.org/drawingml/2006/main">
              <a:ext uri="{FF2B5EF4-FFF2-40B4-BE49-F238E27FC236}">
                <a16:creationId xmlns:a16="http://schemas.microsoft.com/office/drawing/2014/main" id="{55732065-640A-465D-B164-4084EB5E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保留来源、行号、原始目标与失败原因；两组样例分开统计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F23FE-E527-4712-AF16-3C0D321A0B24}"/>
              </a:ext>
            </a:extLst>
          </p:cNvPr>
          <p:cNvGraphicFramePr/>
          <p:nvPr/>
        </p:nvGraphicFramePr>
        <p:xfrm>
          <a:off xmlns:a="http://schemas.openxmlformats.org/drawingml/2006/main" x="733425" y="2076450"/>
          <a:ext xmlns:a="http://schemas.openxmlformats.org/drawingml/2006/main" cx="10753725" cy="21050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24100"/>
                <a:gridCol w="4914900"/>
                <a:gridCol w="3514725"/>
              </a:tblGrid>
              <a:tr h="70167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原始目标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检查结果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70167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README.md:13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docs/intentionally-missing.md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目标文件不存在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70167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README.md:14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docs/target%20file.md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#escaped-ghost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目标标题或锚点不存在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5717D08D-3336-4169-A401-0F5711B5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10791825" cy="2143125"/>
          </a:xfrm>
          <a:custGeom xmlns:a="http://schemas.openxmlformats.org/drawingml/2006/main">
            <a:pathLst>
              <a:path w="10791825" h="2143125">
                <a:moveTo>
                  <a:pt x="38100" y="28575"/>
                </a:moveTo>
                <a:cubicBezTo>
                  <a:pt x="3021711" y="0"/>
                  <a:pt x="7338441" y="57150"/>
                  <a:pt x="10763250" y="19050"/>
                </a:cubicBezTo>
                <a:cubicBezTo>
                  <a:pt x="10801350" y="600075"/>
                  <a:pt x="10753725" y="1607344"/>
                  <a:pt x="10782300" y="2114550"/>
                </a:cubicBezTo>
                <a:cubicBezTo>
                  <a:pt x="7122605" y="2152650"/>
                  <a:pt x="3129629" y="2105025"/>
                  <a:pt x="19050" y="2133600"/>
                </a:cubicBezTo>
                <a:cubicBezTo>
                  <a:pt x="47625" y="1500188"/>
                  <a:pt x="0" y="64293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9368E-617E-433C-A609-80EF1D24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107918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9A54F-BB42-4BAF-B714-D9D272B9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33900"/>
            <a:ext cx="5972175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06A33-8E0A-4ACC-8CA0-A0B6901E14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9fdc37a404503"/>
          <a:srcRect xmlns:a="http://schemas.openxmlformats.org/drawingml/2006/main" l="22500" t="36500" r="2500" b="36500"/>
          <a:stretch xmlns:a="http://schemas.openxmlformats.org/drawingml/2006/main"/>
        </p:blipFill>
        <p:spPr>
          <a:xfrm xmlns:a="http://schemas.openxmlformats.org/drawingml/2006/main">
            <a:off x="781050" y="4581525"/>
            <a:ext cx="5876925" cy="1647825"/>
          </a:xfrm>
          <a:prstGeom xmlns:a="http://schemas.openxmlformats.org/drawingml/2006/main" prst="rect">
            <a:avLst/>
          </a:prstGeom>
        </p:spPr>
      </p:pic>
      <p:sp>
        <p:nvSpPr>
          <p:cNvPr id="12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349331C5-2177-495E-9271-819C1252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33900"/>
            <a:ext cx="5972175" cy="1743075"/>
          </a:xfrm>
          <a:custGeom xmlns:a="http://schemas.openxmlformats.org/drawingml/2006/main">
            <a:pathLst>
              <a:path w="5972175" h="1743075">
                <a:moveTo>
                  <a:pt x="38100" y="28575"/>
                </a:moveTo>
                <a:cubicBezTo>
                  <a:pt x="1672209" y="0"/>
                  <a:pt x="4061079" y="57150"/>
                  <a:pt x="5943600" y="19050"/>
                </a:cubicBezTo>
                <a:cubicBezTo>
                  <a:pt x="5981700" y="488061"/>
                  <a:pt x="5934075" y="1307306"/>
                  <a:pt x="5962650" y="1714500"/>
                </a:cubicBezTo>
                <a:cubicBezTo>
                  <a:pt x="3941636" y="1752600"/>
                  <a:pt x="1731931" y="1704975"/>
                  <a:pt x="19050" y="1733550"/>
                </a:cubicBezTo>
                <a:cubicBezTo>
                  <a:pt x="47625" y="1220153"/>
                  <a:pt x="0" y="52292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426E5-A4F6-4435-AC1B-F90685A7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33900"/>
            <a:ext cx="597217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本地文件 / 锚点 / 索引链接">
            <a:extLst xmlns:a="http://schemas.openxmlformats.org/drawingml/2006/main">
              <a:ext uri="{FF2B5EF4-FFF2-40B4-BE49-F238E27FC236}">
                <a16:creationId xmlns:a16="http://schemas.microsoft.com/office/drawing/2014/main" id="{C664B612-142E-4267-8160-5EEDEA89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381500"/>
            <a:ext cx="4410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本地文件 / 锚点 / 索引链接</a:t>
            </a:r>
          </a:p>
        </p:txBody>
      </p:sp>
      <p:sp>
        <p:nvSpPr>
          <p:cNvPr id="15" name="URL解码后定位文件与标题；&#10;HTML索引与Markdown链接分别检查。&#10;专项：23通过 / 2失">
            <a:extLst xmlns:a="http://schemas.openxmlformats.org/drawingml/2006/main">
              <a:ext uri="{FF2B5EF4-FFF2-40B4-BE49-F238E27FC236}">
                <a16:creationId xmlns:a16="http://schemas.microsoft.com/office/drawing/2014/main" id="{3637304F-E75B-48A0-9BCA-FACC88FF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76800"/>
            <a:ext cx="43624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URL解码后定位文件与标题；</a:t>
            </a:r>
          </a:p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HTML索引与Markdown链接分别检查。</a:t>
            </a:r>
          </a:p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专项：23通过 / 2失败 / 1未确认。</a:t>
            </a:r>
          </a:p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健康工作区：178条通过（另计）。</a:t>
            </a:r>
          </a:p>
        </p:txBody>
      </p:sp>
      <p:sp>
        <p:nvSpPr>
          <p:cNvPr id="16" name="两处预置坏链导致严格检查退出1，符合预期；离线外链保持未确认。">
            <a:extLst xmlns:a="http://schemas.openxmlformats.org/drawingml/2006/main">
              <a:ext uri="{FF2B5EF4-FFF2-40B4-BE49-F238E27FC236}">
                <a16:creationId xmlns:a16="http://schemas.microsoft.com/office/drawing/2014/main" id="{49A76FE0-D439-43D1-A814-69462475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0557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两处预置坏链导致严格检查退出1，符合预期；离线外链保持未确认。</a:t>
            </a:r>
          </a:p>
        </p:txBody>
      </p:sp>
    </p:spTree>
    <p:extLst>
      <p:ext uri="{BB962C8B-B14F-4D97-AF65-F5344CB8AC3E}">
        <p14:creationId xmlns:p14="http://schemas.microsoft.com/office/powerpoint/2010/main" val="501636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FF13B-5C08-475F-90B4-BCC2B9F27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12035917d492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093D5D9D-392B-432C-8C40-0A4B692A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9 / 10">
            <a:extLst xmlns:a="http://schemas.openxmlformats.org/drawingml/2006/main">
              <a:ext uri="{FF2B5EF4-FFF2-40B4-BE49-F238E27FC236}">
                <a16:creationId xmlns:a16="http://schemas.microsoft.com/office/drawing/2014/main" id="{5FCFBAC6-99BF-429E-95D0-55AF4374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09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3C5F6963-879B-4E4C-96EE-230B880E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981700" cy="219075"/>
          </a:xfrm>
          <a:custGeom xmlns:a="http://schemas.openxmlformats.org/drawingml/2006/main">
            <a:pathLst>
              <a:path w="5981700" h="219075">
                <a:moveTo>
                  <a:pt x="0" y="28575"/>
                </a:moveTo>
                <a:lnTo>
                  <a:pt x="5934075" y="0"/>
                </a:lnTo>
                <a:lnTo>
                  <a:pt x="59817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决赛当前版本：控件、任务与长期工作区">
            <a:extLst xmlns:a="http://schemas.openxmlformats.org/drawingml/2006/main">
              <a:ext uri="{FF2B5EF4-FFF2-40B4-BE49-F238E27FC236}">
                <a16:creationId xmlns:a16="http://schemas.microsoft.com/office/drawing/2014/main" id="{E0C1A9A7-C4EF-45BE-86FA-3C84E653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决赛当前版本：控件、任务与长期工作区</a:t>
            </a:r>
          </a:p>
        </p:txBody>
      </p:sp>
      <p:sp>
        <p:nvSpPr>
          <p:cNvPr id="6" name="真实选项与条件联动；任务状态和检查数量分别说明">
            <a:extLst xmlns:a="http://schemas.openxmlformats.org/drawingml/2006/main">
              <a:ext uri="{FF2B5EF4-FFF2-40B4-BE49-F238E27FC236}">
                <a16:creationId xmlns:a16="http://schemas.microsoft.com/office/drawing/2014/main" id="{04843357-1119-4B3F-900A-7BDF85DE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真实选项与条件联动；任务状态和检查数量分别说明</a:t>
            </a:r>
          </a:p>
        </p:txBody>
      </p:sp>
      <p:sp>
        <p:nvSpPr>
          <p:cNvPr id="7" name="控件与条件">
            <a:extLst xmlns:a="http://schemas.openxmlformats.org/drawingml/2006/main">
              <a:ext uri="{FF2B5EF4-FFF2-40B4-BE49-F238E27FC236}">
                <a16:creationId xmlns:a16="http://schemas.microsoft.com/office/drawing/2014/main" id="{4F6B28AF-0917-45CA-95CB-EA7A153A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574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控件与条件</a:t>
            </a:r>
          </a:p>
        </p:txBody>
      </p:sp>
      <p:sp>
        <p:nvSpPr>
          <p:cNvPr id="8" name="任务状态与进度">
            <a:extLst xmlns:a="http://schemas.openxmlformats.org/drawingml/2006/main">
              <a:ext uri="{FF2B5EF4-FFF2-40B4-BE49-F238E27FC236}">
                <a16:creationId xmlns:a16="http://schemas.microsoft.com/office/drawing/2014/main" id="{4DFABC02-AF73-4D0E-A544-D98B1B27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57400"/>
            <a:ext cx="4752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任务状态与进度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1CE5F-97EF-4B8C-9DA6-B47B611D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2714625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D222B-6316-4CC9-B47C-93EFE7A9A4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14fb8b0b64f87"/>
          <a:srcRect xmlns:a="http://schemas.openxmlformats.org/drawingml/2006/main" l="20000" t="1500" r="60500" b="75500"/>
          <a:stretch xmlns:a="http://schemas.openxmlformats.org/drawingml/2006/main"/>
        </p:blipFill>
        <p:spPr>
          <a:xfrm xmlns:a="http://schemas.openxmlformats.org/drawingml/2006/main">
            <a:off x="790575" y="2628900"/>
            <a:ext cx="2619375" cy="1990725"/>
          </a:xfrm>
          <a:prstGeom xmlns:a="http://schemas.openxmlformats.org/drawingml/2006/main" prst="rect">
            <a:avLst/>
          </a:prstGeom>
        </p:spPr>
      </p:pic>
      <p:sp>
        <p:nvSpPr>
          <p:cNvPr id="11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92E6DD83-7630-4820-BBA7-20393773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2714625" cy="2085975"/>
          </a:xfrm>
          <a:custGeom xmlns:a="http://schemas.openxmlformats.org/drawingml/2006/main">
            <a:pathLst>
              <a:path w="2714625" h="2085975">
                <a:moveTo>
                  <a:pt x="38100" y="28575"/>
                </a:moveTo>
                <a:cubicBezTo>
                  <a:pt x="760095" y="0"/>
                  <a:pt x="1845945" y="57150"/>
                  <a:pt x="2686050" y="19050"/>
                </a:cubicBezTo>
                <a:cubicBezTo>
                  <a:pt x="2724150" y="584073"/>
                  <a:pt x="2676525" y="1564481"/>
                  <a:pt x="2705100" y="2057400"/>
                </a:cubicBezTo>
                <a:cubicBezTo>
                  <a:pt x="1791653" y="2095500"/>
                  <a:pt x="787241" y="2047875"/>
                  <a:pt x="19050" y="2076450"/>
                </a:cubicBezTo>
                <a:cubicBezTo>
                  <a:pt x="47625" y="1460182"/>
                  <a:pt x="0" y="62579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EEB3D-3081-4D41-9944-C8B2AAB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27146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实际项目选项&#10;SDK与平台条件联动&#10;禁用与忙碌反馈&#10;键盘选择和空态">
            <a:extLst xmlns:a="http://schemas.openxmlformats.org/drawingml/2006/main">
              <a:ext uri="{FF2B5EF4-FFF2-40B4-BE49-F238E27FC236}">
                <a16:creationId xmlns:a16="http://schemas.microsoft.com/office/drawing/2014/main" id="{79C4E1A7-106B-4D1A-84C6-2B4168F8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28900"/>
            <a:ext cx="2247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实际项目选项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SDK与平台条件联动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禁用与忙碌反馈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键盘选择和空态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712DA-D2BE-400E-ADAF-F20217E0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81275"/>
            <a:ext cx="475297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914C2-694A-4519-8407-53C8D26B2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e6031e9d6446b"/>
          <a:srcRect xmlns:a="http://schemas.openxmlformats.org/drawingml/2006/main" l="5500" t="40000" r="4000" b="23500"/>
          <a:stretch xmlns:a="http://schemas.openxmlformats.org/drawingml/2006/main"/>
        </p:blipFill>
        <p:spPr>
          <a:xfrm xmlns:a="http://schemas.openxmlformats.org/drawingml/2006/main">
            <a:off x="6772275" y="2628900"/>
            <a:ext cx="4657725" cy="1609725"/>
          </a:xfrm>
          <a:prstGeom xmlns:a="http://schemas.openxmlformats.org/drawingml/2006/main" prst="rect">
            <a:avLst/>
          </a:prstGeom>
        </p:spPr>
      </p:pic>
      <p:sp>
        <p:nvSpPr>
          <p:cNvPr id="16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B3430E15-5701-4296-B70B-7972CCEE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81275"/>
            <a:ext cx="4752975" cy="1704975"/>
          </a:xfrm>
          <a:custGeom xmlns:a="http://schemas.openxmlformats.org/drawingml/2006/main">
            <a:pathLst>
              <a:path w="4752975" h="1704975">
                <a:moveTo>
                  <a:pt x="38100" y="28575"/>
                </a:moveTo>
                <a:cubicBezTo>
                  <a:pt x="1330833" y="0"/>
                  <a:pt x="3232023" y="57150"/>
                  <a:pt x="4724400" y="19050"/>
                </a:cubicBezTo>
                <a:cubicBezTo>
                  <a:pt x="4762500" y="477393"/>
                  <a:pt x="4714875" y="1278731"/>
                  <a:pt x="4743450" y="1676400"/>
                </a:cubicBezTo>
                <a:cubicBezTo>
                  <a:pt x="3136964" y="1714500"/>
                  <a:pt x="1378363" y="1666875"/>
                  <a:pt x="19050" y="1695450"/>
                </a:cubicBezTo>
                <a:cubicBezTo>
                  <a:pt x="47625" y="1193483"/>
                  <a:pt x="0" y="511492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FC2F8-130B-4D6E-9618-20C82045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81275"/>
            <a:ext cx="475297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实际运行画面（准备阶段）。&#10;无数量进度时显示状态条，&#10;结束后再展示返回结果。">
            <a:extLst xmlns:a="http://schemas.openxmlformats.org/drawingml/2006/main">
              <a:ext uri="{FF2B5EF4-FFF2-40B4-BE49-F238E27FC236}">
                <a16:creationId xmlns:a16="http://schemas.microsoft.com/office/drawing/2014/main" id="{6460419F-5418-4DA3-9A04-ED2849D6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67225"/>
            <a:ext cx="4648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实际运行画面（准备阶段）。</a:t>
            </a:r>
          </a:p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无数量进度时显示状态条，</a:t>
            </a:r>
          </a:p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结束后再展示返回结果。</a:t>
            </a:r>
          </a:p>
        </p:txBody>
      </p:sp>
      <p:sp>
        <p:nvSpPr>
          <p:cNvPr id="19" name="马克笔下划线">
            <a:extLst xmlns:a="http://schemas.openxmlformats.org/drawingml/2006/main">
              <a:ext uri="{FF2B5EF4-FFF2-40B4-BE49-F238E27FC236}">
                <a16:creationId xmlns:a16="http://schemas.microsoft.com/office/drawing/2014/main" id="{70A0E4B0-5DD3-43CA-9981-FE35C6B5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687050" cy="76200"/>
          </a:xfrm>
          <a:custGeom xmlns:a="http://schemas.openxmlformats.org/drawingml/2006/main">
            <a:pathLst>
              <a:path w="10687050" h="76200">
                <a:moveTo>
                  <a:pt x="9525" y="38100"/>
                </a:moveTo>
                <a:cubicBezTo>
                  <a:pt x="2992374" y="0"/>
                  <a:pt x="6732842" y="76200"/>
                  <a:pt x="10677525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0" name="23">
            <a:extLst xmlns:a="http://schemas.openxmlformats.org/drawingml/2006/main">
              <a:ext uri="{FF2B5EF4-FFF2-40B4-BE49-F238E27FC236}">
                <a16:creationId xmlns:a16="http://schemas.microsoft.com/office/drawing/2014/main" id="{20DC6FDB-2F6C-47F8-984E-83FD780D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23</a:t>
            </a:r>
          </a:p>
        </p:txBody>
      </p:sp>
      <p:sp>
        <p:nvSpPr>
          <p:cNvPr id="21" name="原生 HTTP 专项&#10;回归通过">
            <a:extLst xmlns:a="http://schemas.openxmlformats.org/drawingml/2006/main">
              <a:ext uri="{FF2B5EF4-FFF2-40B4-BE49-F238E27FC236}">
                <a16:creationId xmlns:a16="http://schemas.microsoft.com/office/drawing/2014/main" id="{79203BBE-7728-469D-B7AB-0A8D55A5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原生 HTTP 专项</a:t>
            </a:r>
          </a:p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回归通过</a:t>
            </a:r>
          </a:p>
        </p:txBody>
      </p:sp>
      <p:sp>
        <p:nvSpPr>
          <p:cNvPr id="22" name="20">
            <a:extLst xmlns:a="http://schemas.openxmlformats.org/drawingml/2006/main">
              <a:ext uri="{FF2B5EF4-FFF2-40B4-BE49-F238E27FC236}">
                <a16:creationId xmlns:a16="http://schemas.microsoft.com/office/drawing/2014/main" id="{12CDDFD6-B1D6-4925-B388-DAED5AA2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05450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20</a:t>
            </a:r>
          </a:p>
        </p:txBody>
      </p:sp>
      <p:sp>
        <p:nvSpPr>
          <p:cNvPr id="23" name="页面场景&#10;及交互回归">
            <a:extLst xmlns:a="http://schemas.openxmlformats.org/drawingml/2006/main">
              <a:ext uri="{FF2B5EF4-FFF2-40B4-BE49-F238E27FC236}">
                <a16:creationId xmlns:a16="http://schemas.microsoft.com/office/drawing/2014/main" id="{04E5B86C-6AF5-42E5-BEBA-1A154BEF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15050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页面场景</a:t>
            </a:r>
          </a:p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及交互回归</a:t>
            </a:r>
          </a:p>
        </p:txBody>
      </p:sp>
      <p:sp>
        <p:nvSpPr>
          <p:cNvPr id="24" name="30">
            <a:extLst xmlns:a="http://schemas.openxmlformats.org/drawingml/2006/main">
              <a:ext uri="{FF2B5EF4-FFF2-40B4-BE49-F238E27FC236}">
                <a16:creationId xmlns:a16="http://schemas.microsoft.com/office/drawing/2014/main" id="{D5FB3EA2-1E69-4BBC-B903-6B5F454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05450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30</a:t>
            </a:r>
          </a:p>
        </p:txBody>
      </p:sp>
      <p:sp>
        <p:nvSpPr>
          <p:cNvPr id="25" name="三档十页&#10;布局检查">
            <a:extLst xmlns:a="http://schemas.openxmlformats.org/drawingml/2006/main">
              <a:ext uri="{FF2B5EF4-FFF2-40B4-BE49-F238E27FC236}">
                <a16:creationId xmlns:a16="http://schemas.microsoft.com/office/drawing/2014/main" id="{EE73A00C-DE16-49AF-8A68-23702A1C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115050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三档十页</a:t>
            </a:r>
          </a:p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布局检查</a:t>
            </a:r>
          </a:p>
        </p:txBody>
      </p:sp>
      <p:sp>
        <p:nvSpPr>
          <p:cNvPr id="26" name="739">
            <a:extLst xmlns:a="http://schemas.openxmlformats.org/drawingml/2006/main">
              <a:ext uri="{FF2B5EF4-FFF2-40B4-BE49-F238E27FC236}">
                <a16:creationId xmlns:a16="http://schemas.microsoft.com/office/drawing/2014/main" id="{59D2CED2-27C6-4D26-82DF-EC7FD7CF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05450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pPr>
            <a:r>
              <a: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rPr>
              <a:t>739</a:t>
            </a:r>
          </a:p>
        </p:txBody>
      </p:sp>
      <p:sp>
        <p:nvSpPr>
          <p:cNvPr id="27" name="历史记录完整保留&#10;任务默认堆上限1GB">
            <a:extLst xmlns:a="http://schemas.openxmlformats.org/drawingml/2006/main">
              <a:ext uri="{FF2B5EF4-FFF2-40B4-BE49-F238E27FC236}">
                <a16:creationId xmlns:a16="http://schemas.microsoft.com/office/drawing/2014/main" id="{7C5EA5DE-02CC-4A1F-9018-FCF3E9A0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115050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历史记录完整保留</a:t>
            </a:r>
          </a:p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任务默认堆上限1GB</a:t>
            </a:r>
          </a:p>
        </p:txBody>
      </p:sp>
    </p:spTree>
    <p:extLst>
      <p:ext uri="{BB962C8B-B14F-4D97-AF65-F5344CB8AC3E}">
        <p14:creationId xmlns:p14="http://schemas.microsoft.com/office/powerpoint/2010/main" val="6839000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8D6EE-5E86-4347-92E3-C5C0A6B487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6324dd2734a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AAD59ECD-67F1-4A58-8771-6228043B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10 / 10">
            <a:extLst xmlns:a="http://schemas.openxmlformats.org/drawingml/2006/main">
              <a:ext uri="{FF2B5EF4-FFF2-40B4-BE49-F238E27FC236}">
                <a16:creationId xmlns:a16="http://schemas.microsoft.com/office/drawing/2014/main" id="{BE9F2CF2-B292-4080-96AF-F7C2CF81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10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A5910E44-3021-44B9-9D16-5C54405C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3467100" cy="219075"/>
          </a:xfrm>
          <a:custGeom xmlns:a="http://schemas.openxmlformats.org/drawingml/2006/main">
            <a:pathLst>
              <a:path w="3467100" h="219075">
                <a:moveTo>
                  <a:pt x="0" y="28575"/>
                </a:moveTo>
                <a:lnTo>
                  <a:pt x="3419475" y="0"/>
                </a:lnTo>
                <a:lnTo>
                  <a:pt x="34671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交付、复现与持续维护">
            <a:extLst xmlns:a="http://schemas.openxmlformats.org/drawingml/2006/main">
              <a:ext uri="{FF2B5EF4-FFF2-40B4-BE49-F238E27FC236}">
                <a16:creationId xmlns:a16="http://schemas.microsoft.com/office/drawing/2014/main" id="{0528FCC2-E00D-4457-A09A-F4A53752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交付、复现与持续维护</a:t>
            </a:r>
          </a:p>
        </p:txBody>
      </p:sp>
      <p:sp>
        <p:nvSpPr>
          <p:cNvPr id="6" name="交付的不只是页面，也有可检索文档、测试记录与可重建示例">
            <a:extLst xmlns:a="http://schemas.openxmlformats.org/drawingml/2006/main">
              <a:ext uri="{FF2B5EF4-FFF2-40B4-BE49-F238E27FC236}">
                <a16:creationId xmlns:a16="http://schemas.microsoft.com/office/drawing/2014/main" id="{4EDBBA28-2F2A-4ED4-906B-D3A91DA1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交付的不只是页面，也有可检索文档、测试记录与可重建示例</a:t>
            </a:r>
          </a:p>
        </p:txBody>
      </p:sp>
      <p:sp>
        <p:nvSpPr>
          <p:cNvPr id="7" name="维护者拿到什么？">
            <a:extLst xmlns:a="http://schemas.openxmlformats.org/drawingml/2006/main">
              <a:ext uri="{FF2B5EF4-FFF2-40B4-BE49-F238E27FC236}">
                <a16:creationId xmlns:a16="http://schemas.microsoft.com/office/drawing/2014/main" id="{A3E2A8E3-96A6-4C2C-9222-EC11F9A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859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维护者拿到什么？</a:t>
            </a:r>
          </a:p>
        </p:txBody>
      </p:sp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079B28E7-0501-40F7-8B21-954CD7BB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28900"/>
            <a:ext cx="5143500" cy="2105025"/>
          </a:xfrm>
          <a:custGeom xmlns:a="http://schemas.openxmlformats.org/drawingml/2006/main">
            <a:pathLst>
              <a:path w="5143500" h="2105025">
                <a:moveTo>
                  <a:pt x="38100" y="28575"/>
                </a:moveTo>
                <a:cubicBezTo>
                  <a:pt x="1440180" y="0"/>
                  <a:pt x="3497580" y="57150"/>
                  <a:pt x="5114925" y="19050"/>
                </a:cubicBezTo>
                <a:cubicBezTo>
                  <a:pt x="5153025" y="589407"/>
                  <a:pt x="5105400" y="1578769"/>
                  <a:pt x="5133975" y="2076450"/>
                </a:cubicBezTo>
                <a:cubicBezTo>
                  <a:pt x="3394710" y="2114550"/>
                  <a:pt x="1491615" y="2066925"/>
                  <a:pt x="19050" y="2095500"/>
                </a:cubicBezTo>
                <a:cubicBezTo>
                  <a:pt x="47625" y="1473518"/>
                  <a:pt x="0" y="631508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A880E-A078-40A9-80F5-3BEF8B8C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28900"/>
            <a:ext cx="5143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示例 ZIP 包&#10;├─ examples/.../arithmetic.cj&#10;├─ src/...（">
            <a:extLst xmlns:a="http://schemas.openxmlformats.org/drawingml/2006/main">
              <a:ext uri="{FF2B5EF4-FFF2-40B4-BE49-F238E27FC236}">
                <a16:creationId xmlns:a16="http://schemas.microsoft.com/office/drawing/2014/main" id="{8A25020D-2D49-4B5B-87C9-740F6A20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90825"/>
            <a:ext cx="4772025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示例 ZIP 包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├─ examples/.../arithmetic.cj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├─ src/...（关联编译单元）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├─ manifest.json（环境与检查）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└─ build.sh / README.md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4F9FF-7886-44BD-B60C-94FF6B87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51530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1385F-2B73-461E-A1E9-A149DCC52B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163be7a61419c"/>
          <a:srcRect xmlns:a="http://schemas.openxmlformats.org/drawingml/2006/main" l="22500" t="36500" r="2500" b="39000"/>
          <a:stretch xmlns:a="http://schemas.openxmlformats.org/drawingml/2006/main"/>
        </p:blipFill>
        <p:spPr>
          <a:xfrm xmlns:a="http://schemas.openxmlformats.org/drawingml/2006/main">
            <a:off x="6372225" y="2133600"/>
            <a:ext cx="5057775" cy="2476500"/>
          </a:xfrm>
          <a:prstGeom xmlns:a="http://schemas.openxmlformats.org/drawingml/2006/main" prst="rect">
            <a:avLst/>
          </a:prstGeom>
        </p:spPr>
      </p:pic>
      <p:sp>
        <p:nvSpPr>
          <p:cNvPr id="13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EBE2B7E4-F29D-4E50-A14D-F89CFBF4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5153025" cy="2571750"/>
          </a:xfrm>
          <a:custGeom xmlns:a="http://schemas.openxmlformats.org/drawingml/2006/main">
            <a:pathLst>
              <a:path w="5153025" h="2571750">
                <a:moveTo>
                  <a:pt x="38100" y="28575"/>
                </a:moveTo>
                <a:cubicBezTo>
                  <a:pt x="1442847" y="0"/>
                  <a:pt x="3504057" y="57150"/>
                  <a:pt x="5124450" y="19050"/>
                </a:cubicBezTo>
                <a:cubicBezTo>
                  <a:pt x="5162550" y="720090"/>
                  <a:pt x="5114925" y="1928813"/>
                  <a:pt x="5143500" y="2543175"/>
                </a:cubicBezTo>
                <a:cubicBezTo>
                  <a:pt x="3400997" y="2581275"/>
                  <a:pt x="1494377" y="2533650"/>
                  <a:pt x="19050" y="2562225"/>
                </a:cubicBezTo>
                <a:cubicBezTo>
                  <a:pt x="47625" y="1800225"/>
                  <a:pt x="0" y="771525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25072-0B35-4963-9591-05845967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51530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网页审阅并保存登记源码；&#10;保存须校验文件版本、路径并明确确认。">
            <a:extLst xmlns:a="http://schemas.openxmlformats.org/drawingml/2006/main">
              <a:ext uri="{FF2B5EF4-FFF2-40B4-BE49-F238E27FC236}">
                <a16:creationId xmlns:a16="http://schemas.microsoft.com/office/drawing/2014/main" id="{FD9C6330-B943-4938-9573-0C6E33F2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076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网页审阅并保存登记源码；</a:t>
            </a:r>
          </a:p>
          <a:p xmlns:a="http://schemas.openxmlformats.org/drawingml/2006/main">
            <a: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保存须校验文件版本、路径并明确确认。</a:t>
            </a:r>
          </a:p>
        </p:txBody>
      </p:sp>
      <p:sp>
        <p:nvSpPr>
          <p:cNvPr id="16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A5E84788-471D-49FE-9A7B-3FB60B01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5086350" cy="257175"/>
          </a:xfrm>
          <a:custGeom xmlns:a="http://schemas.openxmlformats.org/drawingml/2006/main">
            <a:pathLst>
              <a:path w="5086350" h="257175">
                <a:moveTo>
                  <a:pt x="0" y="28575"/>
                </a:moveTo>
                <a:lnTo>
                  <a:pt x="5038725" y="0"/>
                </a:lnTo>
                <a:lnTo>
                  <a:pt x="5086350" y="228600"/>
                </a:lnTo>
                <a:lnTo>
                  <a:pt x="38100" y="257175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固定功能源码：068a22a">
            <a:extLst xmlns:a="http://schemas.openxmlformats.org/drawingml/2006/main">
              <a:ext uri="{FF2B5EF4-FFF2-40B4-BE49-F238E27FC236}">
                <a16:creationId xmlns:a16="http://schemas.microsoft.com/office/drawing/2014/main" id="{531B055F-93C3-4C40-B021-F475FB5D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00650"/>
            <a:ext cx="5095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固定功能源码：068a22a</a:t>
            </a:r>
          </a:p>
        </p:txBody>
      </p:sp>
      <p:sp>
        <p:nvSpPr>
          <p:cNvPr id="18" name="按评委指南准备双SDK与兼容系统SDK，&#10;构建原生服务后从本机8765端口打开。">
            <a:extLst xmlns:a="http://schemas.openxmlformats.org/drawingml/2006/main">
              <a:ext uri="{FF2B5EF4-FFF2-40B4-BE49-F238E27FC236}">
                <a16:creationId xmlns:a16="http://schemas.microsoft.com/office/drawing/2014/main" id="{A7751722-4DCF-468A-B3BB-290A2807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5105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按评委指南准备双SDK与兼容系统SDK，</a:t>
            </a:r>
          </a:p>
          <a:p xmlns:a="http://schemas.openxmlformats.org/drawingml/2006/main">
            <a: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构建原生服务后从本机8765端口打开。</a:t>
            </a:r>
          </a:p>
        </p:txBody>
      </p:sp>
      <p:sp>
        <p:nvSpPr>
          <p:cNvPr id="19" name="价值：接口、示例和版本结果共同维护。&#10;当前完整实测：macOS arm64。">
            <a:extLst xmlns:a="http://schemas.openxmlformats.org/drawingml/2006/main">
              <a:ext uri="{FF2B5EF4-FFF2-40B4-BE49-F238E27FC236}">
                <a16:creationId xmlns:a16="http://schemas.microsoft.com/office/drawing/2014/main" id="{7076C3A4-3589-4A03-B977-34524C01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43575"/>
            <a:ext cx="5076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价值：接口、示例和版本结果共同维护。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当前完整实测：macOS arm64。</a:t>
            </a:r>
          </a:p>
        </p:txBody>
      </p:sp>
      <p:sp>
        <p:nvSpPr>
          <p:cNvPr id="20" name="atomgit.com/c2892480843s/cj-docguard · docs/judge-">
            <a:extLst xmlns:a="http://schemas.openxmlformats.org/drawingml/2006/main">
              <a:ext uri="{FF2B5EF4-FFF2-40B4-BE49-F238E27FC236}">
                <a16:creationId xmlns:a16="http://schemas.microsoft.com/office/drawing/2014/main" id="{29B853F1-0491-4F67-86A9-16DCBC8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pPr>
            <a:r>
              <a: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rPr>
              <a:t>atomgit.com/c2892480843s/cj-docguard · docs/judge-quickstart.md</a:t>
            </a:r>
          </a:p>
        </p:txBody>
      </p:sp>
      <p:sp>
        <p:nvSpPr>
          <p:cNvPr id="21" name="谢谢评委！">
            <a:extLst xmlns:a="http://schemas.openxmlformats.org/drawingml/2006/main">
              <a:ext uri="{FF2B5EF4-FFF2-40B4-BE49-F238E27FC236}">
                <a16:creationId xmlns:a16="http://schemas.microsoft.com/office/drawing/2014/main" id="{1A05CF3C-78AA-4E86-9063-0E9412E4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496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谢谢评委！</a:t>
            </a:r>
          </a:p>
        </p:txBody>
      </p:sp>
    </p:spTree>
    <p:extLst>
      <p:ext uri="{BB962C8B-B14F-4D97-AF65-F5344CB8AC3E}">
        <p14:creationId xmlns:p14="http://schemas.microsoft.com/office/powerpoint/2010/main" val="12414574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FB10B-B687-4EC6-AFD0-1F8F919EC7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faf53fc404ac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416F9397-509B-4AF2-A249-A36E73B1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1 / 4">
            <a:extLst xmlns:a="http://schemas.openxmlformats.org/drawingml/2006/main">
              <a:ext uri="{FF2B5EF4-FFF2-40B4-BE49-F238E27FC236}">
                <a16:creationId xmlns:a16="http://schemas.microsoft.com/office/drawing/2014/main" id="{83F07B56-40BC-4FCA-BF23-368079B5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1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F84562CB-63B2-470E-B846-D75E654C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095750" cy="219075"/>
          </a:xfrm>
          <a:custGeom xmlns:a="http://schemas.openxmlformats.org/drawingml/2006/main">
            <a:pathLst>
              <a:path w="4095750" h="219075">
                <a:moveTo>
                  <a:pt x="0" y="28575"/>
                </a:moveTo>
                <a:lnTo>
                  <a:pt x="4048125" y="0"/>
                </a:lnTo>
                <a:lnTo>
                  <a:pt x="409575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支持范围与实现边界">
            <a:extLst xmlns:a="http://schemas.openxmlformats.org/drawingml/2006/main">
              <a:ext uri="{FF2B5EF4-FFF2-40B4-BE49-F238E27FC236}">
                <a16:creationId xmlns:a16="http://schemas.microsoft.com/office/drawing/2014/main" id="{63003ED2-7FD0-4C62-A578-59070F4C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备查：支持范围与实现边界</a:t>
            </a:r>
          </a:p>
        </p:txBody>
      </p:sp>
      <p:sp>
        <p:nvSpPr>
          <p:cNvPr id="6" name="按已实现、已测试的范围回答；不以样例数量代替覆盖率">
            <a:extLst xmlns:a="http://schemas.openxmlformats.org/drawingml/2006/main">
              <a:ext uri="{FF2B5EF4-FFF2-40B4-BE49-F238E27FC236}">
                <a16:creationId xmlns:a16="http://schemas.microsoft.com/office/drawing/2014/main" id="{3013AC1E-9122-4D1F-B178-FD8C23E7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按已实现、已测试的范围回答；不以样例数量代替覆盖率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0363B-1804-482C-989F-235FC64B11B8}"/>
              </a:ext>
            </a:extLst>
          </p:cNvPr>
          <p:cNvGraphicFramePr/>
          <p:nvPr/>
        </p:nvGraphicFramePr>
        <p:xfrm>
          <a:off xmlns:a="http://schemas.openxmlformats.org/drawingml/2006/main" x="733425" y="2095500"/>
          <a:ext xmlns:a="http://schemas.openxmlformats.org/drawingml/2006/main" cx="10753725" cy="3952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81200"/>
                <a:gridCol w="4886325"/>
                <a:gridCol w="3886200"/>
              </a:tblGrid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当前已实现 / 已实测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宿主与工具链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macOS arm64</a:t>
                      </a:r>
                    </a:p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SDK 1.1.3 / 1.2.0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其他宿主需单独复验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声明解析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std.ast 与已测试声明子集</a:t>
                      </a:r>
                    </a:p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保留参数、返回类型、来源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不宣称完整语义覆盖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示例正确性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真实编译、运行及登记输出核对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不证明全部输入正确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外部链接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离线未检查时保留未确认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不能当作远端可访问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执行项目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维护者明确授权的可信本地项目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资源限制不是完整安全沙箱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98A6E41E-1F79-4134-8493-0581F250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10791825" cy="3990975"/>
          </a:xfrm>
          <a:custGeom xmlns:a="http://schemas.openxmlformats.org/drawingml/2006/main">
            <a:pathLst>
              <a:path w="10791825" h="3990975">
                <a:moveTo>
                  <a:pt x="38100" y="28575"/>
                </a:moveTo>
                <a:cubicBezTo>
                  <a:pt x="3021711" y="0"/>
                  <a:pt x="7338441" y="57150"/>
                  <a:pt x="10763250" y="19050"/>
                </a:cubicBezTo>
                <a:cubicBezTo>
                  <a:pt x="10801350" y="1117473"/>
                  <a:pt x="10753725" y="2993231"/>
                  <a:pt x="10782300" y="3962400"/>
                </a:cubicBezTo>
                <a:cubicBezTo>
                  <a:pt x="7122605" y="4000500"/>
                  <a:pt x="3129629" y="3952875"/>
                  <a:pt x="19050" y="3981450"/>
                </a:cubicBezTo>
                <a:cubicBezTo>
                  <a:pt x="47625" y="2793682"/>
                  <a:pt x="0" y="119729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EBCF3-A1B1-49E6-9A6E-DA06A634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10791825" cy="399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复杂语法、其他平台与更大项目，需要扩展样例并重新验证。">
            <a:extLst xmlns:a="http://schemas.openxmlformats.org/drawingml/2006/main">
              <a:ext uri="{FF2B5EF4-FFF2-40B4-BE49-F238E27FC236}">
                <a16:creationId xmlns:a16="http://schemas.microsoft.com/office/drawing/2014/main" id="{84407E5B-BC52-4228-BE7E-0DB1EF34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96025"/>
            <a:ext cx="1067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复杂语法、其他平台与更大项目，需要扩展样例并重新验证。</a:t>
            </a:r>
          </a:p>
        </p:txBody>
      </p:sp>
    </p:spTree>
    <p:extLst>
      <p:ext uri="{BB962C8B-B14F-4D97-AF65-F5344CB8AC3E}">
        <p14:creationId xmlns:p14="http://schemas.microsoft.com/office/powerpoint/2010/main" val="199753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E2C10-501D-4A45-B926-6E37508275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acd64820a44b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B66733AD-A059-4C56-ACA6-F3952C1E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2 / 4">
            <a:extLst xmlns:a="http://schemas.openxmlformats.org/drawingml/2006/main">
              <a:ext uri="{FF2B5EF4-FFF2-40B4-BE49-F238E27FC236}">
                <a16:creationId xmlns:a16="http://schemas.microsoft.com/office/drawing/2014/main" id="{DC0CED4F-A6BA-4429-8E58-0F59C360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2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06DCC9BE-A838-435B-9BCC-8B37810A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095750" cy="219075"/>
          </a:xfrm>
          <a:custGeom xmlns:a="http://schemas.openxmlformats.org/drawingml/2006/main">
            <a:pathLst>
              <a:path w="4095750" h="219075">
                <a:moveTo>
                  <a:pt x="0" y="28575"/>
                </a:moveTo>
                <a:lnTo>
                  <a:pt x="4048125" y="0"/>
                </a:lnTo>
                <a:lnTo>
                  <a:pt x="409575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状态含义与输出核对">
            <a:extLst xmlns:a="http://schemas.openxmlformats.org/drawingml/2006/main">
              <a:ext uri="{FF2B5EF4-FFF2-40B4-BE49-F238E27FC236}">
                <a16:creationId xmlns:a16="http://schemas.microsoft.com/office/drawing/2014/main" id="{B3597858-4A94-4BEA-9D88-9055F22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备查：状态含义与输出核对</a:t>
            </a:r>
          </a:p>
        </p:txBody>
      </p:sp>
      <p:sp>
        <p:nvSpPr>
          <p:cNvPr id="6" name="仅编译、运行通过、需重测与历史记录分别保留">
            <a:extLst xmlns:a="http://schemas.openxmlformats.org/drawingml/2006/main">
              <a:ext uri="{FF2B5EF4-FFF2-40B4-BE49-F238E27FC236}">
                <a16:creationId xmlns:a16="http://schemas.microsoft.com/office/drawing/2014/main" id="{7C68707C-B2DB-4B1C-AE9A-D8A7AA63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仅编译、运行通过、需重测与历史记录分别保留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27F19-EC7B-4AD6-B34C-85D7BF08708B}"/>
              </a:ext>
            </a:extLst>
          </p:cNvPr>
          <p:cNvGraphicFramePr/>
          <p:nvPr/>
        </p:nvGraphicFramePr>
        <p:xfrm>
          <a:off xmlns:a="http://schemas.openxmlformats.org/drawingml/2006/main" x="733425" y="2114550"/>
          <a:ext xmlns:a="http://schemas.openxmlformats.org/drawingml/2006/main" cx="6029325" cy="3467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33525"/>
                <a:gridCol w="4495800"/>
              </a:tblGrid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判断条件 / 解释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运行通过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实际运行且登记输出检查通过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仅编译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编译完成，未验证运行行为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需重测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源码、配置或工具链等输入变化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历史记录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保留过去尝试，不直接当作当前可用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76C3207E-94E2-4E37-B06C-7E4FB37B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6067425" cy="3505200"/>
          </a:xfrm>
          <a:custGeom xmlns:a="http://schemas.openxmlformats.org/drawingml/2006/main">
            <a:pathLst>
              <a:path w="6067425" h="3505200">
                <a:moveTo>
                  <a:pt x="38100" y="28575"/>
                </a:moveTo>
                <a:cubicBezTo>
                  <a:pt x="1698879" y="0"/>
                  <a:pt x="4125849" y="57150"/>
                  <a:pt x="6038850" y="19050"/>
                </a:cubicBezTo>
                <a:cubicBezTo>
                  <a:pt x="6076950" y="981456"/>
                  <a:pt x="6029325" y="2628900"/>
                  <a:pt x="6057900" y="3476625"/>
                </a:cubicBezTo>
                <a:cubicBezTo>
                  <a:pt x="4004501" y="3514725"/>
                  <a:pt x="1759553" y="3467100"/>
                  <a:pt x="19050" y="3495675"/>
                </a:cubicBezTo>
                <a:cubicBezTo>
                  <a:pt x="47625" y="2453640"/>
                  <a:pt x="0" y="105156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CE4CB-0C07-4199-A39D-0108F866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6067425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arithmetic · SDK 1.1.3">
            <a:extLst xmlns:a="http://schemas.openxmlformats.org/drawingml/2006/main">
              <a:ext uri="{FF2B5EF4-FFF2-40B4-BE49-F238E27FC236}">
                <a16:creationId xmlns:a16="http://schemas.microsoft.com/office/drawing/2014/main" id="{76833A42-1B1B-4E72-895D-549BE887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24075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arithmetic · SDK 1.1.3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F6DEA-D75F-429C-8E26-B6C40439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19375"/>
            <a:ext cx="43624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CE0B3-BF2B-487B-8C48-6E9A7F6909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36bb401e84fee"/>
          <a:srcRect xmlns:a="http://schemas.openxmlformats.org/drawingml/2006/main" l="14500" t="17000" r="14500" b="17000"/>
          <a:stretch xmlns:a="http://schemas.openxmlformats.org/drawingml/2006/main"/>
        </p:blipFill>
        <p:spPr>
          <a:xfrm xmlns:a="http://schemas.openxmlformats.org/drawingml/2006/main">
            <a:off x="7162800" y="2667000"/>
            <a:ext cx="4267200" cy="2257425"/>
          </a:xfrm>
          <a:prstGeom xmlns:a="http://schemas.openxmlformats.org/drawingml/2006/main" prst="rect">
            <a:avLst/>
          </a:prstGeom>
        </p:spPr>
      </p:pic>
      <p:sp>
        <p:nvSpPr>
          <p:cNvPr id="13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A6BAE7AF-6CAD-4B07-B89E-75163A60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19375"/>
            <a:ext cx="4362450" cy="2352675"/>
          </a:xfrm>
          <a:custGeom xmlns:a="http://schemas.openxmlformats.org/drawingml/2006/main">
            <a:pathLst>
              <a:path w="4362450" h="2352675">
                <a:moveTo>
                  <a:pt x="38100" y="28575"/>
                </a:moveTo>
                <a:cubicBezTo>
                  <a:pt x="1221486" y="0"/>
                  <a:pt x="2966466" y="57150"/>
                  <a:pt x="4333875" y="19050"/>
                </a:cubicBezTo>
                <a:cubicBezTo>
                  <a:pt x="4371975" y="658749"/>
                  <a:pt x="4324350" y="1764506"/>
                  <a:pt x="4352925" y="2324100"/>
                </a:cubicBezTo>
                <a:cubicBezTo>
                  <a:pt x="2879217" y="2362200"/>
                  <a:pt x="1265111" y="2314575"/>
                  <a:pt x="19050" y="2343150"/>
                </a:cubicBezTo>
                <a:cubicBezTo>
                  <a:pt x="47625" y="1646872"/>
                  <a:pt x="0" y="70580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2039E-EE04-4A7A-A9DF-5294E34C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19375"/>
            <a:ext cx="436245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退出码：期望0，实际0&#10;stdout：均为 &quot;42\n&quot;&#10;检查结果单独显示通过">
            <a:extLst xmlns:a="http://schemas.openxmlformats.org/drawingml/2006/main">
              <a:ext uri="{FF2B5EF4-FFF2-40B4-BE49-F238E27FC236}">
                <a16:creationId xmlns:a16="http://schemas.microsoft.com/office/drawing/2014/main" id="{D65EADAF-2E23-412B-93BA-81465819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00650"/>
            <a:ext cx="4286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退出码：期望0，实际0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stdout：均为 "42\n"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检查结果单独显示通过</a:t>
            </a:r>
          </a:p>
        </p:txBody>
      </p:sp>
      <p:sp>
        <p:nvSpPr>
          <p:cNvPr id="16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A9813D8C-5170-482C-A911-4471A0FD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6124575" cy="257175"/>
          </a:xfrm>
          <a:custGeom xmlns:a="http://schemas.openxmlformats.org/drawingml/2006/main">
            <a:pathLst>
              <a:path w="6124575" h="257175">
                <a:moveTo>
                  <a:pt x="0" y="28575"/>
                </a:moveTo>
                <a:lnTo>
                  <a:pt x="6076950" y="0"/>
                </a:lnTo>
                <a:lnTo>
                  <a:pt x="6124575" y="228600"/>
                </a:lnTo>
                <a:lnTo>
                  <a:pt x="38100" y="2571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26 / 28 = 92.9%：记录占比，不是项目正确率。">
            <a:extLst xmlns:a="http://schemas.openxmlformats.org/drawingml/2006/main">
              <a:ext uri="{FF2B5EF4-FFF2-40B4-BE49-F238E27FC236}">
                <a16:creationId xmlns:a16="http://schemas.microsoft.com/office/drawing/2014/main" id="{95178BDB-2710-40C1-9CC8-B25EFD11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26 / 28 = 92.9%：记录占比，不是项目正确率。</a:t>
            </a:r>
          </a:p>
        </p:txBody>
      </p:sp>
    </p:spTree>
    <p:extLst>
      <p:ext uri="{BB962C8B-B14F-4D97-AF65-F5344CB8AC3E}">
        <p14:creationId xmlns:p14="http://schemas.microsoft.com/office/powerpoint/2010/main" val="4030386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E8984-C322-421E-B873-DE884179B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e09137ed446b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B9E6167D-A452-45F0-9263-49C0249C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3 / 4">
            <a:extLst xmlns:a="http://schemas.openxmlformats.org/drawingml/2006/main">
              <a:ext uri="{FF2B5EF4-FFF2-40B4-BE49-F238E27FC236}">
                <a16:creationId xmlns:a16="http://schemas.microsoft.com/office/drawing/2014/main" id="{93F929FC-0044-42FC-8AE9-E2F405DE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3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84604ED8-AFA4-46FA-A354-6DE1CDB0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410075" cy="219075"/>
          </a:xfrm>
          <a:custGeom xmlns:a="http://schemas.openxmlformats.org/drawingml/2006/main">
            <a:pathLst>
              <a:path w="4410075" h="219075">
                <a:moveTo>
                  <a:pt x="0" y="28575"/>
                </a:moveTo>
                <a:lnTo>
                  <a:pt x="4362450" y="0"/>
                </a:lnTo>
                <a:lnTo>
                  <a:pt x="441007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评委从源码启动工作台">
            <a:extLst xmlns:a="http://schemas.openxmlformats.org/drawingml/2006/main">
              <a:ext uri="{FF2B5EF4-FFF2-40B4-BE49-F238E27FC236}">
                <a16:creationId xmlns:a16="http://schemas.microsoft.com/office/drawing/2014/main" id="{2C6899AF-F826-4BFA-80EF-89F57808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备查：评委从源码启动工作台</a:t>
            </a:r>
          </a:p>
        </p:txBody>
      </p:sp>
      <p:sp>
        <p:nvSpPr>
          <p:cNvPr id="6" name="先准备兼容工具链，再构建服务；首次没有报告是正常状态">
            <a:extLst xmlns:a="http://schemas.openxmlformats.org/drawingml/2006/main">
              <a:ext uri="{FF2B5EF4-FFF2-40B4-BE49-F238E27FC236}">
                <a16:creationId xmlns:a16="http://schemas.microsoft.com/office/drawing/2014/main" id="{74E698F7-A1B3-47A5-A092-1B9C2259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先准备兼容工具链，再构建服务；首次没有报告是正常状态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86E58D9E-3165-4274-8E21-D300B2FB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33600"/>
            <a:ext cx="7200900" cy="2905125"/>
          </a:xfrm>
          <a:custGeom xmlns:a="http://schemas.openxmlformats.org/drawingml/2006/main">
            <a:pathLst>
              <a:path w="7200900" h="2905125">
                <a:moveTo>
                  <a:pt x="38100" y="28575"/>
                </a:moveTo>
                <a:cubicBezTo>
                  <a:pt x="2016252" y="0"/>
                  <a:pt x="4896612" y="57150"/>
                  <a:pt x="7172325" y="19050"/>
                </a:cubicBezTo>
                <a:cubicBezTo>
                  <a:pt x="7210425" y="813435"/>
                  <a:pt x="7162800" y="2178844"/>
                  <a:pt x="7191375" y="2876550"/>
                </a:cubicBezTo>
                <a:cubicBezTo>
                  <a:pt x="4752594" y="2914650"/>
                  <a:pt x="2088261" y="2867025"/>
                  <a:pt x="19050" y="2895600"/>
                </a:cubicBezTo>
                <a:cubicBezTo>
                  <a:pt x="47625" y="2033588"/>
                  <a:pt x="0" y="871538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B018D-F63D-4458-8133-E9B0EB6B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33600"/>
            <a:ext cx="72009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export CJ_DOCGUARD_SDK_1_1_3=/absolute/path/sdk-1.">
            <a:extLst xmlns:a="http://schemas.openxmlformats.org/drawingml/2006/main">
              <a:ext uri="{FF2B5EF4-FFF2-40B4-BE49-F238E27FC236}">
                <a16:creationId xmlns:a16="http://schemas.microsoft.com/office/drawing/2014/main" id="{9C66BB55-C86A-4437-9A95-71F6139A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6800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export CJ_DOCGUARD_SDK_1_1_3=/absolute/path/sdk-1.1.3/cangjie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export CJ_DOCGUARD_SDK_1_2_0=/absolute/path/sdk-1.2.0/cangjie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git clone https://atomgit.com/c2892480843s/cj-docguard.git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cd cj-docguard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git checkout 068a22a8a4d1987ac0aac837da22b39c8224417f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bash scripts/build_workbench.sh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bash scripts/workbench.sh --port 8765</a:t>
            </a:r>
          </a:p>
        </p:txBody>
      </p:sp>
      <p:sp>
        <p:nvSpPr>
          <p:cNvPr id="10" name="运行前检查">
            <a:extLst xmlns:a="http://schemas.openxmlformats.org/drawingml/2006/main">
              <a:ext uri="{FF2B5EF4-FFF2-40B4-BE49-F238E27FC236}">
                <a16:creationId xmlns:a16="http://schemas.microsoft.com/office/drawing/2014/main" id="{2680C38F-E76F-47C9-8B4C-4843002E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43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运行前检查</a:t>
            </a:r>
          </a:p>
        </p:txBody>
      </p:sp>
      <p:sp>
        <p:nvSpPr>
          <p:cNvPr id="11" name="git / bash / cc / ar / zip&#10;仓颉1.1.3与1.2.0&#10;兼容的 Apple">
            <a:extLst xmlns:a="http://schemas.openxmlformats.org/drawingml/2006/main">
              <a:ext uri="{FF2B5EF4-FFF2-40B4-BE49-F238E27FC236}">
                <a16:creationId xmlns:a16="http://schemas.microsoft.com/office/drawing/2014/main" id="{A97E554C-96EB-4070-AED3-43397765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3105150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git / bash / cc / ar / zip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仓颉1.1.3与1.2.0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兼容的 Apple 系统 SDK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示例路径需替换为本机目录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按指南诊断缺失依赖</a:t>
            </a:r>
          </a:p>
        </p:txBody>
      </p:sp>
      <p:sp>
        <p:nvSpPr>
          <p:cNvPr id="12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F33B4A9C-FA36-42DB-815B-6F8CAF76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81650"/>
            <a:ext cx="9096375" cy="304800"/>
          </a:xfrm>
          <a:custGeom xmlns:a="http://schemas.openxmlformats.org/drawingml/2006/main">
            <a:pathLst>
              <a:path w="9096375" h="304800">
                <a:moveTo>
                  <a:pt x="0" y="28575"/>
                </a:moveTo>
                <a:lnTo>
                  <a:pt x="9048750" y="0"/>
                </a:lnTo>
                <a:lnTo>
                  <a:pt x="9096375" y="276225"/>
                </a:lnTo>
                <a:lnTo>
                  <a:pt x="38100" y="304800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打开 http://127.0.0.1:8765/">
            <a:extLst xmlns:a="http://schemas.openxmlformats.org/drawingml/2006/main">
              <a:ext uri="{FF2B5EF4-FFF2-40B4-BE49-F238E27FC236}">
                <a16:creationId xmlns:a16="http://schemas.microsoft.com/office/drawing/2014/main" id="{DC04AFE1-1DEA-4776-94F2-E8782AEE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打开 http://127.0.0.1:8765/</a:t>
            </a:r>
          </a:p>
        </p:txBody>
      </p:sp>
      <p:sp>
        <p:nvSpPr>
          <p:cNvPr id="14" name="环境诊断 → 生成文档 → 运行测试 → 检查链接。&#10;服务仅绑定本机；其他宿主或工具链变化需要完整复">
            <a:extLst xmlns:a="http://schemas.openxmlformats.org/drawingml/2006/main">
              <a:ext uri="{FF2B5EF4-FFF2-40B4-BE49-F238E27FC236}">
                <a16:creationId xmlns:a16="http://schemas.microsoft.com/office/drawing/2014/main" id="{D21C055E-8AD9-4F0E-B353-9D1D62A5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15050"/>
            <a:ext cx="1062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环境诊断 → 生成文档 → 运行测试 → 检查链接。</a:t>
            </a:r>
          </a:p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服务仅绑定本机；其他宿主或工具链变化需要完整复验。</a:t>
            </a:r>
          </a:p>
        </p:txBody>
      </p:sp>
    </p:spTree>
    <p:extLst>
      <p:ext uri="{BB962C8B-B14F-4D97-AF65-F5344CB8AC3E}">
        <p14:creationId xmlns:p14="http://schemas.microsoft.com/office/powerpoint/2010/main" val="12588484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87E03-F635-4971-B7A3-79482ED8FD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9d3d32ec540b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095C2A73-6A49-485F-869B-5338509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4 / 4">
            <a:extLst xmlns:a="http://schemas.openxmlformats.org/drawingml/2006/main">
              <a:ext uri="{FF2B5EF4-FFF2-40B4-BE49-F238E27FC236}">
                <a16:creationId xmlns:a16="http://schemas.microsoft.com/office/drawing/2014/main" id="{6E639F0B-017A-4AAB-B80B-45E85754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4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360397D9-9AEA-445D-B6BF-AA180C97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667375" cy="219075"/>
          </a:xfrm>
          <a:custGeom xmlns:a="http://schemas.openxmlformats.org/drawingml/2006/main">
            <a:pathLst>
              <a:path w="5667375" h="219075">
                <a:moveTo>
                  <a:pt x="0" y="28575"/>
                </a:moveTo>
                <a:lnTo>
                  <a:pt x="5619750" y="0"/>
                </a:lnTo>
                <a:lnTo>
                  <a:pt x="566737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一份配置连接文档、示例和环境">
            <a:extLst xmlns:a="http://schemas.openxmlformats.org/drawingml/2006/main">
              <a:ext uri="{FF2B5EF4-FFF2-40B4-BE49-F238E27FC236}">
                <a16:creationId xmlns:a16="http://schemas.microsoft.com/office/drawing/2014/main" id="{E79667DC-2BD8-4FE3-9D40-1BC72F1A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备查：一份配置连接文档、示例和环境</a:t>
            </a:r>
          </a:p>
        </p:txBody>
      </p:sp>
      <p:sp>
        <p:nvSpPr>
          <p:cNvPr id="6" name="登记的符号、运行方式与SDK，决定文档关联和查询维度">
            <a:extLst xmlns:a="http://schemas.openxmlformats.org/drawingml/2006/main">
              <a:ext uri="{FF2B5EF4-FFF2-40B4-BE49-F238E27FC236}">
                <a16:creationId xmlns:a16="http://schemas.microsoft.com/office/drawing/2014/main" id="{6E563737-8DDF-4C5B-A7DD-2D1F1912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登记的符号、运行方式与SDK，决定文档关联和查询维度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43F0D75D-4C94-4AEB-83DF-1880CACA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5657850" cy="3810000"/>
          </a:xfrm>
          <a:custGeom xmlns:a="http://schemas.openxmlformats.org/drawingml/2006/main">
            <a:pathLst>
              <a:path w="5657850" h="3810000">
                <a:moveTo>
                  <a:pt x="38100" y="28575"/>
                </a:moveTo>
                <a:cubicBezTo>
                  <a:pt x="1584198" y="0"/>
                  <a:pt x="3847338" y="57150"/>
                  <a:pt x="5629275" y="19050"/>
                </a:cubicBezTo>
                <a:cubicBezTo>
                  <a:pt x="5667375" y="1066800"/>
                  <a:pt x="5619750" y="2857500"/>
                  <a:pt x="5648325" y="3781425"/>
                </a:cubicBezTo>
                <a:cubicBezTo>
                  <a:pt x="3734181" y="3819525"/>
                  <a:pt x="1640777" y="3771900"/>
                  <a:pt x="19050" y="3800475"/>
                </a:cubicBezTo>
                <a:cubicBezTo>
                  <a:pt x="47625" y="2667000"/>
                  <a:pt x="0" y="1143000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EDCBC-43FF-4B74-AF49-5FF33165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56578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登记片段：docguard.toml">
            <a:extLst xmlns:a="http://schemas.openxmlformats.org/drawingml/2006/main">
              <a:ext uri="{FF2B5EF4-FFF2-40B4-BE49-F238E27FC236}">
                <a16:creationId xmlns:a16="http://schemas.microsoft.com/office/drawing/2014/main" id="{918C2EDF-FFE6-4EF6-8850-4DFCEA40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登记片段：docguard.toml</a:t>
            </a:r>
          </a:p>
        </p:txBody>
      </p:sp>
      <p:sp>
        <p:nvSpPr>
          <p:cNvPr id="10" name="[[sdks]]&#10;version = &quot;1.2.0&quot;&#10;&#10;[[examples]]&#10;id = &quot;ari">
            <a:extLst xmlns:a="http://schemas.openxmlformats.org/drawingml/2006/main">
              <a:ext uri="{FF2B5EF4-FFF2-40B4-BE49-F238E27FC236}">
                <a16:creationId xmlns:a16="http://schemas.microsoft.com/office/drawing/2014/main" id="{6C4CB8DE-53F2-4A2C-9890-95DC8A74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5276850" cy="296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[[sdks]]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version = "1.2.0"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[[examples]]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id = "arithmetic"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file = "programs/arithmetic.cj"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symbol = "add"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mode = "run"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stdout = "42\n"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expected_exit = 0</a:t>
            </a:r>
          </a:p>
        </p:txBody>
      </p:sp>
      <p:sp>
        <p:nvSpPr>
          <p:cNvPr id="11" name="网页选项来自实际配置与记录">
            <a:extLst xmlns:a="http://schemas.openxmlformats.org/drawingml/2006/main">
              <a:ext uri="{FF2B5EF4-FFF2-40B4-BE49-F238E27FC236}">
                <a16:creationId xmlns:a16="http://schemas.microsoft.com/office/drawing/2014/main" id="{C8D5F1E7-D9C7-4643-AEA7-1EA3EF70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4657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网页选项来自实际配置与记录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1AEA5-82B7-48FB-A7BB-1E8F2F0E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6386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DCA60-48AE-4A6C-A245-3142FDBD93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1a83b2f244563"/>
          <a:srcRect xmlns:a="http://schemas.openxmlformats.org/drawingml/2006/main" l="22500" t="23500" r="2500" b="36000"/>
          <a:stretch xmlns:a="http://schemas.openxmlformats.org/drawingml/2006/main"/>
        </p:blipFill>
        <p:spPr>
          <a:xfrm xmlns:a="http://schemas.openxmlformats.org/drawingml/2006/main">
            <a:off x="6886575" y="2695575"/>
            <a:ext cx="4543425" cy="2305050"/>
          </a:xfrm>
          <a:prstGeom xmlns:a="http://schemas.openxmlformats.org/drawingml/2006/main" prst="rect">
            <a:avLst/>
          </a:prstGeom>
        </p:spPr>
      </p:pic>
      <p:sp>
        <p:nvSpPr>
          <p:cNvPr id="14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23F0FD8D-EA7F-4E40-AC6F-199D2179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638675" cy="2400300"/>
          </a:xfrm>
          <a:custGeom xmlns:a="http://schemas.openxmlformats.org/drawingml/2006/main">
            <a:pathLst>
              <a:path w="4638675" h="2400300">
                <a:moveTo>
                  <a:pt x="38100" y="28575"/>
                </a:moveTo>
                <a:cubicBezTo>
                  <a:pt x="1298829" y="0"/>
                  <a:pt x="3154299" y="57150"/>
                  <a:pt x="4610100" y="19050"/>
                </a:cubicBezTo>
                <a:cubicBezTo>
                  <a:pt x="4648200" y="672084"/>
                  <a:pt x="4600575" y="1800225"/>
                  <a:pt x="4629150" y="2371725"/>
                </a:cubicBezTo>
                <a:cubicBezTo>
                  <a:pt x="3061526" y="2409825"/>
                  <a:pt x="1345216" y="2362200"/>
                  <a:pt x="19050" y="2390775"/>
                </a:cubicBezTo>
                <a:cubicBezTo>
                  <a:pt x="47625" y="1680210"/>
                  <a:pt x="0" y="72009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5CD19-FCF3-4049-B08B-746CEAB4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6386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DK / 平台 / 示例条件联动&#10;最终有效性仍由本地服务判断&#10;界面选择不会绕过当前结果校验">
            <a:extLst xmlns:a="http://schemas.openxmlformats.org/drawingml/2006/main">
              <a:ext uri="{FF2B5EF4-FFF2-40B4-BE49-F238E27FC236}">
                <a16:creationId xmlns:a16="http://schemas.microsoft.com/office/drawing/2014/main" id="{EEDE736F-2671-46C5-B6ED-75FE845B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238750"/>
            <a:ext cx="45434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SDK / 平台 / 示例条件联动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最终有效性仍由本地服务判断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界面选择不会绕过当前结果校验</a:t>
            </a:r>
          </a:p>
        </p:txBody>
      </p:sp>
      <p:sp>
        <p:nvSpPr>
          <p:cNvPr id="17" name="完整项目字段见 examples/healthy/docguard.toml；片段仅说明示例与环境如">
            <a:extLst xmlns:a="http://schemas.openxmlformats.org/drawingml/2006/main">
              <a:ext uri="{FF2B5EF4-FFF2-40B4-BE49-F238E27FC236}">
                <a16:creationId xmlns:a16="http://schemas.microsoft.com/office/drawing/2014/main" id="{45F9EAC6-052E-4BEA-A44F-0C81A4D4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334125"/>
            <a:ext cx="10639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完整项目字段见 examples/healthy/docguard.toml；片段仅说明示例与环境如何登记。</a:t>
            </a:r>
          </a:p>
        </p:txBody>
      </p:sp>
    </p:spTree>
    <p:extLst>
      <p:ext uri="{BB962C8B-B14F-4D97-AF65-F5344CB8AC3E}">
        <p14:creationId xmlns:p14="http://schemas.microsoft.com/office/powerpoint/2010/main" val="2030909011"/>
      </p:ext>
    </p:extLst>
  </p:cSld>
</p:sld>
</file>

<file path=ppt/theme/theme1.xml><?xml version="1.0" encoding="utf-8"?>
<a:theme xmlns:a="http://schemas.openxmlformats.org/drawingml/2006/main" name="ChatGPT">
  <a:themeElements>
    <a:clrScheme name="Notebook Marker">
      <a:dk1>
        <a:srgbClr val="000000"/>
      </a:dk1>
      <a:lt1>
        <a:srgbClr val="FFFFFF"/>
      </a:lt1>
      <a:dk2>
        <a:srgbClr val="2A302D"/>
      </a:dk2>
      <a:lt2>
        <a:srgbClr val="FAF6EB"/>
      </a:lt2>
      <a:accent1>
        <a:srgbClr val="28638C"/>
      </a:accent1>
      <a:accent2>
        <a:srgbClr val="397B60"/>
      </a:accent2>
      <a:accent3>
        <a:srgbClr val="D89E38"/>
      </a:accent3>
      <a:accent4>
        <a:srgbClr val="AA554B"/>
      </a:accent4>
      <a:accent5>
        <a:srgbClr val="8D9D86"/>
      </a:accent5>
      <a:accent6>
        <a:srgbClr val="77654F"/>
      </a:accent6>
      <a:hlink>
        <a:srgbClr val="28638C"/>
      </a:hlink>
      <a:folHlink>
        <a:srgbClr val="397B60"/>
      </a:folHlink>
    </a:clrScheme>
    <a:fontScheme name="">
      <a:majorFont>
        <a:latin typeface="Ma Shan Zheng"/>
        <a:ea typeface=""/>
        <a:cs typeface=""/>
      </a:majorFont>
      <a:minorFont>
        <a:latin typeface="Ma Shan Zheng"/>
        <a:ea typeface=""/>
        <a:cs typeface=""/>
      </a:minorFont>
    </a:fontScheme>
    <a:fmtScheme name="Notebook Mar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2026-10-29T12:04:13.0180000Z</dcterms:created>
  <dcterms:modified xsi:type="dcterms:W3CDTF">2026-10-29T12:04:13.0190000Z</dcterms:modified>
</coreProperties>
</file>