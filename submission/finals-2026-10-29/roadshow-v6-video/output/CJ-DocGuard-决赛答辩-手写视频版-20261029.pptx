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mp4" ContentType="video/mp4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f240839b2e4d9b" /><Relationship Type="http://schemas.openxmlformats.org/officeDocument/2006/relationships/extended-properties" Target="/docProps/app.xml" Id="Rafc56472a961462c" /><Relationship Type="http://schemas.openxmlformats.org/officeDocument/2006/relationships/officeDocument" Target="/ppt/presentation.xml" Id="Rc652cc4764fa4b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82a603eb904fef"/>
  </p:sldMasterIdLst>
  <p:notesMasterIdLst>
    <p:notesMasterId xmlns:r="http://schemas.openxmlformats.org/officeDocument/2006/relationships" r:id="R5e6d0616866446be"/>
  </p:notesMasterIdLst>
  <p:sldIdLst>
    <p:sldId xmlns:r="http://schemas.openxmlformats.org/officeDocument/2006/relationships" id="256" r:id="R7376c2917e1c4635"/>
    <p:sldId xmlns:r="http://schemas.openxmlformats.org/officeDocument/2006/relationships" id="257" r:id="R6d7e72bf409d45f1"/>
    <p:sldId xmlns:r="http://schemas.openxmlformats.org/officeDocument/2006/relationships" id="258" r:id="R57a69f4513fb4cbd"/>
    <p:sldId xmlns:r="http://schemas.openxmlformats.org/officeDocument/2006/relationships" id="259" r:id="R3cb691914eae4f96"/>
    <p:sldId xmlns:r="http://schemas.openxmlformats.org/officeDocument/2006/relationships" id="260" r:id="R3889afd219c3483b"/>
    <p:sldId xmlns:r="http://schemas.openxmlformats.org/officeDocument/2006/relationships" id="261" r:id="Rec470eac9fc94419"/>
    <p:sldId xmlns:r="http://schemas.openxmlformats.org/officeDocument/2006/relationships" id="262" r:id="R3ff8c61bafc641f5"/>
    <p:sldId xmlns:r="http://schemas.openxmlformats.org/officeDocument/2006/relationships" id="263" r:id="R60456163e63c4f9d"/>
    <p:sldId xmlns:r="http://schemas.openxmlformats.org/officeDocument/2006/relationships" id="264" r:id="Reb3dcc1f0acd482b"/>
    <p:sldId xmlns:r="http://schemas.openxmlformats.org/officeDocument/2006/relationships" id="265" r:id="Ra277056e13e84f04"/>
    <p:sldId xmlns:r="http://schemas.openxmlformats.org/officeDocument/2006/relationships" id="266" r:id="Rfe6a35e7a4884286"/>
    <p:sldId xmlns:r="http://schemas.openxmlformats.org/officeDocument/2006/relationships" id="267" r:id="R9db4c403e5f9400d"/>
    <p:sldId xmlns:r="http://schemas.openxmlformats.org/officeDocument/2006/relationships" id="268" r:id="Rcf882aa4b5ec47cf"/>
    <p:sldId xmlns:r="http://schemas.openxmlformats.org/officeDocument/2006/relationships" id="269" r:id="R49da6ad166024d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b1d01c026c492a" /><Relationship Type="http://schemas.openxmlformats.org/officeDocument/2006/relationships/slideMaster" Target="/ppt/slideMasters/slideMaster1.xml" Id="R5b82a603eb904fef" /><Relationship Type="http://schemas.openxmlformats.org/officeDocument/2006/relationships/notesMaster" Target="/ppt/notesMasters/notesMaster1.xml" Id="R5e6d0616866446be" /><Relationship Type="http://schemas.openxmlformats.org/officeDocument/2006/relationships/presProps" Target="/ppt/presProps.xml" Id="Rde8783413209458f" /><Relationship Type="http://schemas.openxmlformats.org/officeDocument/2006/relationships/tableStyles" Target="/ppt/tableStyles.xml" Id="Rf86cce30541b4cc2" /><Relationship Type="http://schemas.openxmlformats.org/officeDocument/2006/relationships/slide" Target="/ppt/slides/slide1.xml" Id="R7376c2917e1c4635" /><Relationship Type="http://schemas.openxmlformats.org/officeDocument/2006/relationships/slide" Target="/ppt/slides/slide2.xml" Id="R6d7e72bf409d45f1" /><Relationship Type="http://schemas.openxmlformats.org/officeDocument/2006/relationships/slide" Target="/ppt/slides/slide3.xml" Id="R57a69f4513fb4cbd" /><Relationship Type="http://schemas.openxmlformats.org/officeDocument/2006/relationships/slide" Target="/ppt/slides/slide4.xml" Id="R3cb691914eae4f96" /><Relationship Type="http://schemas.openxmlformats.org/officeDocument/2006/relationships/slide" Target="/ppt/slides/slide5.xml" Id="R3889afd219c3483b" /><Relationship Type="http://schemas.openxmlformats.org/officeDocument/2006/relationships/slide" Target="/ppt/slides/slide6.xml" Id="Rec470eac9fc94419" /><Relationship Type="http://schemas.openxmlformats.org/officeDocument/2006/relationships/slide" Target="/ppt/slides/slide7.xml" Id="R3ff8c61bafc641f5" /><Relationship Type="http://schemas.openxmlformats.org/officeDocument/2006/relationships/slide" Target="/ppt/slides/slide8.xml" Id="R60456163e63c4f9d" /><Relationship Type="http://schemas.openxmlformats.org/officeDocument/2006/relationships/slide" Target="/ppt/slides/slide9.xml" Id="Reb3dcc1f0acd482b" /><Relationship Type="http://schemas.openxmlformats.org/officeDocument/2006/relationships/slide" Target="/ppt/slides/slide10.xml" Id="Ra277056e13e84f04" /><Relationship Type="http://schemas.openxmlformats.org/officeDocument/2006/relationships/slide" Target="/ppt/slides/slide11.xml" Id="Rfe6a35e7a4884286" /><Relationship Type="http://schemas.openxmlformats.org/officeDocument/2006/relationships/slide" Target="/ppt/slides/slide12.xml" Id="R9db4c403e5f9400d" /><Relationship Type="http://schemas.openxmlformats.org/officeDocument/2006/relationships/slide" Target="/ppt/slides/slide13.xml" Id="Rcf882aa4b5ec47cf" /><Relationship Type="http://schemas.openxmlformats.org/officeDocument/2006/relationships/slide" Target="/ppt/slides/slide14.xml" Id="R49da6ad16602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2e3b1d9658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4e9eb57f44f79" /><Relationship Type="http://schemas.openxmlformats.org/officeDocument/2006/relationships/notesMaster" Target="/ppt/notesMasters/notesMaster1.xml" Id="Rf76fe55910da4d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f291ed05244ba4" /><Relationship Type="http://schemas.openxmlformats.org/officeDocument/2006/relationships/notesMaster" Target="/ppt/notesMasters/notesMaster1.xml" Id="R681e5092e440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97baa71d0a40ce" /><Relationship Type="http://schemas.openxmlformats.org/officeDocument/2006/relationships/notesMaster" Target="/ppt/notesMasters/notesMaster1.xml" Id="R169b8b256df2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f83be1259b445c" /><Relationship Type="http://schemas.openxmlformats.org/officeDocument/2006/relationships/notesMaster" Target="/ppt/notesMasters/notesMaster1.xml" Id="R0ffbb1758cb84b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472cab12294881" /><Relationship Type="http://schemas.openxmlformats.org/officeDocument/2006/relationships/notesMaster" Target="/ppt/notesMasters/notesMaster1.xml" Id="R17acb4c1aadc4b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b385ee7824ce1" /><Relationship Type="http://schemas.openxmlformats.org/officeDocument/2006/relationships/notesMaster" Target="/ppt/notesMasters/notesMaster1.xml" Id="R24b3887de6554a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239ae4ad1495d" /><Relationship Type="http://schemas.openxmlformats.org/officeDocument/2006/relationships/notesMaster" Target="/ppt/notesMasters/notesMaster1.xml" Id="R155ad45f1d294e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1604ff667e4401" /><Relationship Type="http://schemas.openxmlformats.org/officeDocument/2006/relationships/notesMaster" Target="/ppt/notesMasters/notesMaster1.xml" Id="Rd1e50c3062c6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11fbbd9b794167" /><Relationship Type="http://schemas.openxmlformats.org/officeDocument/2006/relationships/notesMaster" Target="/ppt/notesMasters/notesMaster1.xml" Id="R11639a0be67c4b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63065ef1454b4f" /><Relationship Type="http://schemas.openxmlformats.org/officeDocument/2006/relationships/notesMaster" Target="/ppt/notesMasters/notesMaster1.xml" Id="R4300a6e7d047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5696bcafa46b9" /><Relationship Type="http://schemas.openxmlformats.org/officeDocument/2006/relationships/notesMaster" Target="/ppt/notesMasters/notesMaster1.xml" Id="R896b88e7dce84e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350e4602ab4a5e" /><Relationship Type="http://schemas.openxmlformats.org/officeDocument/2006/relationships/notesMaster" Target="/ppt/notesMasters/notesMaster1.xml" Id="Rd270b506b5a245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5aa143ebef42b5" /><Relationship Type="http://schemas.openxmlformats.org/officeDocument/2006/relationships/notesMaster" Target="/ppt/notesMasters/notesMaster1.xml" Id="R315e9fb918eb44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b09f071efc4e59" /><Relationship Type="http://schemas.openxmlformats.org/officeDocument/2006/relationships/notesMaster" Target="/ppt/notesMasters/notesMaster1.xml" Id="R5cff26cb31d3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主讲时段：0:00至0:20，20秒（第4页包含视频播放）。</a:t>
            </a:r>
          </a:p>
          <a:p xmlns:a="http://schemas.openxmlformats.org/drawingml/2006/main">
            <a:r>
              <a:t>大家好，CJ-DocGuard 是面向仓颉库维护者的项目级接口文档生成及测试工作台。声明、示例、工具包版本和链接检查集中维护。本版有四十七个公共接口、十四个登记示例，核心处理和本地服务由仓颉实现。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动作：指向当前工作台画面与三组数量，说明面向库维护者。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来源：facts.json；assets/overview.png；docs/ui/2026-10-29-controls/native-workflow.json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主讲时段：0:20至0:55，35秒（第4页包含视频播放）。</a:t>
            </a:r>
          </a:p>
          <a:p xmlns:a="http://schemas.openxmlformats.org/drawingml/2006/main">
            <a:r>
              <a:t>赛题的三项交付，在工作台里对应明确入口。结构化文档提供声明、参数、返回类型和关联示例；示例测试调用真实编译器和运行库，记录退出状态并核对输出；版本矩阵和链接检查分别给出环境对应关系、失效位置与原因。维护者通过本地配置接入现有项目。登记项目不会自动允许执行，仍需要明确审阅与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动作：从赛题交付讲到网页入口，再说明登记与执行信任。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来源：docs/finals-requirement-evidence-2026-10-29.md；assets/config.png；examples/healthy/docguard.toml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主讲时段：0:55至1:35，40秒（第4页包含视频播放）。</a:t>
            </a:r>
          </a:p>
          <a:p xmlns:a="http://schemas.openxmlformats.org/drawingml/2006/main">
            <a:r>
              <a:t>这里用 add 展开说明。接口页可以检索声明，看到两个整数参数和整数返回类型，关联到 arithmetic 等登记示例，并能跳到源码。左侧示例调用 add 二十和二十二，登记输出是四十二加换行，期望退出码为零。文档提供 JSON、HTML 和 Markdown 产物。接口出现于文档不代表所有输入都已经测试；重名和重载需要明确的符号身份。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动作：按声明→示例源码→期望输出→关联来源讲清链路。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来源：assets/api.png；examples/healthy/programs/arithmetic.cj；examples/healthy/docguard.toml；src/bindings.cj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主讲时段：1:35至3:35，120秒（第4页包含视频播放）。</a:t>
            </a:r>
          </a:p>
          <a:p xmlns:a="http://schemas.openxmlformats.org/drawingml/2006/main">
            <a:r>
              <a:t>下面通过两分钟系统视频，查看接口、核对输出、查询当前有效记录、定位坏链，并导出同一环境的代码包。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动作：点击视频封面播放。视频120秒，已包含配音，播放期间不重复讲解。结束后继续第5页。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来源：output/CJ-DocGuard-系统介绍-2分钟-1080p60.mp4；video/chapters.json；video/recording.json；src/export.cj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主讲时段：3:35至4:15，40秒（第4页包含视频播放）。</a:t>
            </a:r>
          </a:p>
          <a:p xmlns:a="http://schemas.openxmlformats.org/drawingml/2006/main">
            <a:r>
              <a:t>架构分为浏览器、仓颉本地服务、仓颉核心和真实工具链。浏览器负责标准网页交互，仓颉服务处理项目、配置和任务请求。核心使用 std.ast 提取受支持声明，再由符号绑定、执行编排和当前结果判断等模块处理。C 负责子进程监督，Bash 负责构建启动，Python 用于测试和只读协议适配等辅助工作。这里没有把进程资源限制说成完整安全沙箱。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动作：从服务架构讲到模块表和工具链，简述语言分工。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来源：workbench_native/；src/extractor.cj；src/evidence.cj；src/export.cj；scripts/runner.c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主讲时段：4:15至5:00，45秒（第4页包含视频播放）。</a:t>
            </a:r>
          </a:p>
          <a:p xmlns:a="http://schemas.openxmlformats.org/drawingml/2006/main">
            <a:r>
              <a:t>统计图和实际矩阵展示同一组当前记录。每个 SDK 有十三条运行通过和一条仅编译，两版合计二十六条运行通过、两条仅编译。矩阵按示例和工具包分别定位，点开单元格可以查看日志、退出码以及期望和实际输出。仅编译只说明编译完成，没有验证运行行为。这些数量描述本版登记样例，不是项目正确率，也不是全语言覆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动作：对照统计图、矩阵截图和原生表格，不把仅编译当作运行通过。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来源：facts.json；assets/matrix.png；docs/ui/2026-10-29-controls/native-workflow.json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主讲时段：5:00至5:40，40秒（第4页包含视频播放）。</a:t>
            </a:r>
          </a:p>
          <a:p xmlns:a="http://schemas.openxmlformats.org/drawingml/2006/main">
            <a:r>
              <a:t>当前可用的判断同时考虑源码、配置、工具链、平台、记录完整性和相应环境的最新尝试。源码变更后需要重测，最新尝试失败时不能回退旧成功，不同 SDK 或平台也不能相互替代。右侧历史列表仍保留过去的记录，但页面明确说明它们不直接代表当前结果。查询和导出使用同一套判断规则。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动作：解释三种拒绝情形，指向历史页面上的提示。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来源：assets/history.png；src/evidence.cj；src/engine.cj；src/export.cj；tests/native_evidence.cj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主讲时段：5:40至6:20，40秒（第4页包含视频播放）。</a:t>
            </a:r>
          </a:p>
          <a:p xmlns:a="http://schemas.openxmlformats.org/drawingml/2006/main">
            <a:r>
              <a:t>链接检查会保留来源行号、原始目标和失败原因。右侧是当前专项样例的实际页面：缺失文件和缺失锚点分别定位到 README 第十三和十四行。专项样例共二十六条，二十三条通过、两处预置坏链被识别、一条离线外链未确认；严格检查返回一符合预期。健康工作区另有一百七十八条链接通过，两组数量不混在一起。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动作：分开说明健康工作区与专项样例，定位两处预置失败。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来源：facts.json；assets/links.png；examples/link-checks/README.md；src/links.cj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主讲时段：6:20至7:00，40秒（第4页包含视频播放）。</a:t>
            </a:r>
          </a:p>
          <a:p xmlns:a="http://schemas.openxmlformats.org/drawingml/2006/main">
            <a:r>
              <a:t>近期工程优化主要体现在三个方面。首先，将核心和本地服务迁移到仓颉。其次，查询与导出统一采用当前输入和最新尝试的判断，修复链接解析及符号绑定等问题。最后，网页补齐真实选项、条件联动与任务反馈，避免编造进度百分比。当前二十三项原生服务专项回归通过，二十种页面场景和交互、三十次布局检查通过；七百三十九条历史完整保留，任务堆上限显式配置为一G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动作：结合两个界面画面说明选项和任务，再讲当前检查的各自口径。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来源：assets/project-options.png；assets/task-running.png；../roadshow-v3/checks/native-http-current.txt；../roadshow-v3/checks/ui-current.txt；docs/ui/2026-10-29-controls/layout-checks.json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主讲时段：7:00至7:20，20秒（第4页包含视频播放）。</a:t>
            </a:r>
          </a:p>
          <a:p xmlns:a="http://schemas.openxmlformats.org/drawingml/2006/main">
            <a:r>
              <a:t>交付内容包括结构化文档、独立环境测试记录、示例源码和重建脚本。按运行指南准备双工具链，就能从固定功能提交启动本地工作台。当前完整实测宿主为 macOS arm64。谢谢大家。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动作：指出交付包内容、源码编辑和固定版本，结束主讲。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来源：assets/source-editor.png；src/export.cj；docs/native-workbench.md；功能源码068a22a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按已实现和已测试范围回答：完整宿主为 macOS arm64，两版 SDK；解析使用 std.ast 和已测试声明子集；输出检查只覆盖登记行为；外链未联网则保留未确认；执行面向维护者明确授权的可信项目。其他宿主和复杂项目需单独复验。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动作：按问题选择支持范围中的对应行。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来源：docs/requirements-status.md；docs/native-workbench.md；src/extractor.cj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右侧是 arithmetic 的实际输出核对，SDK 一点一点三的记录中，退出码期望和实际均为零，stdout 期望和实际均为四十二加换行。运行通过要求实际执行并通过登记输出检查；仅编译没有运行验证。需重测和历史记录分别保留。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动作：指向退出码和stdout的期望、实际及通过状态。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来源：assets/output-check.png；examples/healthy/docguard.toml；src/engine.cj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运行前先准备并登记工具链，再克隆仓库并检出固定功能提交，构建原生服务并启动工作台。源码目录首次没有历史报告是正常状态。SDK 安装路径和系统 SDK 必须改为本机上实际存在的兼容路径。服务只用于本机。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动作：按先配置、再构建、后启动的顺序说明。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来源：docs/native-workbench.md；scripts/build_workbench.sh；scripts/workbench.sh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配置将项目源码、SDK、示例、符号与运行方式联系起来。示例片段声明 arithmetic 关联 add，按 run 模式检查输出四十二加换行与退出码零。网页查询的 SDK、平台和示例选项来自实际配置和记录，界面选择不会绕过服务端的当前结果校验。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动作：解释配置字段如何映射符号、SDK和查询条件。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来源：examples/healthy/docguard.toml；assets/query-form.png；web/views.js；src/bindings.cj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视觉：底纹为图像生成的纸张纹理，不是产品运行记录；本次网页操作由真实录屏呈现，矩阵与测试统计沿用当前功能源码068a22a的已记录结果。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16e0fba3849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d2766666540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9c89745de4d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71b019eb04e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2b8ce18cd49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b85cf12694b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4EE1FD-3C48-485B-816F-276808919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DB9AEC-4B63-4711-BD49-A797B67727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390FCB-0FEB-4ECC-AF80-E83C080E0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BB733C-89F7-4AD8-B26A-25EA634FC0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198B38-51DA-4ECD-80CB-8C37DF1F1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093BE6-FE41-417C-9A73-154235525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A66F62-44D1-4927-BD47-4DD63359F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071DF9-523F-4CD9-9469-7C1E3F4D4E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59AA09-18D3-45D7-A0AC-BF3B97AA0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A633E4-9447-42AE-AC0E-CA9E78D6B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9816cc969e4983" /><Relationship Type="http://schemas.openxmlformats.org/officeDocument/2006/relationships/slideLayout" Target="/ppt/slideLayouts/slideLayout1.xml" Id="R5fc4bdd567c04c71" /><Relationship Type="http://schemas.openxmlformats.org/officeDocument/2006/relationships/slideLayout" Target="/ppt/slideLayouts/slideLayout2.xml" Id="R92bba83dd97e4256" /><Relationship Type="http://schemas.openxmlformats.org/officeDocument/2006/relationships/slideLayout" Target="/ppt/slideLayouts/slideLayout3.xml" Id="R7d3880198ab042ee" /><Relationship Type="http://schemas.openxmlformats.org/officeDocument/2006/relationships/slideLayout" Target="/ppt/slideLayouts/slideLayout4.xml" Id="Re179802b41094806" /><Relationship Type="http://schemas.openxmlformats.org/officeDocument/2006/relationships/slideLayout" Target="/ppt/slideLayouts/slideLayout5.xml" Id="R34b7fb9e8b9f4670" /><Relationship Type="http://schemas.openxmlformats.org/officeDocument/2006/relationships/slideLayout" Target="/ppt/slideLayouts/slideLayout6.xml" Id="R9bbacf516802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4bdd567c04c71"/>
    <p:sldLayoutId xmlns:r="http://schemas.openxmlformats.org/officeDocument/2006/relationships" id="2147483650" r:id="R92bba83dd97e4256"/>
    <p:sldLayoutId xmlns:r="http://schemas.openxmlformats.org/officeDocument/2006/relationships" id="2147483651" r:id="R7d3880198ab042ee"/>
    <p:sldLayoutId xmlns:r="http://schemas.openxmlformats.org/officeDocument/2006/relationships" id="2147483652" r:id="Re179802b41094806"/>
    <p:sldLayoutId xmlns:r="http://schemas.openxmlformats.org/officeDocument/2006/relationships" id="2147483653" r:id="R34b7fb9e8b9f4670"/>
    <p:sldLayoutId xmlns:r="http://schemas.openxmlformats.org/officeDocument/2006/relationships" id="2147483654" r:id="R9bbacf516802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4b355e4734ec6" /><Relationship Type="http://schemas.openxmlformats.org/officeDocument/2006/relationships/image" Target="/ppt/media/image.png" Id="R817cc47684f74b6b" /><Relationship Type="http://schemas.openxmlformats.org/officeDocument/2006/relationships/image" Target="/ppt/media/image.jpeg" Id="R0d5850538f504ff5" /><Relationship Type="http://schemas.openxmlformats.org/officeDocument/2006/relationships/notesSlide" Target="/ppt/notesSlides/notesSlide1.xml" Id="R2487d35f3d114e4f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ae7ced733304e43" /><ns0:Relationship Type="http://schemas.openxmlformats.org/officeDocument/2006/relationships/image" Target="../media/image.png" Id="R5ad5bc0fead24012" /><ns0:Relationship Type="http://schemas.openxmlformats.org/officeDocument/2006/relationships/image" Target="/ppt/media/image2.jpeg" Id="R35c8b51508494748" /><ns0:Relationship Type="http://schemas.openxmlformats.org/officeDocument/2006/relationships/notesSlide" Target="/ppt/notesSlides/notesSlide2.xml" Id="R152dd0c554cd4286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da21e76378f41f3" /><ns0:Relationship Type="http://schemas.openxmlformats.org/officeDocument/2006/relationships/image" Target="../media/image.png" Id="R130714eee0dc44de" /><ns0:Relationship Type="http://schemas.openxmlformats.org/officeDocument/2006/relationships/image" Target="/ppt/media/image3.jpeg" Id="R511acfa85b6d4371" /><ns0:Relationship Type="http://schemas.openxmlformats.org/officeDocument/2006/relationships/notesSlide" Target="/ppt/notesSlides/notesSlide3.xml" Id="R98a6b1922a1945a1" /></ns0:Relationships>
</file>

<file path=ppt/slides/_rels/slide4.xml.rels><?xml version='1.0' encoding='UTF-8' standalone='yes'?>
<ns0:Relationships xmlns:ns0="http://schemas.openxmlformats.org/package/2006/relationships"><ns0:Relationship Type="http://schemas.openxmlformats.org/officeDocument/2006/relationships/slideLayout" Target="/ppt/slideLayouts/slideLayout6.xml" Id="Rd4589603cc3e4f40"/><ns0:Relationship Type="http://schemas.openxmlformats.org/officeDocument/2006/relationships/image" Target="../media/image.png" Id="R67f9b79a4d244e58"/><ns0:Relationship Type="http://schemas.openxmlformats.org/officeDocument/2006/relationships/image" Target="/ppt/media/image5.png" Id="R59bae5c87bd0431f"/><ns0:Relationship Type="http://schemas.openxmlformats.org/officeDocument/2006/relationships/notesSlide" Target="/ppt/notesSlides/notesSlide4.xml" Id="Rbf2c6debb9ad4b0f"/><ns0:Relationship Id="rIdDocGuardVideo" Type="http://schemas.openxmlformats.org/officeDocument/2006/relationships/video" Target="../media/cj-docguard-system-intro.mp4"/><ns0:Relationship Id="rIdDocGuardMedia" Type="http://schemas.microsoft.com/office/2007/relationships/media" Target="../media/cj-docguard-system-intro.mp4"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edac869c79b4c12" /><ns0:Relationship Type="http://schemas.openxmlformats.org/officeDocument/2006/relationships/image" Target="../media/image.png" Id="R0ba7c4d6b31b4fa0" /><ns0:Relationship Type="http://schemas.openxmlformats.org/officeDocument/2006/relationships/notesSlide" Target="/ppt/notesSlides/notesSlide5.xml" Id="Ra11507ab66324e83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833202cee5a4d77" /><ns0:Relationship Type="http://schemas.openxmlformats.org/officeDocument/2006/relationships/image" Target="../media/image.png" Id="R0eb3c0b2d90b4d87" /><ns0:Relationship Type="http://schemas.openxmlformats.org/officeDocument/2006/relationships/chart" Target="/ppt/slides/charts/chart1.xml" Id="R8bc6311b857e4e43" /><ns0:Relationship Type="http://schemas.openxmlformats.org/officeDocument/2006/relationships/image" Target="/ppt/media/image4.jpeg" Id="R344e2c7ccf3d47a8" /><ns0:Relationship Type="http://schemas.openxmlformats.org/officeDocument/2006/relationships/notesSlide" Target="/ppt/notesSlides/notesSlide6.xml" Id="Rb91d43e346554f9e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9edad9faf7f4f65" /><ns0:Relationship Type="http://schemas.openxmlformats.org/officeDocument/2006/relationships/image" Target="../media/image.png" Id="R10ef8a9a612c40db" /><ns0:Relationship Type="http://schemas.openxmlformats.org/officeDocument/2006/relationships/image" Target="/ppt/media/image5.jpeg" Id="Rae7996eb8c574459" /><ns0:Relationship Type="http://schemas.openxmlformats.org/officeDocument/2006/relationships/notesSlide" Target="/ppt/notesSlides/notesSlide7.xml" Id="R55f8182b8d1849ef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9042f0d717a47df" /><ns0:Relationship Type="http://schemas.openxmlformats.org/officeDocument/2006/relationships/image" Target="../media/image.png" Id="R8a984f8ccfe94df0" /><ns0:Relationship Type="http://schemas.openxmlformats.org/officeDocument/2006/relationships/image" Target="/ppt/media/image6.jpeg" Id="R652c79d0e1d74429" /><ns0:Relationship Type="http://schemas.openxmlformats.org/officeDocument/2006/relationships/notesSlide" Target="/ppt/notesSlides/notesSlide8.xml" Id="R25536037cb454767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fcec173d30142b2" /><ns0:Relationship Type="http://schemas.openxmlformats.org/officeDocument/2006/relationships/image" Target="../media/image.png" Id="R29297f91db514745" /><ns0:Relationship Type="http://schemas.openxmlformats.org/officeDocument/2006/relationships/image" Target="/ppt/media/image7.jpeg" Id="R077499ae26774d43" /><ns0:Relationship Type="http://schemas.openxmlformats.org/officeDocument/2006/relationships/image" Target="/ppt/media/image8.jpeg" Id="R788a134f9b9545a2" /><ns0:Relationship Type="http://schemas.openxmlformats.org/officeDocument/2006/relationships/notesSlide" Target="/ppt/notesSlides/notesSlide9.xml" Id="R8b84ece2d2084883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77949f21e9e46dc" /><ns0:Relationship Type="http://schemas.openxmlformats.org/officeDocument/2006/relationships/image" Target="../media/image.png" Id="R388f518b34494c20" /><ns0:Relationship Type="http://schemas.openxmlformats.org/officeDocument/2006/relationships/image" Target="/ppt/media/image9.jpeg" Id="R8ed1753385f64c9e" /><ns0:Relationship Type="http://schemas.openxmlformats.org/officeDocument/2006/relationships/notesSlide" Target="/ppt/notesSlides/notesSlide10.xml" Id="Ra7f3c79e37a34b3a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50649e41c4c43fe" /><ns0:Relationship Type="http://schemas.openxmlformats.org/officeDocument/2006/relationships/image" Target="../media/image.png" Id="R07a7cc31254742ee" /><ns0:Relationship Type="http://schemas.openxmlformats.org/officeDocument/2006/relationships/notesSlide" Target="/ppt/notesSlides/notesSlide11.xml" Id="R26d3fcb3c9ed41e6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83cfcfea5f14c9c" /><ns0:Relationship Type="http://schemas.openxmlformats.org/officeDocument/2006/relationships/image" Target="../media/image.png" Id="Rcb5d0f9f231b4115" /><ns0:Relationship Type="http://schemas.openxmlformats.org/officeDocument/2006/relationships/image" Target="/ppt/media/image10.jpeg" Id="R041df023e51e49ec" /><ns0:Relationship Type="http://schemas.openxmlformats.org/officeDocument/2006/relationships/notesSlide" Target="/ppt/notesSlides/notesSlide12.xml" Id="R3e635b5754554eb0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00db44259c04f56" /><ns0:Relationship Type="http://schemas.openxmlformats.org/officeDocument/2006/relationships/image" Target="../media/image.png" Id="Raaaee0beb1fd4256" /><ns0:Relationship Type="http://schemas.openxmlformats.org/officeDocument/2006/relationships/notesSlide" Target="/ppt/notesSlides/notesSlide13.xml" Id="R6a41473998994d55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c0d42d76d004431" /><ns0:Relationship Type="http://schemas.openxmlformats.org/officeDocument/2006/relationships/image" Target="../media/image.png" Id="Ra34fe5d362f04578" /><ns0:Relationship Type="http://schemas.openxmlformats.org/officeDocument/2006/relationships/image" Target="/ppt/media/image11.jpeg" Id="R5cb035b0c7234f13" /><ns0:Relationship Type="http://schemas.openxmlformats.org/officeDocument/2006/relationships/notesSlide" Target="/ppt/notesSlides/notesSlide14.xml" Id="R404049ee05f14115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运行通过</c:v>
          </c:tx>
          <c:spPr>
            <a:solidFill xmlns:a="http://schemas.openxmlformats.org/drawingml/2006/main">
              <a:srgbClr val="9FBAA5"/>
            </a:solidFill>
            <a:ln xmlns:a="http://schemas.openxmlformats.org/drawingml/2006/main" w="19050">
              <a:solidFill>
                <a:srgbClr val="397B60"/>
              </a:solidFill>
              <a:prstDash val="solid"/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v>仅编译</c:v>
          </c:tx>
          <c:spPr>
            <a:solidFill xmlns:a="http://schemas.openxmlformats.org/drawingml/2006/main">
              <a:srgbClr val="EFD18C"/>
            </a:solidFill>
            <a:ln xmlns:a="http://schemas.openxmlformats.org/drawingml/2006/main" w="19050">
              <a:solidFill>
                <a:srgbClr val="A87630"/>
              </a:solidFill>
              <a:prstDash val="solid"/>
            </a:ln>
          </c:spPr>
          <c:invertIfNegative val="0"/>
          <c:cat>
            <c:strRef>
              <c:f>'Chart Data'!$C$2:$C$3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A302D"/>
                  </a:solidFill>
                  <a:latin typeface="Chalkboard SE"/>
                  <a:ea typeface="Chalkboard SE"/>
                  <a:cs typeface="Chalkboard SE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2C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A302D"/>
              </a:solidFill>
              <a:latin typeface="Ma Shan Zheng"/>
              <a:ea typeface="Ma Shan Zheng"/>
              <a:cs typeface="Ma Shan Zheng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75EB2-69EF-40A3-AB18-87B5C739A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cc47684f74b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55F75E79-50A5-49BC-84C2-20664C63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1 / 10">
            <a:extLst xmlns:a="http://schemas.openxmlformats.org/drawingml/2006/main">
              <a:ext uri="{FF2B5EF4-FFF2-40B4-BE49-F238E27FC236}">
                <a16:creationId xmlns:a16="http://schemas.microsoft.com/office/drawing/2014/main" id="{934A56A4-AB78-4CE4-9F5C-7A341918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01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6F0F9B4E-49A3-4E67-979E-0F6F32F5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09650"/>
            <a:ext cx="1809750" cy="276225"/>
          </a:xfrm>
          <a:custGeom xmlns:a="http://schemas.openxmlformats.org/drawingml/2006/main">
            <a:pathLst>
              <a:path w="1809750" h="276225">
                <a:moveTo>
                  <a:pt x="0" y="28575"/>
                </a:moveTo>
                <a:lnTo>
                  <a:pt x="1762125" y="0"/>
                </a:lnTo>
                <a:lnTo>
                  <a:pt x="1809750" y="247650"/>
                </a:lnTo>
                <a:lnTo>
                  <a:pt x="38100" y="27622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决赛答辩">
            <a:extLst xmlns:a="http://schemas.openxmlformats.org/drawingml/2006/main">
              <a:ext uri="{FF2B5EF4-FFF2-40B4-BE49-F238E27FC236}">
                <a16:creationId xmlns:a16="http://schemas.microsoft.com/office/drawing/2014/main" id="{6CF11512-4C39-42D5-926D-069737AA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6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决赛答辩</a:t>
            </a:r>
          </a:p>
        </p:txBody>
      </p:sp>
      <p:sp>
        <p:nvSpPr>
          <p:cNvPr id="6" name="CJ-DocGuard">
            <a:extLst xmlns:a="http://schemas.openxmlformats.org/drawingml/2006/main">
              <a:ext uri="{FF2B5EF4-FFF2-40B4-BE49-F238E27FC236}">
                <a16:creationId xmlns:a16="http://schemas.microsoft.com/office/drawing/2014/main" id="{60067425-4625-440F-B4E9-CF6D4AC2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52575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  <a:r>
              <a:rPr sz="46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rPr>
              <a:t>CJ-DocGuard</a:t>
            </a:r>
          </a:p>
        </p:txBody>
      </p:sp>
      <p:sp>
        <p:nvSpPr>
          <p:cNvPr id="7" name="仓颉项目级 API&#10;文档生成及测试">
            <a:extLst xmlns:a="http://schemas.openxmlformats.org/drawingml/2006/main">
              <a:ext uri="{FF2B5EF4-FFF2-40B4-BE49-F238E27FC236}">
                <a16:creationId xmlns:a16="http://schemas.microsoft.com/office/drawing/2014/main" id="{29ED3F8B-55A5-42B0-9274-530EB7FD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530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仓颉项目级 API</a:t>
            </a:r>
          </a:p>
          <a:p xmlns:a="http://schemas.openxmlformats.org/drawingml/2006/main">
            <a:pPr algn="l">
              <a:def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8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文档生成及测试</a:t>
            </a:r>
          </a:p>
        </p:txBody>
      </p:sp>
      <p:sp>
        <p:nvSpPr>
          <p:cNvPr id="8" name="面向仓颉库维护者&#10;维护接口说明、受测示例与版本关系&#10;在一个本地工作台查看检查结果">
            <a:extLst xmlns:a="http://schemas.openxmlformats.org/drawingml/2006/main">
              <a:ext uri="{FF2B5EF4-FFF2-40B4-BE49-F238E27FC236}">
                <a16:creationId xmlns:a16="http://schemas.microsoft.com/office/drawing/2014/main" id="{36A48AE8-AE3A-4B35-8220-D5BCB692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52768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面向仓颉库维护者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维护接口说明、受测示例与版本关系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在一个本地工作台查看检查结果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57290-3716-4BD1-AB6D-832C45CE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229225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56631-CDD7-49DF-9087-CE8BB5A69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850538f504ff5"/>
          <a:srcRect xmlns:a="http://schemas.openxmlformats.org/drawingml/2006/main" l="20000" t="19000" r="1500" b="8000"/>
          <a:stretch xmlns:a="http://schemas.openxmlformats.org/drawingml/2006/main"/>
        </p:blipFill>
        <p:spPr>
          <a:xfrm xmlns:a="http://schemas.openxmlformats.org/drawingml/2006/main">
            <a:off x="6305550" y="1990725"/>
            <a:ext cx="5133975" cy="3228975"/>
          </a:xfrm>
          <a:prstGeom xmlns:a="http://schemas.openxmlformats.org/drawingml/2006/main" prst="rect">
            <a:avLst/>
          </a:prstGeom>
        </p:spPr>
      </p:pic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1889A82-8AE1-4846-9DAF-9A54FE21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229225" cy="3324225"/>
          </a:xfrm>
          <a:custGeom xmlns:a="http://schemas.openxmlformats.org/drawingml/2006/main">
            <a:pathLst>
              <a:path w="5229225" h="3324225">
                <a:moveTo>
                  <a:pt x="38100" y="28575"/>
                </a:moveTo>
                <a:cubicBezTo>
                  <a:pt x="1464183" y="0"/>
                  <a:pt x="3555873" y="57150"/>
                  <a:pt x="5200650" y="19050"/>
                </a:cubicBezTo>
                <a:cubicBezTo>
                  <a:pt x="5238750" y="930783"/>
                  <a:pt x="5191125" y="2493169"/>
                  <a:pt x="5219700" y="3295650"/>
                </a:cubicBezTo>
                <a:cubicBezTo>
                  <a:pt x="3451289" y="3333750"/>
                  <a:pt x="1516475" y="3286125"/>
                  <a:pt x="19050" y="3314700"/>
                </a:cubicBezTo>
                <a:cubicBezTo>
                  <a:pt x="47625" y="2326958"/>
                  <a:pt x="0" y="99726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AB19E-5080-4294-A5D6-23E49FC1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43100"/>
            <a:ext cx="5229225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当前工作区：接口、示例、版本结果集中查看">
            <a:extLst xmlns:a="http://schemas.openxmlformats.org/drawingml/2006/main">
              <a:ext uri="{FF2B5EF4-FFF2-40B4-BE49-F238E27FC236}">
                <a16:creationId xmlns:a16="http://schemas.microsoft.com/office/drawing/2014/main" id="{294E5E29-78F5-41EA-ACBB-59845B64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62575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当前工作区：接口、示例、版本结果集中查看</a:t>
            </a:r>
          </a:p>
        </p:txBody>
      </p:sp>
      <p:sp>
        <p:nvSpPr>
          <p:cNvPr id="1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D17817E0-C47F-44E9-BBA6-A517068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5048250" cy="257175"/>
          </a:xfrm>
          <a:custGeom xmlns:a="http://schemas.openxmlformats.org/drawingml/2006/main">
            <a:pathLst>
              <a:path w="5048250" h="257175">
                <a:moveTo>
                  <a:pt x="0" y="28575"/>
                </a:moveTo>
                <a:lnTo>
                  <a:pt x="5000625" y="0"/>
                </a:lnTo>
                <a:lnTo>
                  <a:pt x="5048250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本地网页 · 原生仓颉服务与核心">
            <a:extLst xmlns:a="http://schemas.openxmlformats.org/drawingml/2006/main">
              <a:ext uri="{FF2B5EF4-FFF2-40B4-BE49-F238E27FC236}">
                <a16:creationId xmlns:a16="http://schemas.microsoft.com/office/drawing/2014/main" id="{9DB44625-7D76-4426-A97F-6993F80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本地网页 · 原生仓颉服务与核心</a:t>
            </a:r>
          </a:p>
        </p:txBody>
      </p:sp>
      <p:sp>
        <p:nvSpPr>
          <p:cNvPr id="16" name="47">
            <a:extLst xmlns:a="http://schemas.openxmlformats.org/drawingml/2006/main">
              <a:ext uri="{FF2B5EF4-FFF2-40B4-BE49-F238E27FC236}">
                <a16:creationId xmlns:a16="http://schemas.microsoft.com/office/drawing/2014/main" id="{791EDDA9-386C-45CA-B728-1082464A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47</a:t>
            </a:r>
          </a:p>
        </p:txBody>
      </p:sp>
      <p:sp>
        <p:nvSpPr>
          <p:cNvPr id="17" name="公共接口">
            <a:extLst xmlns:a="http://schemas.openxmlformats.org/drawingml/2006/main">
              <a:ext uri="{FF2B5EF4-FFF2-40B4-BE49-F238E27FC236}">
                <a16:creationId xmlns:a16="http://schemas.microsoft.com/office/drawing/2014/main" id="{85401FF9-D6E3-440C-AAB8-DBBBCF9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934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公共接口</a:t>
            </a:r>
          </a:p>
        </p:txBody>
      </p:sp>
      <p:sp>
        <p:nvSpPr>
          <p:cNvPr id="18" name="14">
            <a:extLst xmlns:a="http://schemas.openxmlformats.org/drawingml/2006/main">
              <a:ext uri="{FF2B5EF4-FFF2-40B4-BE49-F238E27FC236}">
                <a16:creationId xmlns:a16="http://schemas.microsoft.com/office/drawing/2014/main" id="{7C1F5106-56F6-44A0-B354-5C408AC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435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14</a:t>
            </a:r>
          </a:p>
        </p:txBody>
      </p:sp>
      <p:sp>
        <p:nvSpPr>
          <p:cNvPr id="19" name="登记示例">
            <a:extLst xmlns:a="http://schemas.openxmlformats.org/drawingml/2006/main">
              <a:ext uri="{FF2B5EF4-FFF2-40B4-BE49-F238E27FC236}">
                <a16:creationId xmlns:a16="http://schemas.microsoft.com/office/drawing/2014/main" id="{2FC4874B-9DD5-4F8B-8B42-B21480B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34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登记示例</a:t>
            </a:r>
          </a:p>
        </p:txBody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22122DEF-F1C3-4EED-927B-B0F24BB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7435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6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</a:t>
            </a:r>
          </a:p>
        </p:txBody>
      </p:sp>
      <p:sp>
        <p:nvSpPr>
          <p:cNvPr id="21" name="SDK 版本">
            <a:extLst xmlns:a="http://schemas.openxmlformats.org/drawingml/2006/main">
              <a:ext uri="{FF2B5EF4-FFF2-40B4-BE49-F238E27FC236}">
                <a16:creationId xmlns:a16="http://schemas.microsoft.com/office/drawing/2014/main" id="{A333F1AD-72E8-4952-8A0A-103F35B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934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 版本</a:t>
            </a:r>
          </a:p>
        </p:txBody>
      </p:sp>
      <p:sp>
        <p:nvSpPr>
          <p:cNvPr id="22" name="当前完整实测：macOS arm64；仓颉 1.1.3 / 1.2.0">
            <a:extLst xmlns:a="http://schemas.openxmlformats.org/drawingml/2006/main">
              <a:ext uri="{FF2B5EF4-FFF2-40B4-BE49-F238E27FC236}">
                <a16:creationId xmlns:a16="http://schemas.microsoft.com/office/drawing/2014/main" id="{C538E3B9-4BA1-44B0-B5F9-EB2E86DB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当前完整实测：macOS arm64；仓颉 1.1.3 / 1.2.0</a:t>
            </a:r>
          </a:p>
        </p:txBody>
      </p:sp>
    </p:spTree>
    <p:extLst>
      <p:ext uri="{BB962C8B-B14F-4D97-AF65-F5344CB8AC3E}">
        <p14:creationId xmlns:p14="http://schemas.microsoft.com/office/powerpoint/2010/main" val="328869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171B0-4E32-43B6-B2E9-01F6DEC3E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5bc0fead240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9888A93D-C133-4644-B4CC-F5BFD6C6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234FB75A-FC90-4CA1-A48D-5993D1BB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02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9D7C333D-F0DB-49FB-8775-435AFAF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67100" cy="219075"/>
          </a:xfrm>
          <a:custGeom xmlns:a="http://schemas.openxmlformats.org/drawingml/2006/main">
            <a:pathLst>
              <a:path w="3467100" h="219075">
                <a:moveTo>
                  <a:pt x="0" y="28575"/>
                </a:moveTo>
                <a:lnTo>
                  <a:pt x="3419475" y="0"/>
                </a:lnTo>
                <a:lnTo>
                  <a:pt x="34671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赛题交付与库维护流程">
            <a:extLst xmlns:a="http://schemas.openxmlformats.org/drawingml/2006/main">
              <a:ext uri="{FF2B5EF4-FFF2-40B4-BE49-F238E27FC236}">
                <a16:creationId xmlns:a16="http://schemas.microsoft.com/office/drawing/2014/main" id="{1B834B43-9FB2-4B3E-8289-6D377636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赛题交付与库维护流程</a:t>
            </a:r>
          </a:p>
        </p:txBody>
      </p:sp>
      <p:sp>
        <p:nvSpPr>
          <p:cNvPr id="6" name="从接入项目，到生成文档、执行示例和定位问题">
            <a:extLst xmlns:a="http://schemas.openxmlformats.org/drawingml/2006/main">
              <a:ext uri="{FF2B5EF4-FFF2-40B4-BE49-F238E27FC236}">
                <a16:creationId xmlns:a16="http://schemas.microsoft.com/office/drawing/2014/main" id="{C67D55E0-7265-4D17-B889-3970D9C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从接入项目，到生成文档、执行示例和定位问题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82E25-A3CD-4154-880D-89058201338E}"/>
              </a:ext>
            </a:extLst>
          </p:cNvPr>
          <p:cNvGraphicFramePr/>
          <p:nvPr/>
        </p:nvGraphicFramePr>
        <p:xfrm>
          <a:off xmlns:a="http://schemas.openxmlformats.org/drawingml/2006/main" x="714375" y="2076450"/>
          <a:ext xmlns:a="http://schemas.openxmlformats.org/drawingml/2006/main" cx="7162800" cy="3124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71650"/>
                <a:gridCol w="1924050"/>
                <a:gridCol w="3467100"/>
              </a:tblGrid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交付要求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网页入口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实际产物与检查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结构化文档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接口文档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源码编辑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声明、参数、返回类型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关联示例及源码位置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示例正确性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示例测试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任务中心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真实编译与运行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退出码、期望/实际输出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810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版本与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索引链接测试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测试矩阵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链接与问题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按SDK和平台保留结果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目标文件、锚点与来源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D3C52213-889C-4DA1-8660-5972947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7200900" cy="3162300"/>
          </a:xfrm>
          <a:custGeom xmlns:a="http://schemas.openxmlformats.org/drawingml/2006/main">
            <a:pathLst>
              <a:path w="7200900" h="3162300">
                <a:moveTo>
                  <a:pt x="38100" y="28575"/>
                </a:moveTo>
                <a:cubicBezTo>
                  <a:pt x="2016252" y="0"/>
                  <a:pt x="4896612" y="57150"/>
                  <a:pt x="7172325" y="19050"/>
                </a:cubicBezTo>
                <a:cubicBezTo>
                  <a:pt x="7210425" y="885444"/>
                  <a:pt x="7162800" y="2371725"/>
                  <a:pt x="7191375" y="3133725"/>
                </a:cubicBezTo>
                <a:cubicBezTo>
                  <a:pt x="4752594" y="3171825"/>
                  <a:pt x="2088261" y="3124200"/>
                  <a:pt x="19050" y="3152775"/>
                </a:cubicBezTo>
                <a:cubicBezTo>
                  <a:pt x="47625" y="2213610"/>
                  <a:pt x="0" y="94869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AC92B-8D79-4E93-A986-2230129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7200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接入现有库">
            <a:extLst xmlns:a="http://schemas.openxmlformats.org/drawingml/2006/main">
              <a:ext uri="{FF2B5EF4-FFF2-40B4-BE49-F238E27FC236}">
                <a16:creationId xmlns:a16="http://schemas.microsoft.com/office/drawing/2014/main" id="{B6C0F2BC-C2E4-4A01-9BCC-FA7A1513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669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接入现有库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E59E-74A0-4C6A-8A95-BAC8C8C6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3238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D093A-FAC1-4342-BAD4-9EC59BFA4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8b51508494748"/>
          <a:srcRect xmlns:a="http://schemas.openxmlformats.org/drawingml/2006/main" l="22500" t="16000" r="34000" b="69000"/>
          <a:stretch xmlns:a="http://schemas.openxmlformats.org/drawingml/2006/main"/>
        </p:blipFill>
        <p:spPr>
          <a:xfrm xmlns:a="http://schemas.openxmlformats.org/drawingml/2006/main">
            <a:off x="8286750" y="2609850"/>
            <a:ext cx="3143250" cy="1504950"/>
          </a:xfrm>
          <a:prstGeom xmlns:a="http://schemas.openxmlformats.org/drawingml/2006/main" prst="rect">
            <a:avLst/>
          </a:prstGeom>
        </p:spPr>
      </p:pic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EA31634-2880-4D80-95B7-716F652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3238500" cy="1600200"/>
          </a:xfrm>
          <a:custGeom xmlns:a="http://schemas.openxmlformats.org/drawingml/2006/main">
            <a:pathLst>
              <a:path w="3238500" h="1600200">
                <a:moveTo>
                  <a:pt x="38100" y="28575"/>
                </a:moveTo>
                <a:cubicBezTo>
                  <a:pt x="906780" y="0"/>
                  <a:pt x="2202180" y="57150"/>
                  <a:pt x="3209925" y="19050"/>
                </a:cubicBezTo>
                <a:cubicBezTo>
                  <a:pt x="3248025" y="448056"/>
                  <a:pt x="3200400" y="1200150"/>
                  <a:pt x="3228975" y="1571625"/>
                </a:cubicBezTo>
                <a:cubicBezTo>
                  <a:pt x="2137410" y="1609725"/>
                  <a:pt x="939165" y="1562100"/>
                  <a:pt x="19050" y="1590675"/>
                </a:cubicBezTo>
                <a:cubicBezTo>
                  <a:pt x="47625" y="1120140"/>
                  <a:pt x="0" y="48006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043C7-A41B-48D9-8148-22DCC903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登记本地配置绝对路径；&#10;登记不会自动授予执行信任。">
            <a:extLst xmlns:a="http://schemas.openxmlformats.org/drawingml/2006/main">
              <a:ext uri="{FF2B5EF4-FFF2-40B4-BE49-F238E27FC236}">
                <a16:creationId xmlns:a16="http://schemas.microsoft.com/office/drawing/2014/main" id="{2014BFF6-D66F-441F-92A8-43FC22F8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05300"/>
            <a:ext cx="320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登记本地配置绝对路径；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登记不会自动授予执行信任。</a:t>
            </a:r>
          </a:p>
        </p:txBody>
      </p:sp>
      <p:sp>
        <p:nvSpPr>
          <p:cNvPr id="16" name="接入 → 诊断环境&#10;生成文档 → 运行与检查&#10;查看结果 → 修改后重测">
            <a:extLst xmlns:a="http://schemas.openxmlformats.org/drawingml/2006/main">
              <a:ext uri="{FF2B5EF4-FFF2-40B4-BE49-F238E27FC236}">
                <a16:creationId xmlns:a16="http://schemas.microsoft.com/office/drawing/2014/main" id="{EB47D3A4-84A9-4A0B-9732-1121F0CA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29225"/>
            <a:ext cx="320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接入 → 诊断环境</a:t>
            </a:r>
          </a:p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生成文档 → 运行与检查</a:t>
            </a:r>
          </a:p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查看结果 → 修改后重测</a:t>
            </a:r>
          </a:p>
        </p:txBody>
      </p:sp>
      <p:sp>
        <p:nvSpPr>
          <p:cNvPr id="17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C6A7B4BF-3476-4CD4-946D-F354BAD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6991350" cy="257175"/>
          </a:xfrm>
          <a:custGeom xmlns:a="http://schemas.openxmlformats.org/drawingml/2006/main">
            <a:pathLst>
              <a:path w="6991350" h="257175">
                <a:moveTo>
                  <a:pt x="0" y="28575"/>
                </a:moveTo>
                <a:lnTo>
                  <a:pt x="6943725" y="0"/>
                </a:lnTo>
                <a:lnTo>
                  <a:pt x="6991350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把查文档、核示例、比版本&#10;放进可重复执行的维护流程。">
            <a:extLst xmlns:a="http://schemas.openxmlformats.org/drawingml/2006/main">
              <a:ext uri="{FF2B5EF4-FFF2-40B4-BE49-F238E27FC236}">
                <a16:creationId xmlns:a16="http://schemas.microsoft.com/office/drawing/2014/main" id="{D0C0E1CE-B6AA-421F-8B4E-566FE070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7058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把查文档、核示例、比版本</a:t>
            </a:r>
          </a:p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放进可重复执行的维护流程。</a:t>
            </a:r>
          </a:p>
        </p:txBody>
      </p:sp>
      <p:sp>
        <p:nvSpPr>
          <p:cNvPr id="19" name="API：应用程序接口；SDK：仓颉编译器、运行库等开发工具。">
            <a:extLst xmlns:a="http://schemas.openxmlformats.org/drawingml/2006/main">
              <a:ext uri="{FF2B5EF4-FFF2-40B4-BE49-F238E27FC236}">
                <a16:creationId xmlns:a16="http://schemas.microsoft.com/office/drawing/2014/main" id="{5666B88D-D4DB-43A2-BA7F-115CCBD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API：应用程序接口；SDK：仓颉编译器、运行库等开发工具。</a:t>
            </a:r>
          </a:p>
        </p:txBody>
      </p:sp>
    </p:spTree>
    <p:extLst>
      <p:ext uri="{BB962C8B-B14F-4D97-AF65-F5344CB8AC3E}">
        <p14:creationId xmlns:p14="http://schemas.microsoft.com/office/powerpoint/2010/main" val="751760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91A69-60C6-4AF1-8055-FD4187C94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714eee0dc44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4FFECD62-421B-48B8-9D2B-9C42CDF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1819B328-3EBB-4C35-8F83-DE9AE9F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03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C6D4951B-A093-47CE-98E4-3F023F1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724400" cy="219075"/>
          </a:xfrm>
          <a:custGeom xmlns:a="http://schemas.openxmlformats.org/drawingml/2006/main">
            <a:pathLst>
              <a:path w="4724400" h="219075">
                <a:moveTo>
                  <a:pt x="0" y="28575"/>
                </a:moveTo>
                <a:lnTo>
                  <a:pt x="4676775" y="0"/>
                </a:lnTo>
                <a:lnTo>
                  <a:pt x="47244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从接口说明，找到可运行的示例">
            <a:extLst xmlns:a="http://schemas.openxmlformats.org/drawingml/2006/main">
              <a:ext uri="{FF2B5EF4-FFF2-40B4-BE49-F238E27FC236}">
                <a16:creationId xmlns:a16="http://schemas.microsoft.com/office/drawing/2014/main" id="{B5D97469-8EF9-4064-99AB-272C775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从接口说明，找到可运行的示例</a:t>
            </a:r>
          </a:p>
        </p:txBody>
      </p:sp>
      <p:sp>
        <p:nvSpPr>
          <p:cNvPr id="6" name="声明、源码位置、参数、返回类型和登记示例互相关联">
            <a:extLst xmlns:a="http://schemas.openxmlformats.org/drawingml/2006/main">
              <a:ext uri="{FF2B5EF4-FFF2-40B4-BE49-F238E27FC236}">
                <a16:creationId xmlns:a16="http://schemas.microsoft.com/office/drawing/2014/main" id="{1BCBD842-FC23-443D-AA93-34347082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声明、源码位置、参数、返回类型和登记示例互相关联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FE1E969E-57A9-4C6E-AC3B-42B2CA36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4914900" cy="1323975"/>
          </a:xfrm>
          <a:custGeom xmlns:a="http://schemas.openxmlformats.org/drawingml/2006/main">
            <a:pathLst>
              <a:path w="4914900" h="1323975">
                <a:moveTo>
                  <a:pt x="38100" y="28575"/>
                </a:moveTo>
                <a:cubicBezTo>
                  <a:pt x="1376172" y="0"/>
                  <a:pt x="3342132" y="57150"/>
                  <a:pt x="4886325" y="19050"/>
                </a:cubicBezTo>
                <a:cubicBezTo>
                  <a:pt x="4924425" y="370713"/>
                  <a:pt x="4876800" y="992981"/>
                  <a:pt x="4905375" y="1295400"/>
                </a:cubicBezTo>
                <a:cubicBezTo>
                  <a:pt x="3243834" y="1333500"/>
                  <a:pt x="1425321" y="1285875"/>
                  <a:pt x="19050" y="1314450"/>
                </a:cubicBezTo>
                <a:cubicBezTo>
                  <a:pt x="47625" y="926783"/>
                  <a:pt x="0" y="397192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863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4FC49-560F-46F2-862E-AF1C6A9A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49149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dd · 公共函数">
            <a:extLst xmlns:a="http://schemas.openxmlformats.org/drawingml/2006/main">
              <a:ext uri="{FF2B5EF4-FFF2-40B4-BE49-F238E27FC236}">
                <a16:creationId xmlns:a16="http://schemas.microsoft.com/office/drawing/2014/main" id="{989BA0B4-50AB-4A2D-936F-0B4837D5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562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add · 公共函数</a:t>
            </a:r>
          </a:p>
        </p:txBody>
      </p:sp>
      <p:sp>
        <p:nvSpPr>
          <p:cNvPr id="10" name="public func add(a: Int64,&#10;                b: Int64">
            <a:extLst xmlns:a="http://schemas.openxmlformats.org/drawingml/2006/main">
              <a:ext uri="{FF2B5EF4-FFF2-40B4-BE49-F238E27FC236}">
                <a16:creationId xmlns:a16="http://schemas.microsoft.com/office/drawing/2014/main" id="{90D1775D-1448-41F5-8FF2-12DCE673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55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public func add(a: Int64,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                b: Int64): Int64</a:t>
            </a:r>
          </a:p>
        </p:txBody>
      </p:sp>
      <p:sp>
        <p:nvSpPr>
          <p:cNvPr id="11" name="登记示例 arithmetic（摘录）">
            <a:extLst xmlns:a="http://schemas.openxmlformats.org/drawingml/2006/main">
              <a:ext uri="{FF2B5EF4-FFF2-40B4-BE49-F238E27FC236}">
                <a16:creationId xmlns:a16="http://schemas.microsoft.com/office/drawing/2014/main" id="{D9A1EF7B-6793-48C9-B376-FAFDF031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登记示例 arithmetic（摘录）</a:t>
            </a:r>
          </a:p>
        </p:txBody>
      </p:sp>
      <p:sp>
        <p:nvSpPr>
          <p:cNvPr id="12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4B1A0240-DB68-4CB9-97DC-5034B49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4914900" cy="1066800"/>
          </a:xfrm>
          <a:custGeom xmlns:a="http://schemas.openxmlformats.org/drawingml/2006/main">
            <a:pathLst>
              <a:path w="4914900" h="1066800">
                <a:moveTo>
                  <a:pt x="38100" y="28575"/>
                </a:moveTo>
                <a:cubicBezTo>
                  <a:pt x="1376172" y="0"/>
                  <a:pt x="3342132" y="57150"/>
                  <a:pt x="4886325" y="19050"/>
                </a:cubicBezTo>
                <a:cubicBezTo>
                  <a:pt x="4924425" y="298704"/>
                  <a:pt x="4876800" y="800100"/>
                  <a:pt x="4905375" y="1038225"/>
                </a:cubicBezTo>
                <a:cubicBezTo>
                  <a:pt x="3243834" y="1076325"/>
                  <a:pt x="1425321" y="1028700"/>
                  <a:pt x="19050" y="1057275"/>
                </a:cubicBezTo>
                <a:cubicBezTo>
                  <a:pt x="47625" y="746760"/>
                  <a:pt x="0" y="32004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35D6D-2D92-4FB7-98EC-259936AD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491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main(): Unit {&#10;    println(add(20, 22))&#10;}">
            <a:extLst xmlns:a="http://schemas.openxmlformats.org/drawingml/2006/main">
              <a:ext uri="{FF2B5EF4-FFF2-40B4-BE49-F238E27FC236}">
                <a16:creationId xmlns:a16="http://schemas.microsoft.com/office/drawing/2014/main" id="{081F7054-7CB1-4ECD-98B1-0AF453DA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52900"/>
            <a:ext cx="4524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main(): Unit {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    println(add(20, 22))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}</a:t>
            </a:r>
          </a:p>
        </p:txBody>
      </p:sp>
      <p:sp>
        <p:nvSpPr>
          <p:cNvPr id="15" name="期望：退出码 0；输出 &quot;42\n&quot;">
            <a:extLst xmlns:a="http://schemas.openxmlformats.org/drawingml/2006/main">
              <a:ext uri="{FF2B5EF4-FFF2-40B4-BE49-F238E27FC236}">
                <a16:creationId xmlns:a16="http://schemas.microsoft.com/office/drawing/2014/main" id="{2756203C-83A3-4112-86EC-67837E8C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4848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期望：退出码 0；输出 "42\n"</a:t>
            </a:r>
          </a:p>
        </p:txBody>
      </p:sp>
      <p:sp>
        <p:nvSpPr>
          <p:cNvPr id="16" name="可搜索、跳转源码、查看关联示例&#10;生成 JSON / HTML / Markdown 文档">
            <a:extLst xmlns:a="http://schemas.openxmlformats.org/drawingml/2006/main">
              <a:ext uri="{FF2B5EF4-FFF2-40B4-BE49-F238E27FC236}">
                <a16:creationId xmlns:a16="http://schemas.microsoft.com/office/drawing/2014/main" id="{7F61F342-85C5-4F75-A5E2-DA1EB784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可搜索、跳转源码、查看关联示例</a:t>
            </a:r>
          </a:p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生成 JSON / HTML / Markdown 文档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3307E-9720-4622-8D45-7D3ECD2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54102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B9A54-8BD4-41D0-8171-66ACADFB8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acfa85b6d4371"/>
          <a:srcRect xmlns:a="http://schemas.openxmlformats.org/drawingml/2006/main" l="41400" t="33000" r="0" b="8000"/>
          <a:stretch xmlns:a="http://schemas.openxmlformats.org/drawingml/2006/main"/>
        </p:blipFill>
        <p:spPr>
          <a:xfrm xmlns:a="http://schemas.openxmlformats.org/drawingml/2006/main">
            <a:off x="6124575" y="2105025"/>
            <a:ext cx="5314950" cy="3914775"/>
          </a:xfrm>
          <a:prstGeom xmlns:a="http://schemas.openxmlformats.org/drawingml/2006/main" prst="rect">
            <a:avLst/>
          </a:prstGeom>
        </p:spPr>
      </p:pic>
      <p:sp>
        <p:nvSpPr>
          <p:cNvPr id="19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FC9ED516-7A93-4A1A-8AB4-DD10DB6C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5410200" cy="4010025"/>
          </a:xfrm>
          <a:custGeom xmlns:a="http://schemas.openxmlformats.org/drawingml/2006/main">
            <a:pathLst>
              <a:path w="5410200" h="4010025">
                <a:moveTo>
                  <a:pt x="38100" y="28575"/>
                </a:moveTo>
                <a:cubicBezTo>
                  <a:pt x="1514856" y="0"/>
                  <a:pt x="3678936" y="57150"/>
                  <a:pt x="5381625" y="19050"/>
                </a:cubicBezTo>
                <a:cubicBezTo>
                  <a:pt x="5419725" y="1122807"/>
                  <a:pt x="5372100" y="3007519"/>
                  <a:pt x="5400675" y="3981450"/>
                </a:cubicBezTo>
                <a:cubicBezTo>
                  <a:pt x="3570732" y="4019550"/>
                  <a:pt x="1568958" y="3971925"/>
                  <a:pt x="19050" y="4000500"/>
                </a:cubicBezTo>
                <a:cubicBezTo>
                  <a:pt x="47625" y="2807018"/>
                  <a:pt x="0" y="120300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5EC52-B0F9-4B47-B65A-C1E74496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54102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重名与重载需明确身份，不能随意绑定示例。">
            <a:extLst xmlns:a="http://schemas.openxmlformats.org/drawingml/2006/main">
              <a:ext uri="{FF2B5EF4-FFF2-40B4-BE49-F238E27FC236}">
                <a16:creationId xmlns:a16="http://schemas.microsoft.com/office/drawing/2014/main" id="{D64852FE-7E0E-4BC2-9AB0-17ED6AB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620077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重名与重载需明确身份，不能随意绑定示例。</a:t>
            </a:r>
          </a:p>
        </p:txBody>
      </p:sp>
    </p:spTree>
    <p:extLst>
      <p:ext uri="{BB962C8B-B14F-4D97-AF65-F5344CB8AC3E}">
        <p14:creationId xmlns:p14="http://schemas.microsoft.com/office/powerpoint/2010/main" val="1236889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BB1A4-A008-4EE3-ACD9-8DFB97C558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9b79a4d244e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A0614887-6121-4631-83E2-3822088A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F5843FAE-6CA2-45A2-B359-A8B3328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04 / 10</a:t>
            </a:r>
          </a:p>
        </p:txBody>
      </p:sp>
      <p:sp>
        <p:nvSpPr>
          <p:cNvPr id="4" name="系统介绍 · 02:00">
            <a:extLst xmlns:a="http://schemas.openxmlformats.org/drawingml/2006/main">
              <a:ext uri="{FF2B5EF4-FFF2-40B4-BE49-F238E27FC236}">
                <a16:creationId xmlns:a16="http://schemas.microsoft.com/office/drawing/2014/main" id="{586A5009-406D-4BE4-9CD1-44C52FA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572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系统介绍 · 02:00</a:t>
            </a:r>
          </a:p>
        </p:txBody>
      </p:sp>
      <p:pic>
        <p:nvPicPr>
          <p:cNvPr id="5" name="CJ-DocGuard 系统介绍（02:00）" descr="真实网页操作，含中文配音和字幕，点击播放。">
            <a:extLst xmlns:a="http://schemas.openxmlformats.org/drawingml/2006/main">
              <a:ext uri="{FF2B5EF4-FFF2-40B4-BE49-F238E27FC236}">
                <a16:creationId xmlns:a16="http://schemas.microsoft.com/office/drawing/2014/main" id="{89EF643C-40A5-4FCB-A6BE-A1F96CB0F395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DocGuardVideo"/>
            <p:extLst>
              <p:ext uri="{DAA4B4D4-6D71-4841-9C94-3DE7FCFB9230}">
                <p14:media xmlns:p14="http://schemas.microsoft.com/office/powerpoint/2010/main" xmlns:ns3="http://schemas.openxmlformats.org/officeDocument/2006/relationships" ns3:embed="rIdDocGuard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59bae5c87bd0431f"/>
          <a:stretch xmlns:a="http://schemas.openxmlformats.org/drawingml/2006/main"/>
        </p:blipFill>
        <p:spPr>
          <a:xfrm xmlns:a="http://schemas.openxmlformats.org/drawingml/2006/main">
            <a:off x="1219200" y="1104900"/>
            <a:ext cx="9753600" cy="5486400"/>
          </a:xfrm>
          <a:prstGeom xmlns:a="http://schemas.openxmlformats.org/drawingml/2006/main" prst="rect">
            <a:avLst/>
          </a:prstGeom>
        </p:spPr>
      </p:pic>
      <p:sp>
        <p:nvSpPr>
          <p:cNvPr id="6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74AD8D1D-4634-4D35-8364-85E6D9B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85850"/>
            <a:ext cx="9791700" cy="5524500"/>
          </a:xfrm>
          <a:custGeom xmlns:a="http://schemas.openxmlformats.org/drawingml/2006/main">
            <a:pathLst>
              <a:path w="9791700" h="5524500">
                <a:moveTo>
                  <a:pt x="38100" y="28575"/>
                </a:moveTo>
                <a:cubicBezTo>
                  <a:pt x="2741676" y="0"/>
                  <a:pt x="6658356" y="57150"/>
                  <a:pt x="9763125" y="19050"/>
                </a:cubicBezTo>
                <a:cubicBezTo>
                  <a:pt x="9801225" y="1546860"/>
                  <a:pt x="9753600" y="4143375"/>
                  <a:pt x="9782175" y="5495925"/>
                </a:cubicBezTo>
                <a:cubicBezTo>
                  <a:pt x="6462522" y="5534025"/>
                  <a:pt x="2839593" y="5486400"/>
                  <a:pt x="19050" y="5514975"/>
                </a:cubicBezTo>
                <a:cubicBezTo>
                  <a:pt x="47625" y="3867150"/>
                  <a:pt x="0" y="165735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19E72-B537-46B9-9449-AA789B36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85850"/>
            <a:ext cx="979170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3585053"/>
      </p:ext>
    </p:extLst>
  </p:cSld>
  <p:timing>
    <p:tnLst>
      <p:par>
        <p:cTn id="1" dur="indefinite" restart="never" nodeType="tmRoot">
          <p:childTnLst>
            <p:video fullScrn="0"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A4090D-F01D-4B33-A44B-470373778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c4d6b31b4f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C9905121-6D01-4535-9480-E1F11C3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0882DC86-9396-4BC7-BDFD-B030472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05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3A2DD695-F30D-4AF5-9A65-F6143156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038725" cy="219075"/>
          </a:xfrm>
          <a:custGeom xmlns:a="http://schemas.openxmlformats.org/drawingml/2006/main">
            <a:pathLst>
              <a:path w="5038725" h="219075">
                <a:moveTo>
                  <a:pt x="0" y="28575"/>
                </a:moveTo>
                <a:lnTo>
                  <a:pt x="4991100" y="0"/>
                </a:lnTo>
                <a:lnTo>
                  <a:pt x="50387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仓颉服务、核心模块与真实工具链">
            <a:extLst xmlns:a="http://schemas.openxmlformats.org/drawingml/2006/main">
              <a:ext uri="{FF2B5EF4-FFF2-40B4-BE49-F238E27FC236}">
                <a16:creationId xmlns:a16="http://schemas.microsoft.com/office/drawing/2014/main" id="{621D75E7-9F4B-46F8-814B-AFAB375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仓颉服务、核心模块与真实工具链</a:t>
            </a:r>
          </a:p>
        </p:txBody>
      </p:sp>
      <p:sp>
        <p:nvSpPr>
          <p:cNvPr id="6" name="浏览器负责交互；本地服务和核心处理由仓颉实现">
            <a:extLst xmlns:a="http://schemas.openxmlformats.org/drawingml/2006/main">
              <a:ext uri="{FF2B5EF4-FFF2-40B4-BE49-F238E27FC236}">
                <a16:creationId xmlns:a16="http://schemas.microsoft.com/office/drawing/2014/main" id="{EC322C87-4177-4BBD-9510-30115DA8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浏览器负责交互；本地服务和核心处理由仓颉实现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B0457E0-17E0-46A1-9A48-F10C5C71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47875"/>
            <a:ext cx="2571750" cy="1152525"/>
          </a:xfrm>
          <a:custGeom xmlns:a="http://schemas.openxmlformats.org/drawingml/2006/main">
            <a:pathLst>
              <a:path w="2571750" h="1152525">
                <a:moveTo>
                  <a:pt x="38100" y="28575"/>
                </a:moveTo>
                <a:cubicBezTo>
                  <a:pt x="720090" y="0"/>
                  <a:pt x="1748790" y="57150"/>
                  <a:pt x="2543175" y="19050"/>
                </a:cubicBezTo>
                <a:cubicBezTo>
                  <a:pt x="2581275" y="322707"/>
                  <a:pt x="2533650" y="864394"/>
                  <a:pt x="2562225" y="1123950"/>
                </a:cubicBezTo>
                <a:cubicBezTo>
                  <a:pt x="1697355" y="1162050"/>
                  <a:pt x="745808" y="1114425"/>
                  <a:pt x="19050" y="1143000"/>
                </a:cubicBezTo>
                <a:cubicBezTo>
                  <a:pt x="47625" y="806767"/>
                  <a:pt x="0" y="34575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DF6CA-0A3D-4CB0-962E-C92F7EE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47875"/>
            <a:ext cx="2571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浏览器页面">
            <a:extLst xmlns:a="http://schemas.openxmlformats.org/drawingml/2006/main">
              <a:ext uri="{FF2B5EF4-FFF2-40B4-BE49-F238E27FC236}">
                <a16:creationId xmlns:a16="http://schemas.microsoft.com/office/drawing/2014/main" id="{FFF8658D-95D9-4D7E-87DC-9F07E7D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1932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浏览器页面</a:t>
            </a:r>
          </a:p>
        </p:txBody>
      </p:sp>
      <p:sp>
        <p:nvSpPr>
          <p:cNvPr id="10" name="HTML / CSS / JavaScript">
            <a:extLst xmlns:a="http://schemas.openxmlformats.org/drawingml/2006/main">
              <a:ext uri="{FF2B5EF4-FFF2-40B4-BE49-F238E27FC236}">
                <a16:creationId xmlns:a16="http://schemas.microsoft.com/office/drawing/2014/main" id="{91BEFEB2-27DF-4FB4-BF3B-3513973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62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HTML / CSS / JavaScript</a:t>
            </a:r>
          </a:p>
        </p:txBody>
      </p:sp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C9293CF3-3E2F-450B-86C8-6FCC1689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47875"/>
            <a:ext cx="2952750" cy="1152525"/>
          </a:xfrm>
          <a:custGeom xmlns:a="http://schemas.openxmlformats.org/drawingml/2006/main">
            <a:pathLst>
              <a:path w="2952750" h="1152525">
                <a:moveTo>
                  <a:pt x="38100" y="28575"/>
                </a:moveTo>
                <a:cubicBezTo>
                  <a:pt x="826770" y="0"/>
                  <a:pt x="2007870" y="57150"/>
                  <a:pt x="2924175" y="19050"/>
                </a:cubicBezTo>
                <a:cubicBezTo>
                  <a:pt x="2962275" y="322707"/>
                  <a:pt x="2914650" y="864394"/>
                  <a:pt x="2943225" y="1123950"/>
                </a:cubicBezTo>
                <a:cubicBezTo>
                  <a:pt x="1948815" y="1162050"/>
                  <a:pt x="856297" y="1114425"/>
                  <a:pt x="19050" y="1143000"/>
                </a:cubicBezTo>
                <a:cubicBezTo>
                  <a:pt x="47625" y="806767"/>
                  <a:pt x="0" y="34575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94E22-A4F9-46CB-AF08-5E6227E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47875"/>
            <a:ext cx="2952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仓颉本地服务">
            <a:extLst xmlns:a="http://schemas.openxmlformats.org/drawingml/2006/main">
              <a:ext uri="{FF2B5EF4-FFF2-40B4-BE49-F238E27FC236}">
                <a16:creationId xmlns:a16="http://schemas.microsoft.com/office/drawing/2014/main" id="{33D2F6BF-2322-450F-8280-4D427853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193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仓颉本地服务</a:t>
            </a:r>
          </a:p>
        </p:txBody>
      </p:sp>
      <p:sp>
        <p:nvSpPr>
          <p:cNvPr id="14" name="HTTP、项目、配置与任务">
            <a:extLst xmlns:a="http://schemas.openxmlformats.org/drawingml/2006/main">
              <a:ext uri="{FF2B5EF4-FFF2-40B4-BE49-F238E27FC236}">
                <a16:creationId xmlns:a16="http://schemas.microsoft.com/office/drawing/2014/main" id="{B5FF586D-C93F-4C02-855F-19ED53EA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HTTP、项目、配置与任务</a:t>
            </a:r>
          </a:p>
        </p:txBody>
      </p:sp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3D438C4F-43F1-4D92-AEF5-5B8D6D8B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47875"/>
            <a:ext cx="3924300" cy="1152525"/>
          </a:xfrm>
          <a:custGeom xmlns:a="http://schemas.openxmlformats.org/drawingml/2006/main">
            <a:pathLst>
              <a:path w="3924300" h="1152525">
                <a:moveTo>
                  <a:pt x="38100" y="28575"/>
                </a:moveTo>
                <a:cubicBezTo>
                  <a:pt x="1098804" y="0"/>
                  <a:pt x="2668524" y="57150"/>
                  <a:pt x="3895725" y="19050"/>
                </a:cubicBezTo>
                <a:cubicBezTo>
                  <a:pt x="3933825" y="322707"/>
                  <a:pt x="3886200" y="864394"/>
                  <a:pt x="3914775" y="1123950"/>
                </a:cubicBezTo>
                <a:cubicBezTo>
                  <a:pt x="2590038" y="1162050"/>
                  <a:pt x="1138047" y="1114425"/>
                  <a:pt x="19050" y="1143000"/>
                </a:cubicBezTo>
                <a:cubicBezTo>
                  <a:pt x="47625" y="806767"/>
                  <a:pt x="0" y="34575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42858-7BF0-48D1-A3C4-AF09E85A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47875"/>
            <a:ext cx="39243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仓颉核心">
            <a:extLst xmlns:a="http://schemas.openxmlformats.org/drawingml/2006/main">
              <a:ext uri="{FF2B5EF4-FFF2-40B4-BE49-F238E27FC236}">
                <a16:creationId xmlns:a16="http://schemas.microsoft.com/office/drawing/2014/main" id="{0501DEFF-F78F-4DE6-B013-DB4EDCEE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1932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仓颉核心</a:t>
            </a:r>
          </a:p>
        </p:txBody>
      </p:sp>
      <p:sp>
        <p:nvSpPr>
          <p:cNvPr id="18" name="声明提取、测试与结果判断">
            <a:extLst xmlns:a="http://schemas.openxmlformats.org/drawingml/2006/main">
              <a:ext uri="{FF2B5EF4-FFF2-40B4-BE49-F238E27FC236}">
                <a16:creationId xmlns:a16="http://schemas.microsoft.com/office/drawing/2014/main" id="{499882AE-4AD5-44F1-AF72-B9D5A633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622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声明提取、测试与结果判断</a:t>
            </a:r>
          </a:p>
        </p:txBody>
      </p:sp>
      <p:sp>
        <p:nvSpPr>
          <p:cNvPr id="19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2EB9EC48-DC39-4266-B842-280B0E3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00313"/>
            <a:ext cx="571500" cy="247650"/>
          </a:xfrm>
          <a:custGeom xmlns:a="http://schemas.openxmlformats.org/drawingml/2006/main">
            <a:pathLst>
              <a:path w="571500" h="247650">
                <a:moveTo>
                  <a:pt x="9525" y="123825"/>
                </a:moveTo>
                <a:cubicBezTo>
                  <a:pt x="154305" y="85725"/>
                  <a:pt x="400050" y="152400"/>
                  <a:pt x="552450" y="114300"/>
                </a:cubicBezTo>
                <a:moveTo>
                  <a:pt x="409575" y="19050"/>
                </a:moveTo>
                <a:lnTo>
                  <a:pt x="552450" y="114300"/>
                </a:lnTo>
                <a:lnTo>
                  <a:pt x="40957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F81FBEEA-14BF-4451-849C-B94C0D6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0313"/>
            <a:ext cx="561975" cy="247650"/>
          </a:xfrm>
          <a:custGeom xmlns:a="http://schemas.openxmlformats.org/drawingml/2006/main">
            <a:pathLst>
              <a:path w="561975" h="247650">
                <a:moveTo>
                  <a:pt x="9525" y="123825"/>
                </a:moveTo>
                <a:cubicBezTo>
                  <a:pt x="151733" y="85725"/>
                  <a:pt x="393383" y="152400"/>
                  <a:pt x="542925" y="114300"/>
                </a:cubicBezTo>
                <a:moveTo>
                  <a:pt x="400050" y="19050"/>
                </a:moveTo>
                <a:lnTo>
                  <a:pt x="542925" y="114300"/>
                </a:lnTo>
                <a:lnTo>
                  <a:pt x="40005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1" name="std.ast → 结构化声明 → 关联登记示例">
            <a:extLst xmlns:a="http://schemas.openxmlformats.org/drawingml/2006/main">
              <a:ext uri="{FF2B5EF4-FFF2-40B4-BE49-F238E27FC236}">
                <a16:creationId xmlns:a16="http://schemas.microsoft.com/office/drawing/2014/main" id="{48C7CFEE-0AAD-4C52-AC15-FEA2105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696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std.ast → 结构化声明 → 关联登记示例</a:t>
            </a:r>
          </a:p>
        </p:txBody>
      </p:sp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818DC-33E3-4059-9AE4-C21046ED08D7}"/>
              </a:ext>
            </a:extLst>
          </p:cNvPr>
          <p:cNvGraphicFramePr/>
          <p:nvPr/>
        </p:nvGraphicFramePr>
        <p:xfrm>
          <a:off xmlns:a="http://schemas.openxmlformats.org/drawingml/2006/main" x="733425" y="4095750"/>
          <a:ext xmlns:a="http://schemas.openxmlformats.org/drawingml/2006/main" cx="6248400" cy="2133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3981450"/>
              </a:tblGrid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主要源码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workbench_native/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HTTP 请求、项目和任务管理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src/extractor.cj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提取公共声明、参数和返回类型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src/evidence.cj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判断当前输入与执行记录是否匹配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267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src/export.cj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校验指定环境后生成可重建示例包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F915D5E-71C1-4789-A613-40507CE8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6286500" cy="2171700"/>
          </a:xfrm>
          <a:custGeom xmlns:a="http://schemas.openxmlformats.org/drawingml/2006/main">
            <a:pathLst>
              <a:path w="6286500" h="2171700">
                <a:moveTo>
                  <a:pt x="38100" y="28575"/>
                </a:moveTo>
                <a:cubicBezTo>
                  <a:pt x="1760220" y="0"/>
                  <a:pt x="4274820" y="57150"/>
                  <a:pt x="6257925" y="19050"/>
                </a:cubicBezTo>
                <a:cubicBezTo>
                  <a:pt x="6296025" y="608076"/>
                  <a:pt x="6248400" y="1628775"/>
                  <a:pt x="6276975" y="2143125"/>
                </a:cubicBezTo>
                <a:cubicBezTo>
                  <a:pt x="4149090" y="2181225"/>
                  <a:pt x="1823085" y="2133600"/>
                  <a:pt x="19050" y="2162175"/>
                </a:cubicBezTo>
                <a:cubicBezTo>
                  <a:pt x="47625" y="1520190"/>
                  <a:pt x="0" y="65151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4F1FE-E717-4F5A-A2ED-3738F17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6286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469ECC8-D1CA-4917-9127-1CA43DAF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67175"/>
            <a:ext cx="3924300" cy="1066800"/>
          </a:xfrm>
          <a:custGeom xmlns:a="http://schemas.openxmlformats.org/drawingml/2006/main">
            <a:pathLst>
              <a:path w="3924300" h="1066800">
                <a:moveTo>
                  <a:pt x="38100" y="28575"/>
                </a:moveTo>
                <a:cubicBezTo>
                  <a:pt x="1098804" y="0"/>
                  <a:pt x="2668524" y="57150"/>
                  <a:pt x="3895725" y="19050"/>
                </a:cubicBezTo>
                <a:cubicBezTo>
                  <a:pt x="3933825" y="298704"/>
                  <a:pt x="3886200" y="800100"/>
                  <a:pt x="3914775" y="1038225"/>
                </a:cubicBezTo>
                <a:cubicBezTo>
                  <a:pt x="2590038" y="1076325"/>
                  <a:pt x="1138047" y="1028700"/>
                  <a:pt x="19050" y="1057275"/>
                </a:cubicBezTo>
                <a:cubicBezTo>
                  <a:pt x="47625" y="746760"/>
                  <a:pt x="0" y="32004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25718">
            <a:solidFill>
              <a:srgbClr val="397B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96DDA-E644-4CC1-9130-E1B88D7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67175"/>
            <a:ext cx="3924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真实 SDK 1.1.3 / 1.2.0">
            <a:extLst xmlns:a="http://schemas.openxmlformats.org/drawingml/2006/main">
              <a:ext uri="{FF2B5EF4-FFF2-40B4-BE49-F238E27FC236}">
                <a16:creationId xmlns:a16="http://schemas.microsoft.com/office/drawing/2014/main" id="{F6763BC4-ECE5-4112-95F2-855DAC3B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3862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真实 SDK 1.1.3 / 1.2.0</a:t>
            </a:r>
          </a:p>
        </p:txBody>
      </p:sp>
      <p:sp>
        <p:nvSpPr>
          <p:cNvPr id="28" name="编译 → 运行 → 登记输出核对">
            <a:extLst xmlns:a="http://schemas.openxmlformats.org/drawingml/2006/main">
              <a:ext uri="{FF2B5EF4-FFF2-40B4-BE49-F238E27FC236}">
                <a16:creationId xmlns:a16="http://schemas.microsoft.com/office/drawing/2014/main" id="{0C4DF51A-60D4-4433-8555-6E42C18D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81550"/>
            <a:ext cx="354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编译 → 运行 → 登记输出核对</a:t>
            </a:r>
          </a:p>
        </p:txBody>
      </p:sp>
      <p:sp>
        <p:nvSpPr>
          <p:cNvPr id="29" name="手绘向下流程箭头">
            <a:extLst xmlns:a="http://schemas.openxmlformats.org/drawingml/2006/main">
              <a:ext uri="{FF2B5EF4-FFF2-40B4-BE49-F238E27FC236}">
                <a16:creationId xmlns:a16="http://schemas.microsoft.com/office/drawing/2014/main" id="{B205A4E2-880C-4E58-8441-88697EB8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38500"/>
            <a:ext cx="247650" cy="781050"/>
          </a:xfrm>
          <a:custGeom xmlns:a="http://schemas.openxmlformats.org/drawingml/2006/main">
            <a:pathLst>
              <a:path w="247650" h="781050">
                <a:moveTo>
                  <a:pt x="114300" y="9525"/>
                </a:moveTo>
                <a:cubicBezTo>
                  <a:pt x="142875" y="218694"/>
                  <a:pt x="85725" y="538925"/>
                  <a:pt x="123825" y="762000"/>
                </a:cubicBezTo>
                <a:moveTo>
                  <a:pt x="19050" y="628650"/>
                </a:moveTo>
                <a:lnTo>
                  <a:pt x="123825" y="762000"/>
                </a:lnTo>
                <a:lnTo>
                  <a:pt x="22860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30" name="C：子进程监督与信号&#10;Bash：构建与启动&#10;Python：测试和只读适配等辅助">
            <a:extLst xmlns:a="http://schemas.openxmlformats.org/drawingml/2006/main">
              <a:ext uri="{FF2B5EF4-FFF2-40B4-BE49-F238E27FC236}">
                <a16:creationId xmlns:a16="http://schemas.microsoft.com/office/drawing/2014/main" id="{818480CA-BE28-49E9-8670-70BFC27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43525"/>
            <a:ext cx="3867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C：子进程监督与信号</a:t>
            </a:r>
          </a:p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Bash：构建与启动</a:t>
            </a:r>
          </a:p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Python：测试和只读适配等辅助</a:t>
            </a:r>
          </a:p>
        </p:txBody>
      </p:sp>
      <p:sp>
        <p:nvSpPr>
          <p:cNvPr id="31" name="解析限于已实现、已测试的声明子集；进程资源控制不等于完整安全沙箱。">
            <a:extLst xmlns:a="http://schemas.openxmlformats.org/drawingml/2006/main">
              <a:ext uri="{FF2B5EF4-FFF2-40B4-BE49-F238E27FC236}">
                <a16:creationId xmlns:a16="http://schemas.microsoft.com/office/drawing/2014/main" id="{3841C3D0-649C-4453-AFA8-1194564E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解析限于已实现、已测试的声明子集；进程资源控制不等于完整安全沙箱。</a:t>
            </a:r>
          </a:p>
        </p:txBody>
      </p:sp>
    </p:spTree>
    <p:extLst>
      <p:ext uri="{BB962C8B-B14F-4D97-AF65-F5344CB8AC3E}">
        <p14:creationId xmlns:p14="http://schemas.microsoft.com/office/powerpoint/2010/main" val="313785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232EB-8CEC-4A22-87BA-BF70BF22A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3c0b2d90b4d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376F35E3-82A3-4288-B854-5466DE18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F56C731D-27EE-4B4D-B508-49CE210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06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0AE2638B-DF8F-4715-BE09-ECE38CA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981700" cy="219075"/>
          </a:xfrm>
          <a:custGeom xmlns:a="http://schemas.openxmlformats.org/drawingml/2006/main">
            <a:pathLst>
              <a:path w="5981700" h="219075">
                <a:moveTo>
                  <a:pt x="0" y="28575"/>
                </a:moveTo>
                <a:lnTo>
                  <a:pt x="5934075" y="0"/>
                </a:lnTo>
                <a:lnTo>
                  <a:pt x="59817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双 SDK 结果：统计与矩阵同时查看">
            <a:extLst xmlns:a="http://schemas.openxmlformats.org/drawingml/2006/main">
              <a:ext uri="{FF2B5EF4-FFF2-40B4-BE49-F238E27FC236}">
                <a16:creationId xmlns:a16="http://schemas.microsoft.com/office/drawing/2014/main" id="{ED060DCF-3CAE-4F89-A964-913BB64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双 SDK 结果：统计与矩阵同时查看</a:t>
            </a:r>
          </a:p>
        </p:txBody>
      </p:sp>
      <p:sp>
        <p:nvSpPr>
          <p:cNvPr id="6" name="14 个登记示例 × 2 个 SDK；仅编译不等于运行通过">
            <a:extLst xmlns:a="http://schemas.openxmlformats.org/drawingml/2006/main">
              <a:ext uri="{FF2B5EF4-FFF2-40B4-BE49-F238E27FC236}">
                <a16:creationId xmlns:a16="http://schemas.microsoft.com/office/drawing/2014/main" id="{AC0EB576-5E59-444F-8F2F-3885D9E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14 个登记示例 × 2 个 SDK；仅编译不等于运行通过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6C9CB40-DC37-40C4-9E80-5371CD7568AE}"/>
              </a:ext>
            </a:extLst>
          </p:cNvPr>
          <p:cNvGraphicFramePr/>
          <p:nvPr/>
        </p:nvGraphicFramePr>
        <p:xfrm>
          <a:off xmlns:a="http://schemas.openxmlformats.org/drawingml/2006/main" x="723900" y="1990725"/>
          <a:ext xmlns:a="http://schemas.openxmlformats.org/drawingml/2006/main" cx="5172075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c6311b857e4e4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8E3F9-EB63-4703-B4FE-F74F995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9775"/>
            <a:ext cx="530542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AE7EB-0739-4CD4-BCDE-529432928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e2c7ccf3d47a8"/>
          <a:srcRect xmlns:a="http://schemas.openxmlformats.org/drawingml/2006/main" l="22500" t="17000" r="2500" b="53000"/>
          <a:stretch xmlns:a="http://schemas.openxmlformats.org/drawingml/2006/main"/>
        </p:blipFill>
        <p:spPr>
          <a:xfrm xmlns:a="http://schemas.openxmlformats.org/drawingml/2006/main">
            <a:off x="6229350" y="2057400"/>
            <a:ext cx="5210175" cy="2466975"/>
          </a:xfrm>
          <a:prstGeom xmlns:a="http://schemas.openxmlformats.org/drawingml/2006/main" prst="rect">
            <a:avLst/>
          </a:prstGeom>
        </p:spPr>
      </p:pic>
      <p:sp>
        <p:nvSpPr>
          <p:cNvPr id="10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9D44CE1-5837-4C5F-BBE2-57E02CC3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9775"/>
            <a:ext cx="5305425" cy="2562225"/>
          </a:xfrm>
          <a:custGeom xmlns:a="http://schemas.openxmlformats.org/drawingml/2006/main">
            <a:pathLst>
              <a:path w="5305425" h="2562225">
                <a:moveTo>
                  <a:pt x="38100" y="28575"/>
                </a:moveTo>
                <a:cubicBezTo>
                  <a:pt x="1485519" y="0"/>
                  <a:pt x="3607689" y="57150"/>
                  <a:pt x="5276850" y="19050"/>
                </a:cubicBezTo>
                <a:cubicBezTo>
                  <a:pt x="5314950" y="717423"/>
                  <a:pt x="5267325" y="1921669"/>
                  <a:pt x="5295900" y="2533650"/>
                </a:cubicBezTo>
                <a:cubicBezTo>
                  <a:pt x="3501581" y="2571750"/>
                  <a:pt x="1538573" y="2524125"/>
                  <a:pt x="19050" y="2552700"/>
                </a:cubicBezTo>
                <a:cubicBezTo>
                  <a:pt x="47625" y="1793557"/>
                  <a:pt x="0" y="76866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06997-F3D5-4CDF-B296-9AA8291E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09775"/>
            <a:ext cx="5305425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实际矩阵节选：按示例和SDK定位，&#10;点开单元格查看日志与期望/实际输出。">
            <a:extLst xmlns:a="http://schemas.openxmlformats.org/drawingml/2006/main">
              <a:ext uri="{FF2B5EF4-FFF2-40B4-BE49-F238E27FC236}">
                <a16:creationId xmlns:a16="http://schemas.microsoft.com/office/drawing/2014/main" id="{7D8A7029-1275-4E41-BEBE-AF18AA9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57725"/>
            <a:ext cx="5219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实际矩阵节选：按示例和SDK定位，</a:t>
            </a:r>
          </a:p>
          <a:p xmlns:a="http://schemas.openxmlformats.org/drawingml/2006/main">
            <a:pPr algn="l">
              <a:def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点开单元格查看日志与期望/实际输出。</a:t>
            </a:r>
          </a:p>
        </p:txBody>
      </p:sp>
      <p:sp>
        <p:nvSpPr>
          <p:cNvPr id="13" name="26 条运行通过 + 2 条仅编译 = 28 条记录">
            <a:extLst xmlns:a="http://schemas.openxmlformats.org/drawingml/2006/main">
              <a:ext uri="{FF2B5EF4-FFF2-40B4-BE49-F238E27FC236}">
                <a16:creationId xmlns:a16="http://schemas.microsoft.com/office/drawing/2014/main" id="{F7D05B55-94B4-4F38-A456-4CEEFA45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52673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26 条运行通过 + 2 条仅编译 = 28 条记录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7D026-CB1F-4437-855F-F01EC4879556}"/>
              </a:ext>
            </a:extLst>
          </p:cNvPr>
          <p:cNvGraphicFramePr/>
          <p:nvPr/>
        </p:nvGraphicFramePr>
        <p:xfrm>
          <a:off xmlns:a="http://schemas.openxmlformats.org/drawingml/2006/main" x="733425" y="5343525"/>
          <a:ext xmlns:a="http://schemas.openxmlformats.org/drawingml/2006/main" cx="10753725" cy="1095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09925"/>
                <a:gridCol w="2600325"/>
                <a:gridCol w="2352675"/>
                <a:gridCol w="2590800"/>
              </a:tblGrid>
              <a:tr h="3651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版本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3651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1.1.3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3651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1.2.0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A9427C4E-854C-4646-A5D6-F79FCAE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10791825" cy="1133475"/>
          </a:xfrm>
          <a:custGeom xmlns:a="http://schemas.openxmlformats.org/drawingml/2006/main">
            <a:pathLst>
              <a:path w="10791825" h="113347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317373"/>
                  <a:pt x="10753725" y="850106"/>
                  <a:pt x="10782300" y="1104900"/>
                </a:cubicBezTo>
                <a:cubicBezTo>
                  <a:pt x="7122605" y="1143000"/>
                  <a:pt x="3129629" y="1095375"/>
                  <a:pt x="19050" y="1123950"/>
                </a:cubicBezTo>
                <a:cubicBezTo>
                  <a:pt x="47625" y="793433"/>
                  <a:pt x="0" y="340042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92BF9-E17D-40D0-A6A2-F42A044C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107918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数量描述当前登记样例，不是项目正确率或全语言覆盖率。">
            <a:extLst xmlns:a="http://schemas.openxmlformats.org/drawingml/2006/main">
              <a:ext uri="{FF2B5EF4-FFF2-40B4-BE49-F238E27FC236}">
                <a16:creationId xmlns:a16="http://schemas.microsoft.com/office/drawing/2014/main" id="{BEBC7F1E-5ABA-43CF-8F24-5BCF3996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53200"/>
            <a:ext cx="1071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数量描述当前登记样例，不是项目正确率或全语言覆盖率。</a:t>
            </a:r>
          </a:p>
        </p:txBody>
      </p:sp>
    </p:spTree>
    <p:extLst>
      <p:ext uri="{BB962C8B-B14F-4D97-AF65-F5344CB8AC3E}">
        <p14:creationId xmlns:p14="http://schemas.microsoft.com/office/powerpoint/2010/main" val="49394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630C0-84D5-412F-AC10-2AE5B3BD5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f8a9a612c40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F2549603-29A9-49BC-8506-E4D5411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D913FFC3-14D2-4A22-BBB4-98DD0B9E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07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D9DFDC4B-BB13-4F4D-BAC7-5FC72CC1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095750" cy="219075"/>
          </a:xfrm>
          <a:custGeom xmlns:a="http://schemas.openxmlformats.org/drawingml/2006/main">
            <a:pathLst>
              <a:path w="4095750" h="219075">
                <a:moveTo>
                  <a:pt x="0" y="28575"/>
                </a:moveTo>
                <a:lnTo>
                  <a:pt x="4048125" y="0"/>
                </a:lnTo>
                <a:lnTo>
                  <a:pt x="40957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当前可用结果，怎样判定？">
            <a:extLst xmlns:a="http://schemas.openxmlformats.org/drawingml/2006/main">
              <a:ext uri="{FF2B5EF4-FFF2-40B4-BE49-F238E27FC236}">
                <a16:creationId xmlns:a16="http://schemas.microsoft.com/office/drawing/2014/main" id="{F9314292-B1B8-4D6C-9D1E-A5C456B4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当前可用结果，怎样判定？</a:t>
            </a:r>
          </a:p>
        </p:txBody>
      </p:sp>
      <p:sp>
        <p:nvSpPr>
          <p:cNvPr id="6" name="查询与导出共用判断规则，保留历史但不回退旧成功">
            <a:extLst xmlns:a="http://schemas.openxmlformats.org/drawingml/2006/main">
              <a:ext uri="{FF2B5EF4-FFF2-40B4-BE49-F238E27FC236}">
                <a16:creationId xmlns:a16="http://schemas.microsoft.com/office/drawing/2014/main" id="{140F9CCD-8ECB-4DC7-B379-D7AF229A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查询与导出共用判断规则，保留历史但不回退旧成功</a:t>
            </a:r>
          </a:p>
        </p:txBody>
      </p:sp>
      <p:sp>
        <p:nvSpPr>
          <p:cNvPr id="7" name="核对六项条件">
            <a:extLst xmlns:a="http://schemas.openxmlformats.org/drawingml/2006/main">
              <a:ext uri="{FF2B5EF4-FFF2-40B4-BE49-F238E27FC236}">
                <a16:creationId xmlns:a16="http://schemas.microsoft.com/office/drawing/2014/main" id="{81C52412-8AC8-4EA7-BE19-18662A6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603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核对六项条件</a:t>
            </a:r>
          </a:p>
        </p:txBody>
      </p:sp>
      <p:sp>
        <p:nvSpPr>
          <p:cNvPr id="8" name="源码 / 配置 / 工具链 / 平台&#10;记录完整性 / 相应环境的最新尝试">
            <a:extLst xmlns:a="http://schemas.openxmlformats.org/drawingml/2006/main">
              <a:ext uri="{FF2B5EF4-FFF2-40B4-BE49-F238E27FC236}">
                <a16:creationId xmlns:a16="http://schemas.microsoft.com/office/drawing/2014/main" id="{62C483F5-5364-48EF-B7BA-82D8FA9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6029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源码 / 配置 / 工具链 / 平台</a:t>
            </a:r>
          </a:p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记录完整性 / 相应环境的最新尝试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B9CB-2263-404C-9060-7DE6B7D94410}"/>
              </a:ext>
            </a:extLst>
          </p:cNvPr>
          <p:cNvGraphicFramePr/>
          <p:nvPr/>
        </p:nvGraphicFramePr>
        <p:xfrm>
          <a:off xmlns:a="http://schemas.openxmlformats.org/drawingml/2006/main" x="733425" y="3629025"/>
          <a:ext xmlns:a="http://schemas.openxmlformats.org/drawingml/2006/main" cx="60960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3762375"/>
              </a:tblGrid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触发情形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当前处理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源码或配置变化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标记需重测，重新执行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最新一次尝试失败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不以较早成功替代失败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2938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或平台不匹配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不跨环境返回有效示例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547D17F-0FA2-4898-A51C-24CF8E69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6134100" cy="2609850"/>
          </a:xfrm>
          <a:custGeom xmlns:a="http://schemas.openxmlformats.org/drawingml/2006/main">
            <a:pathLst>
              <a:path w="6134100" h="2609850">
                <a:moveTo>
                  <a:pt x="38100" y="28575"/>
                </a:moveTo>
                <a:cubicBezTo>
                  <a:pt x="1717548" y="0"/>
                  <a:pt x="4171188" y="57150"/>
                  <a:pt x="6105525" y="19050"/>
                </a:cubicBezTo>
                <a:cubicBezTo>
                  <a:pt x="6143625" y="730758"/>
                  <a:pt x="6096000" y="1957388"/>
                  <a:pt x="6124575" y="2581275"/>
                </a:cubicBezTo>
                <a:cubicBezTo>
                  <a:pt x="4048506" y="2619375"/>
                  <a:pt x="1778889" y="2571750"/>
                  <a:pt x="19050" y="2600325"/>
                </a:cubicBezTo>
                <a:cubicBezTo>
                  <a:pt x="47625" y="1826895"/>
                  <a:pt x="0" y="782955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7BE8B-14DD-4533-9680-2A317E03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61341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历史保留，当前另行判断">
            <a:extLst xmlns:a="http://schemas.openxmlformats.org/drawingml/2006/main">
              <a:ext uri="{FF2B5EF4-FFF2-40B4-BE49-F238E27FC236}">
                <a16:creationId xmlns:a16="http://schemas.microsoft.com/office/drawing/2014/main" id="{9AA8042E-EB51-4B49-9135-4051ED1C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85975"/>
            <a:ext cx="43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历史保留，当前另行判断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5A244-5D60-4044-8681-7644D3E9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3624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BD485-5F90-4790-8752-678C7A472B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996eb8c574459"/>
          <a:srcRect xmlns:a="http://schemas.openxmlformats.org/drawingml/2006/main" l="22500" t="38000" r="2500" b="2000"/>
          <a:stretch xmlns:a="http://schemas.openxmlformats.org/drawingml/2006/main"/>
        </p:blipFill>
        <p:spPr>
          <a:xfrm xmlns:a="http://schemas.openxmlformats.org/drawingml/2006/main">
            <a:off x="7172325" y="2714625"/>
            <a:ext cx="4267200" cy="2238375"/>
          </a:xfrm>
          <a:prstGeom xmlns:a="http://schemas.openxmlformats.org/drawingml/2006/main" prst="rect">
            <a:avLst/>
          </a:prstGeom>
        </p:spPr>
      </p:pic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9037746-0AE0-4D38-99F5-8870CD0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362450" cy="2333625"/>
          </a:xfrm>
          <a:custGeom xmlns:a="http://schemas.openxmlformats.org/drawingml/2006/main">
            <a:pathLst>
              <a:path w="4362450" h="2333625">
                <a:moveTo>
                  <a:pt x="38100" y="28575"/>
                </a:moveTo>
                <a:cubicBezTo>
                  <a:pt x="1221486" y="0"/>
                  <a:pt x="2966466" y="57150"/>
                  <a:pt x="4333875" y="19050"/>
                </a:cubicBezTo>
                <a:cubicBezTo>
                  <a:pt x="4371975" y="653415"/>
                  <a:pt x="4324350" y="1750219"/>
                  <a:pt x="4352925" y="2305050"/>
                </a:cubicBezTo>
                <a:cubicBezTo>
                  <a:pt x="2879217" y="2343150"/>
                  <a:pt x="1265111" y="2295525"/>
                  <a:pt x="19050" y="2324100"/>
                </a:cubicBezTo>
                <a:cubicBezTo>
                  <a:pt x="47625" y="1633538"/>
                  <a:pt x="0" y="70008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8E36A-9EF1-4B1D-A0FA-AB445E7A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3624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739 条历史完整保留&#10;列表不直接代表当前结果&#10;导出前仍校验当前输入与环境">
            <a:extLst xmlns:a="http://schemas.openxmlformats.org/drawingml/2006/main">
              <a:ext uri="{FF2B5EF4-FFF2-40B4-BE49-F238E27FC236}">
                <a16:creationId xmlns:a16="http://schemas.microsoft.com/office/drawing/2014/main" id="{6403A485-F782-432D-9424-829DBA64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57800"/>
            <a:ext cx="42767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739 条历史完整保留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列表不直接代表当前结果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导出前仍校验当前输入与环境</a:t>
            </a:r>
          </a:p>
        </p:txBody>
      </p:sp>
      <p:sp>
        <p:nvSpPr>
          <p:cNvPr id="18" name="输出检查只覆盖登记的受测行为，不能据一次成功推断所有输入都正确。">
            <a:extLst xmlns:a="http://schemas.openxmlformats.org/drawingml/2006/main">
              <a:ext uri="{FF2B5EF4-FFF2-40B4-BE49-F238E27FC236}">
                <a16:creationId xmlns:a16="http://schemas.microsoft.com/office/drawing/2014/main" id="{7B50A827-9D19-418F-BAFB-F5E6E07F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输出检查只覆盖登记的受测行为，不能据一次成功推断所有输入都正确。</a:t>
            </a:r>
          </a:p>
        </p:txBody>
      </p:sp>
    </p:spTree>
    <p:extLst>
      <p:ext uri="{BB962C8B-B14F-4D97-AF65-F5344CB8AC3E}">
        <p14:creationId xmlns:p14="http://schemas.microsoft.com/office/powerpoint/2010/main" val="93858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4CF94-10DB-44EA-94A8-37AE555A3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84f8ccfe94d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13B94E6F-04E0-4E0B-B630-C8AF22EC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3CBB7272-96A5-47F1-BAFF-8066666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08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870716BC-4A9B-4CD1-ABE7-869576F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038725" cy="219075"/>
          </a:xfrm>
          <a:custGeom xmlns:a="http://schemas.openxmlformats.org/drawingml/2006/main">
            <a:pathLst>
              <a:path w="5038725" h="219075">
                <a:moveTo>
                  <a:pt x="0" y="28575"/>
                </a:moveTo>
                <a:lnTo>
                  <a:pt x="4991100" y="0"/>
                </a:lnTo>
                <a:lnTo>
                  <a:pt x="50387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链接检查：发现问题，也解释原因">
            <a:extLst xmlns:a="http://schemas.openxmlformats.org/drawingml/2006/main">
              <a:ext uri="{FF2B5EF4-FFF2-40B4-BE49-F238E27FC236}">
                <a16:creationId xmlns:a16="http://schemas.microsoft.com/office/drawing/2014/main" id="{EB077077-98C7-48E9-87BF-0A03B553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链接检查：发现问题，也解释原因</a:t>
            </a:r>
          </a:p>
        </p:txBody>
      </p:sp>
      <p:sp>
        <p:nvSpPr>
          <p:cNvPr id="6" name="保留来源、行号、原始目标与失败原因；两组样例分开统计">
            <a:extLst xmlns:a="http://schemas.openxmlformats.org/drawingml/2006/main">
              <a:ext uri="{FF2B5EF4-FFF2-40B4-BE49-F238E27FC236}">
                <a16:creationId xmlns:a16="http://schemas.microsoft.com/office/drawing/2014/main" id="{2E5C5891-2713-46DC-A5D8-A91AFB3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保留来源、行号、原始目标与失败原因；两组样例分开统计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4FA12-B9C2-4F5F-9E23-A4F2A73DE69C}"/>
              </a:ext>
            </a:extLst>
          </p:cNvPr>
          <p:cNvGraphicFramePr/>
          <p:nvPr/>
        </p:nvGraphicFramePr>
        <p:xfrm>
          <a:off xmlns:a="http://schemas.openxmlformats.org/drawingml/2006/main" x="733425" y="2076450"/>
          <a:ext xmlns:a="http://schemas.openxmlformats.org/drawingml/2006/main" cx="10753725" cy="2105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4100"/>
                <a:gridCol w="4914900"/>
                <a:gridCol w="3514725"/>
              </a:tblGrid>
              <a:tr h="70167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原始目标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检查结果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70167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README.md:13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docs/intentionally-missing.md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目标文件不存在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0167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README.md:14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docs/target%20file.md</a:t>
                      </a:r>
                    </a:p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#escaped-ghost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目标标题或锚点不存在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23A3768-D7FE-4B4F-A667-28E927C6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10791825" cy="2143125"/>
          </a:xfrm>
          <a:custGeom xmlns:a="http://schemas.openxmlformats.org/drawingml/2006/main">
            <a:pathLst>
              <a:path w="10791825" h="214312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600075"/>
                  <a:pt x="10753725" y="1607344"/>
                  <a:pt x="10782300" y="2114550"/>
                </a:cubicBezTo>
                <a:cubicBezTo>
                  <a:pt x="7122605" y="2152650"/>
                  <a:pt x="3129629" y="2105025"/>
                  <a:pt x="19050" y="2133600"/>
                </a:cubicBezTo>
                <a:cubicBezTo>
                  <a:pt x="47625" y="1500188"/>
                  <a:pt x="0" y="64293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1F2F2-8555-4450-BB7A-A0CDAC9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107918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4218-9DDE-4E35-8316-37A5465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9721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2C317-56C3-4DF5-8211-8AFA18781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c79d0e1d74429"/>
          <a:srcRect xmlns:a="http://schemas.openxmlformats.org/drawingml/2006/main" l="22500" t="36500" r="2500" b="36500"/>
          <a:stretch xmlns:a="http://schemas.openxmlformats.org/drawingml/2006/main"/>
        </p:blipFill>
        <p:spPr>
          <a:xfrm xmlns:a="http://schemas.openxmlformats.org/drawingml/2006/main">
            <a:off x="781050" y="4581525"/>
            <a:ext cx="5876925" cy="1647825"/>
          </a:xfrm>
          <a:prstGeom xmlns:a="http://schemas.openxmlformats.org/drawingml/2006/main" prst="rect">
            <a:avLst/>
          </a:prstGeom>
        </p:spPr>
      </p:pic>
      <p:sp>
        <p:nvSpPr>
          <p:cNvPr id="12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8334DF1-AF2B-45AB-81B2-788BDA2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972175" cy="1743075"/>
          </a:xfrm>
          <a:custGeom xmlns:a="http://schemas.openxmlformats.org/drawingml/2006/main">
            <a:pathLst>
              <a:path w="5972175" h="1743075">
                <a:moveTo>
                  <a:pt x="38100" y="28575"/>
                </a:moveTo>
                <a:cubicBezTo>
                  <a:pt x="1672209" y="0"/>
                  <a:pt x="4061079" y="57150"/>
                  <a:pt x="5943600" y="19050"/>
                </a:cubicBezTo>
                <a:cubicBezTo>
                  <a:pt x="5981700" y="488061"/>
                  <a:pt x="5934075" y="1307306"/>
                  <a:pt x="5962650" y="1714500"/>
                </a:cubicBezTo>
                <a:cubicBezTo>
                  <a:pt x="3941636" y="1752600"/>
                  <a:pt x="1731931" y="1704975"/>
                  <a:pt x="19050" y="1733550"/>
                </a:cubicBezTo>
                <a:cubicBezTo>
                  <a:pt x="47625" y="1220153"/>
                  <a:pt x="0" y="52292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96A70-668F-40C1-A458-0A72A55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59721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本地文件 / 锚点 / 索引链接">
            <a:extLst xmlns:a="http://schemas.openxmlformats.org/drawingml/2006/main">
              <a:ext uri="{FF2B5EF4-FFF2-40B4-BE49-F238E27FC236}">
                <a16:creationId xmlns:a16="http://schemas.microsoft.com/office/drawing/2014/main" id="{A89F36CC-C268-48D9-BB37-A6C00E6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381500"/>
            <a:ext cx="4410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本地文件 / 锚点 / 索引链接</a:t>
            </a:r>
          </a:p>
        </p:txBody>
      </p:sp>
      <p:sp>
        <p:nvSpPr>
          <p:cNvPr id="15" name="URL解码后定位文件与标题；&#10;HTML索引与Markdown链接分别检查。&#10;专项：23通过 / 2失">
            <a:extLst xmlns:a="http://schemas.openxmlformats.org/drawingml/2006/main">
              <a:ext uri="{FF2B5EF4-FFF2-40B4-BE49-F238E27FC236}">
                <a16:creationId xmlns:a16="http://schemas.microsoft.com/office/drawing/2014/main" id="{52B6FBA9-299B-4D83-AC8A-632AE77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76800"/>
            <a:ext cx="43624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URL解码后定位文件与标题；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HTML索引与Markdown链接分别检查。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专项：23通过 / 2失败 / 1未确认。</a:t>
            </a:r>
          </a:p>
          <a:p xmlns:a="http://schemas.openxmlformats.org/drawingml/2006/main">
            <a:pPr algn="l">
              <a:def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健康工作区：178条通过（另计）。</a:t>
            </a:r>
          </a:p>
        </p:txBody>
      </p:sp>
      <p:sp>
        <p:nvSpPr>
          <p:cNvPr id="16" name="两处预置坏链导致严格检查退出1，符合预期；离线外链保持未确认。">
            <a:extLst xmlns:a="http://schemas.openxmlformats.org/drawingml/2006/main">
              <a:ext uri="{FF2B5EF4-FFF2-40B4-BE49-F238E27FC236}">
                <a16:creationId xmlns:a16="http://schemas.microsoft.com/office/drawing/2014/main" id="{279492BE-9ACA-4430-B1ED-C2DC628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0557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两处预置坏链导致严格检查退出1，符合预期；离线外链保持未确认。</a:t>
            </a:r>
          </a:p>
        </p:txBody>
      </p:sp>
    </p:spTree>
    <p:extLst>
      <p:ext uri="{BB962C8B-B14F-4D97-AF65-F5344CB8AC3E}">
        <p14:creationId xmlns:p14="http://schemas.microsoft.com/office/powerpoint/2010/main" val="1730364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487D4-DD6D-40EB-9383-84C038A0E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97f91db5147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DDAF4A65-C9B7-4D28-823F-42BAB23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5111790D-C0F3-46A1-AB9F-E518930E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09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3A080B78-829D-48BC-B587-C8ED852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981700" cy="219075"/>
          </a:xfrm>
          <a:custGeom xmlns:a="http://schemas.openxmlformats.org/drawingml/2006/main">
            <a:pathLst>
              <a:path w="5981700" h="219075">
                <a:moveTo>
                  <a:pt x="0" y="28575"/>
                </a:moveTo>
                <a:lnTo>
                  <a:pt x="5934075" y="0"/>
                </a:lnTo>
                <a:lnTo>
                  <a:pt x="59817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近期工程优化：控件、任务与长期工作区">
            <a:extLst xmlns:a="http://schemas.openxmlformats.org/drawingml/2006/main">
              <a:ext uri="{FF2B5EF4-FFF2-40B4-BE49-F238E27FC236}">
                <a16:creationId xmlns:a16="http://schemas.microsoft.com/office/drawing/2014/main" id="{42126525-DED9-4A13-B19E-B36588E2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近期工程优化：控件、任务与长期工作区</a:t>
            </a:r>
          </a:p>
        </p:txBody>
      </p:sp>
      <p:sp>
        <p:nvSpPr>
          <p:cNvPr id="6" name="原生仓颉服务；查询与导出统一校验；链接与控件回归">
            <a:extLst xmlns:a="http://schemas.openxmlformats.org/drawingml/2006/main">
              <a:ext uri="{FF2B5EF4-FFF2-40B4-BE49-F238E27FC236}">
                <a16:creationId xmlns:a16="http://schemas.microsoft.com/office/drawing/2014/main" id="{7C59F922-4CEC-4E53-A496-2142DDC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原生仓颉服务；查询与导出统一校验；链接与控件回归</a:t>
            </a:r>
          </a:p>
        </p:txBody>
      </p:sp>
      <p:sp>
        <p:nvSpPr>
          <p:cNvPr id="7" name="控件与条件">
            <a:extLst xmlns:a="http://schemas.openxmlformats.org/drawingml/2006/main">
              <a:ext uri="{FF2B5EF4-FFF2-40B4-BE49-F238E27FC236}">
                <a16:creationId xmlns:a16="http://schemas.microsoft.com/office/drawing/2014/main" id="{14393EE5-35A8-4A05-9D79-11A32C15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574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控件与条件</a:t>
            </a:r>
          </a:p>
        </p:txBody>
      </p:sp>
      <p:sp>
        <p:nvSpPr>
          <p:cNvPr id="8" name="任务状态与进度">
            <a:extLst xmlns:a="http://schemas.openxmlformats.org/drawingml/2006/main">
              <a:ext uri="{FF2B5EF4-FFF2-40B4-BE49-F238E27FC236}">
                <a16:creationId xmlns:a16="http://schemas.microsoft.com/office/drawing/2014/main" id="{FC0C2031-5123-4B71-A248-63530DE2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4752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任务状态与进度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8C57B-0706-44A0-89AE-F023BEC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714625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605F2-0BCA-4F27-8AD6-218AE62B4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499ae26774d43"/>
          <a:srcRect xmlns:a="http://schemas.openxmlformats.org/drawingml/2006/main" l="20000" t="1500" r="60500" b="75500"/>
          <a:stretch xmlns:a="http://schemas.openxmlformats.org/drawingml/2006/main"/>
        </p:blipFill>
        <p:spPr>
          <a:xfrm xmlns:a="http://schemas.openxmlformats.org/drawingml/2006/main">
            <a:off x="790575" y="2628900"/>
            <a:ext cx="2619375" cy="1990725"/>
          </a:xfrm>
          <a:prstGeom xmlns:a="http://schemas.openxmlformats.org/drawingml/2006/main" prst="rect">
            <a:avLst/>
          </a:prstGeom>
        </p:spPr>
      </p:pic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7DD044E2-0DB7-4DB5-9E42-DF9848A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714625" cy="2085975"/>
          </a:xfrm>
          <a:custGeom xmlns:a="http://schemas.openxmlformats.org/drawingml/2006/main">
            <a:pathLst>
              <a:path w="2714625" h="2085975">
                <a:moveTo>
                  <a:pt x="38100" y="28575"/>
                </a:moveTo>
                <a:cubicBezTo>
                  <a:pt x="760095" y="0"/>
                  <a:pt x="1845945" y="57150"/>
                  <a:pt x="2686050" y="19050"/>
                </a:cubicBezTo>
                <a:cubicBezTo>
                  <a:pt x="2724150" y="584073"/>
                  <a:pt x="2676525" y="1564481"/>
                  <a:pt x="2705100" y="2057400"/>
                </a:cubicBezTo>
                <a:cubicBezTo>
                  <a:pt x="1791653" y="2095500"/>
                  <a:pt x="787241" y="2047875"/>
                  <a:pt x="19050" y="2076450"/>
                </a:cubicBezTo>
                <a:cubicBezTo>
                  <a:pt x="47625" y="1460182"/>
                  <a:pt x="0" y="62579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7E1D-AAE3-49CF-A907-D9CCA73A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27146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实际项目选项&#10;SDK与平台条件联动&#10;禁用与忙碌反馈&#10;键盘选择和空态">
            <a:extLst xmlns:a="http://schemas.openxmlformats.org/drawingml/2006/main">
              <a:ext uri="{FF2B5EF4-FFF2-40B4-BE49-F238E27FC236}">
                <a16:creationId xmlns:a16="http://schemas.microsoft.com/office/drawing/2014/main" id="{B103A76A-2192-40DC-B17D-54D6C1B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28900"/>
            <a:ext cx="2247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实际项目选项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SDK与平台条件联动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禁用与忙碌反馈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键盘选择和空态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425E-534C-45E6-8D4D-6EEB2F3B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475297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B7FAF-1B0F-4AAE-87E1-A1F44642A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a134f9b9545a2"/>
          <a:srcRect xmlns:a="http://schemas.openxmlformats.org/drawingml/2006/main" l="5500" t="40000" r="4000" b="23500"/>
          <a:stretch xmlns:a="http://schemas.openxmlformats.org/drawingml/2006/main"/>
        </p:blipFill>
        <p:spPr>
          <a:xfrm xmlns:a="http://schemas.openxmlformats.org/drawingml/2006/main">
            <a:off x="6772275" y="2628900"/>
            <a:ext cx="4657725" cy="1609725"/>
          </a:xfrm>
          <a:prstGeom xmlns:a="http://schemas.openxmlformats.org/drawingml/2006/main" prst="rect">
            <a:avLst/>
          </a:prstGeom>
        </p:spPr>
      </p:pic>
      <p:sp>
        <p:nvSpPr>
          <p:cNvPr id="16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56D3E20-D581-4C1B-ACE0-8D1FD3DF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4752975" cy="1704975"/>
          </a:xfrm>
          <a:custGeom xmlns:a="http://schemas.openxmlformats.org/drawingml/2006/main">
            <a:pathLst>
              <a:path w="4752975" h="1704975">
                <a:moveTo>
                  <a:pt x="38100" y="28575"/>
                </a:moveTo>
                <a:cubicBezTo>
                  <a:pt x="1330833" y="0"/>
                  <a:pt x="3232023" y="57150"/>
                  <a:pt x="4724400" y="19050"/>
                </a:cubicBezTo>
                <a:cubicBezTo>
                  <a:pt x="4762500" y="477393"/>
                  <a:pt x="4714875" y="1278731"/>
                  <a:pt x="4743450" y="1676400"/>
                </a:cubicBezTo>
                <a:cubicBezTo>
                  <a:pt x="3136964" y="1714500"/>
                  <a:pt x="1378363" y="1666875"/>
                  <a:pt x="19050" y="1695450"/>
                </a:cubicBezTo>
                <a:cubicBezTo>
                  <a:pt x="47625" y="1193483"/>
                  <a:pt x="0" y="511492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0B9B3-9517-44F8-8A0D-EBE88662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81275"/>
            <a:ext cx="475297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实际运行画面（准备阶段）。&#10;无数量进度时显示状态条，&#10;结束后再展示返回结果。">
            <a:extLst xmlns:a="http://schemas.openxmlformats.org/drawingml/2006/main">
              <a:ext uri="{FF2B5EF4-FFF2-40B4-BE49-F238E27FC236}">
                <a16:creationId xmlns:a16="http://schemas.microsoft.com/office/drawing/2014/main" id="{77A09A91-E137-4AF7-844B-9DEFB3FB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67225"/>
            <a:ext cx="4648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实际运行画面（准备阶段）。</a:t>
            </a:r>
          </a:p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无数量进度时显示状态条，</a:t>
            </a:r>
          </a:p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结束后再展示返回结果。</a:t>
            </a:r>
          </a:p>
        </p:txBody>
      </p:sp>
      <p:sp>
        <p:nvSpPr>
          <p:cNvPr id="19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8F1AF69D-2B8E-46EC-B9F9-AB1F660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87050" cy="76200"/>
          </a:xfrm>
          <a:custGeom xmlns:a="http://schemas.openxmlformats.org/drawingml/2006/main">
            <a:pathLst>
              <a:path w="10687050" h="76200">
                <a:moveTo>
                  <a:pt x="9525" y="38100"/>
                </a:moveTo>
                <a:cubicBezTo>
                  <a:pt x="2992374" y="0"/>
                  <a:pt x="6732842" y="76200"/>
                  <a:pt x="10677525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23">
            <a:extLst xmlns:a="http://schemas.openxmlformats.org/drawingml/2006/main">
              <a:ext uri="{FF2B5EF4-FFF2-40B4-BE49-F238E27FC236}">
                <a16:creationId xmlns:a16="http://schemas.microsoft.com/office/drawing/2014/main" id="{C8159246-4677-491D-81F3-1619144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23</a:t>
            </a:r>
          </a:p>
        </p:txBody>
      </p:sp>
      <p:sp>
        <p:nvSpPr>
          <p:cNvPr id="21" name="原生 HTTP 专项&#10;回归通过">
            <a:extLst xmlns:a="http://schemas.openxmlformats.org/drawingml/2006/main">
              <a:ext uri="{FF2B5EF4-FFF2-40B4-BE49-F238E27FC236}">
                <a16:creationId xmlns:a16="http://schemas.microsoft.com/office/drawing/2014/main" id="{3D6F9E1E-7B2F-478C-A27F-7D447CB3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原生 HTTP 专项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回归通过</a:t>
            </a:r>
          </a:p>
        </p:txBody>
      </p:sp>
      <p:sp>
        <p:nvSpPr>
          <p:cNvPr id="22" name="20">
            <a:extLst xmlns:a="http://schemas.openxmlformats.org/drawingml/2006/main">
              <a:ext uri="{FF2B5EF4-FFF2-40B4-BE49-F238E27FC236}">
                <a16:creationId xmlns:a16="http://schemas.microsoft.com/office/drawing/2014/main" id="{FDF8DCBD-162A-4313-89F6-45404E17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20</a:t>
            </a:r>
          </a:p>
        </p:txBody>
      </p:sp>
      <p:sp>
        <p:nvSpPr>
          <p:cNvPr id="23" name="页面场景&#10;及交互回归">
            <a:extLst xmlns:a="http://schemas.openxmlformats.org/drawingml/2006/main">
              <a:ext uri="{FF2B5EF4-FFF2-40B4-BE49-F238E27FC236}">
                <a16:creationId xmlns:a16="http://schemas.microsoft.com/office/drawing/2014/main" id="{879CD432-61E4-449C-987E-5E6B9D05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页面场景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及交互回归</a:t>
            </a:r>
          </a:p>
        </p:txBody>
      </p:sp>
      <p:sp>
        <p:nvSpPr>
          <p:cNvPr id="24" name="30">
            <a:extLst xmlns:a="http://schemas.openxmlformats.org/drawingml/2006/main">
              <a:ext uri="{FF2B5EF4-FFF2-40B4-BE49-F238E27FC236}">
                <a16:creationId xmlns:a16="http://schemas.microsoft.com/office/drawing/2014/main" id="{4221F160-1DEB-4568-B78E-73CB0D6D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30</a:t>
            </a:r>
          </a:p>
        </p:txBody>
      </p:sp>
      <p:sp>
        <p:nvSpPr>
          <p:cNvPr id="25" name="三档十页&#10;布局检查">
            <a:extLst xmlns:a="http://schemas.openxmlformats.org/drawingml/2006/main">
              <a:ext uri="{FF2B5EF4-FFF2-40B4-BE49-F238E27FC236}">
                <a16:creationId xmlns:a16="http://schemas.microsoft.com/office/drawing/2014/main" id="{F0ABE330-60BE-4733-B320-2C623088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三档十页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布局检查</a:t>
            </a:r>
          </a:p>
        </p:txBody>
      </p:sp>
      <p:sp>
        <p:nvSpPr>
          <p:cNvPr id="26" name="739">
            <a:extLst xmlns:a="http://schemas.openxmlformats.org/drawingml/2006/main">
              <a:ext uri="{FF2B5EF4-FFF2-40B4-BE49-F238E27FC236}">
                <a16:creationId xmlns:a16="http://schemas.microsoft.com/office/drawing/2014/main" id="{D6298E16-45EB-4B3C-85D9-DCE4605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0545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pPr>
            <a:r>
              <a:rPr sz="3525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rPr>
              <a:t>739</a:t>
            </a:r>
          </a:p>
        </p:txBody>
      </p:sp>
      <p:sp>
        <p:nvSpPr>
          <p:cNvPr id="27" name="历史记录完整保留&#10;任务默认堆上限1GB">
            <a:extLst xmlns:a="http://schemas.openxmlformats.org/drawingml/2006/main">
              <a:ext uri="{FF2B5EF4-FFF2-40B4-BE49-F238E27FC236}">
                <a16:creationId xmlns:a16="http://schemas.microsoft.com/office/drawing/2014/main" id="{1DF8A26B-CAE2-4218-BFFF-1C4CE8CB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115050"/>
            <a:ext cx="2514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历史记录完整保留</a:t>
            </a:r>
          </a:p>
          <a:p xmlns:a="http://schemas.openxmlformats.org/drawingml/2006/main">
            <a:pPr algn="l">
              <a:def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任务默认堆上限1GB</a:t>
            </a:r>
          </a:p>
        </p:txBody>
      </p:sp>
    </p:spTree>
    <p:extLst>
      <p:ext uri="{BB962C8B-B14F-4D97-AF65-F5344CB8AC3E}">
        <p14:creationId xmlns:p14="http://schemas.microsoft.com/office/powerpoint/2010/main" val="1262389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A93F0-6935-4C61-982D-DFD7190F8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f518b34494c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50C75A40-1493-400A-8269-61060E8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6D15FEF1-AEE8-418B-99C0-5D2C1D2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10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2CAEE5B8-C339-4DB2-8AE4-CB6080B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67100" cy="219075"/>
          </a:xfrm>
          <a:custGeom xmlns:a="http://schemas.openxmlformats.org/drawingml/2006/main">
            <a:pathLst>
              <a:path w="3467100" h="219075">
                <a:moveTo>
                  <a:pt x="0" y="28575"/>
                </a:moveTo>
                <a:lnTo>
                  <a:pt x="3419475" y="0"/>
                </a:lnTo>
                <a:lnTo>
                  <a:pt x="34671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交付、复现与持续维护">
            <a:extLst xmlns:a="http://schemas.openxmlformats.org/drawingml/2006/main">
              <a:ext uri="{FF2B5EF4-FFF2-40B4-BE49-F238E27FC236}">
                <a16:creationId xmlns:a16="http://schemas.microsoft.com/office/drawing/2014/main" id="{44EF92A5-2724-4636-B779-805111C0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交付、复现与持续维护</a:t>
            </a:r>
          </a:p>
        </p:txBody>
      </p:sp>
      <p:sp>
        <p:nvSpPr>
          <p:cNvPr id="6" name="交付的不只是页面，也有可检索文档、测试记录与可重建示例">
            <a:extLst xmlns:a="http://schemas.openxmlformats.org/drawingml/2006/main">
              <a:ext uri="{FF2B5EF4-FFF2-40B4-BE49-F238E27FC236}">
                <a16:creationId xmlns:a16="http://schemas.microsoft.com/office/drawing/2014/main" id="{CD8D4E52-B8F6-4F8C-A43E-E0E57728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交付的不只是页面，也有可检索文档、测试记录与可重建示例</a:t>
            </a:r>
          </a:p>
        </p:txBody>
      </p:sp>
      <p:sp>
        <p:nvSpPr>
          <p:cNvPr id="7" name="维护者拿到什么？">
            <a:extLst xmlns:a="http://schemas.openxmlformats.org/drawingml/2006/main">
              <a:ext uri="{FF2B5EF4-FFF2-40B4-BE49-F238E27FC236}">
                <a16:creationId xmlns:a16="http://schemas.microsoft.com/office/drawing/2014/main" id="{65432BDB-A2C8-47CE-AEAD-9D93DA56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维护者拿到什么？</a:t>
            </a:r>
          </a:p>
        </p:txBody>
      </p:sp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AD341F6D-970E-4F3C-9F5F-F38E136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5143500" cy="2105025"/>
          </a:xfrm>
          <a:custGeom xmlns:a="http://schemas.openxmlformats.org/drawingml/2006/main">
            <a:pathLst>
              <a:path w="5143500" h="2105025">
                <a:moveTo>
                  <a:pt x="38100" y="28575"/>
                </a:moveTo>
                <a:cubicBezTo>
                  <a:pt x="1440180" y="0"/>
                  <a:pt x="3497580" y="57150"/>
                  <a:pt x="5114925" y="19050"/>
                </a:cubicBezTo>
                <a:cubicBezTo>
                  <a:pt x="5153025" y="589407"/>
                  <a:pt x="5105400" y="1578769"/>
                  <a:pt x="5133975" y="2076450"/>
                </a:cubicBezTo>
                <a:cubicBezTo>
                  <a:pt x="3394710" y="2114550"/>
                  <a:pt x="1491615" y="2066925"/>
                  <a:pt x="19050" y="2095500"/>
                </a:cubicBezTo>
                <a:cubicBezTo>
                  <a:pt x="47625" y="1473518"/>
                  <a:pt x="0" y="63150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24CFE-50AB-4EF2-ABEB-00555F0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5143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示例 ZIP 包&#10;├─ examples/.../arithmetic.cj&#10;├─ src/...（">
            <a:extLst xmlns:a="http://schemas.openxmlformats.org/drawingml/2006/main">
              <a:ext uri="{FF2B5EF4-FFF2-40B4-BE49-F238E27FC236}">
                <a16:creationId xmlns:a16="http://schemas.microsoft.com/office/drawing/2014/main" id="{8F21C6EA-4A6D-4E02-8983-05EBAB8A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90825"/>
            <a:ext cx="477202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示例 ZIP 包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├─ examples/.../arithmetic.cj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├─ src/...（关联编译单元）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├─ manifest.json（环境与检查）</a:t>
            </a:r>
          </a:p>
          <a:p xmlns:a="http://schemas.openxmlformats.org/drawingml/2006/main">
            <a:pPr algn="l">
              <a:def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└─ build.sh / README.md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F79FC-73E4-4D95-BBC2-8115653B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530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21B83-C657-4604-B833-A993D9C5D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1753385f64c9e"/>
          <a:srcRect xmlns:a="http://schemas.openxmlformats.org/drawingml/2006/main" l="22500" t="36500" r="2500" b="39000"/>
          <a:stretch xmlns:a="http://schemas.openxmlformats.org/drawingml/2006/main"/>
        </p:blipFill>
        <p:spPr>
          <a:xfrm xmlns:a="http://schemas.openxmlformats.org/drawingml/2006/main">
            <a:off x="6372225" y="2133600"/>
            <a:ext cx="5057775" cy="2476500"/>
          </a:xfrm>
          <a:prstGeom xmlns:a="http://schemas.openxmlformats.org/drawingml/2006/main" prst="rect">
            <a:avLst/>
          </a:prstGeom>
        </p:spPr>
      </p:pic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E08C06D8-C5B8-440D-A63B-5AC9B9F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53025" cy="2571750"/>
          </a:xfrm>
          <a:custGeom xmlns:a="http://schemas.openxmlformats.org/drawingml/2006/main">
            <a:pathLst>
              <a:path w="5153025" h="2571750">
                <a:moveTo>
                  <a:pt x="38100" y="28575"/>
                </a:moveTo>
                <a:cubicBezTo>
                  <a:pt x="1442847" y="0"/>
                  <a:pt x="3504057" y="57150"/>
                  <a:pt x="5124450" y="19050"/>
                </a:cubicBezTo>
                <a:cubicBezTo>
                  <a:pt x="5162550" y="720090"/>
                  <a:pt x="5114925" y="1928813"/>
                  <a:pt x="5143500" y="2543175"/>
                </a:cubicBezTo>
                <a:cubicBezTo>
                  <a:pt x="3400997" y="2581275"/>
                  <a:pt x="1494377" y="2533650"/>
                  <a:pt x="19050" y="2562225"/>
                </a:cubicBezTo>
                <a:cubicBezTo>
                  <a:pt x="47625" y="1800225"/>
                  <a:pt x="0" y="771525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89C01-2831-400B-86F5-446A1A1D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530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网页审阅并保存登记源码；&#10;保存须校验文件版本、路径并明确确认。">
            <a:extLst xmlns:a="http://schemas.openxmlformats.org/drawingml/2006/main">
              <a:ext uri="{FF2B5EF4-FFF2-40B4-BE49-F238E27FC236}">
                <a16:creationId xmlns:a16="http://schemas.microsoft.com/office/drawing/2014/main" id="{C1D65C04-D7FE-4FF2-87B6-73D55CFD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076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网页审阅并保存登记源码；</a:t>
            </a:r>
          </a:p>
          <a:p xmlns:a="http://schemas.openxmlformats.org/drawingml/2006/main">
            <a:pPr algn="l">
              <a:def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保存须校验文件版本、路径并明确确认。</a:t>
            </a:r>
          </a:p>
        </p:txBody>
      </p:sp>
      <p:sp>
        <p:nvSpPr>
          <p:cNvPr id="16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129972AD-C5A1-436F-BC08-8B48920B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5086350" cy="257175"/>
          </a:xfrm>
          <a:custGeom xmlns:a="http://schemas.openxmlformats.org/drawingml/2006/main">
            <a:pathLst>
              <a:path w="5086350" h="257175">
                <a:moveTo>
                  <a:pt x="0" y="28575"/>
                </a:moveTo>
                <a:lnTo>
                  <a:pt x="5038725" y="0"/>
                </a:lnTo>
                <a:lnTo>
                  <a:pt x="5086350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固定功能源码：068a22a">
            <a:extLst xmlns:a="http://schemas.openxmlformats.org/drawingml/2006/main">
              <a:ext uri="{FF2B5EF4-FFF2-40B4-BE49-F238E27FC236}">
                <a16:creationId xmlns:a16="http://schemas.microsoft.com/office/drawing/2014/main" id="{7ADC4A32-DA6D-492F-AEA4-9C7C0442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00650"/>
            <a:ext cx="5095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5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固定功能源码：068a22a</a:t>
            </a:r>
          </a:p>
        </p:txBody>
      </p:sp>
      <p:sp>
        <p:nvSpPr>
          <p:cNvPr id="18" name="按运行指南准备双SDK与兼容系统SDK，&#10;构建原生服务后从本机8765端口打开。">
            <a:extLst xmlns:a="http://schemas.openxmlformats.org/drawingml/2006/main">
              <a:ext uri="{FF2B5EF4-FFF2-40B4-BE49-F238E27FC236}">
                <a16:creationId xmlns:a16="http://schemas.microsoft.com/office/drawing/2014/main" id="{576494C7-7E79-4AF0-A831-71FF323F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5105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按运行指南准备双SDK与兼容系统SDK，</a:t>
            </a:r>
          </a:p>
          <a:p xmlns:a="http://schemas.openxmlformats.org/drawingml/2006/main">
            <a:pPr algn="l">
              <a:def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构建原生服务后从本机8765端口打开。</a:t>
            </a:r>
          </a:p>
        </p:txBody>
      </p:sp>
      <p:sp>
        <p:nvSpPr>
          <p:cNvPr id="19" name="价值：接口、示例和版本结果共同维护。&#10;当前完整实测：macOS arm64。">
            <a:extLst xmlns:a="http://schemas.openxmlformats.org/drawingml/2006/main">
              <a:ext uri="{FF2B5EF4-FFF2-40B4-BE49-F238E27FC236}">
                <a16:creationId xmlns:a16="http://schemas.microsoft.com/office/drawing/2014/main" id="{FC9B5668-713E-4AFC-9DC7-F55314D3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43575"/>
            <a:ext cx="5076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价值：接口、示例和版本结果共同维护。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当前完整实测：macOS arm64。</a:t>
            </a:r>
          </a:p>
        </p:txBody>
      </p:sp>
      <p:sp>
        <p:nvSpPr>
          <p:cNvPr id="20" name="atomgit.com/c2892480843s/cj-docguard · docs/native">
            <a:extLst xmlns:a="http://schemas.openxmlformats.org/drawingml/2006/main">
              <a:ext uri="{FF2B5EF4-FFF2-40B4-BE49-F238E27FC236}">
                <a16:creationId xmlns:a16="http://schemas.microsoft.com/office/drawing/2014/main" id="{6596FE96-F4CB-48DC-B7F6-34813A6D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pPr>
            <a:r>
              <a:rPr sz="1350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rPr>
              <a:t>atomgit.com/c2892480843s/cj-docguard · docs/native-workbench.md</a:t>
            </a:r>
          </a:p>
        </p:txBody>
      </p:sp>
      <p:sp>
        <p:nvSpPr>
          <p:cNvPr id="21" name="谢谢大家！">
            <a:extLst xmlns:a="http://schemas.openxmlformats.org/drawingml/2006/main">
              <a:ext uri="{FF2B5EF4-FFF2-40B4-BE49-F238E27FC236}">
                <a16:creationId xmlns:a16="http://schemas.microsoft.com/office/drawing/2014/main" id="{910DB24C-FE9E-40D2-9A76-445246E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4960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6760096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152EA-BF9F-46AF-99BC-B8C29E9C9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7cc31254742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5B252DB0-E490-4F26-8FC9-F944AADE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1 / 4">
            <a:extLst xmlns:a="http://schemas.openxmlformats.org/drawingml/2006/main">
              <a:ext uri="{FF2B5EF4-FFF2-40B4-BE49-F238E27FC236}">
                <a16:creationId xmlns:a16="http://schemas.microsoft.com/office/drawing/2014/main" id="{E7EAA517-81D2-481A-AFC1-A82A1E71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1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03FE1A02-75A4-4982-91CE-DCF90EF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095750" cy="219075"/>
          </a:xfrm>
          <a:custGeom xmlns:a="http://schemas.openxmlformats.org/drawingml/2006/main">
            <a:pathLst>
              <a:path w="4095750" h="219075">
                <a:moveTo>
                  <a:pt x="0" y="28575"/>
                </a:moveTo>
                <a:lnTo>
                  <a:pt x="4048125" y="0"/>
                </a:lnTo>
                <a:lnTo>
                  <a:pt x="40957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支持范围与实现边界">
            <a:extLst xmlns:a="http://schemas.openxmlformats.org/drawingml/2006/main">
              <a:ext uri="{FF2B5EF4-FFF2-40B4-BE49-F238E27FC236}">
                <a16:creationId xmlns:a16="http://schemas.microsoft.com/office/drawing/2014/main" id="{A3DC3443-5C58-43DB-8DC3-F33DD5A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备查：支持范围与实现边界</a:t>
            </a:r>
          </a:p>
        </p:txBody>
      </p:sp>
      <p:sp>
        <p:nvSpPr>
          <p:cNvPr id="6" name="按已实现、已测试的范围回答；不以样例数量代替覆盖率">
            <a:extLst xmlns:a="http://schemas.openxmlformats.org/drawingml/2006/main">
              <a:ext uri="{FF2B5EF4-FFF2-40B4-BE49-F238E27FC236}">
                <a16:creationId xmlns:a16="http://schemas.microsoft.com/office/drawing/2014/main" id="{17420C8C-69C2-4152-A313-74BBDFD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按已实现、已测试的范围回答；不以样例数量代替覆盖率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0237A-CC0A-4B1A-92CF-1AF8B29464E4}"/>
              </a:ext>
            </a:extLst>
          </p:cNvPr>
          <p:cNvGraphicFramePr/>
          <p:nvPr/>
        </p:nvGraphicFramePr>
        <p:xfrm>
          <a:off xmlns:a="http://schemas.openxmlformats.org/drawingml/2006/main" x="733425" y="2095500"/>
          <a:ext xmlns:a="http://schemas.openxmlformats.org/drawingml/2006/main" cx="10753725" cy="3952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81200"/>
                <a:gridCol w="4886325"/>
                <a:gridCol w="3886200"/>
              </a:tblGrid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当前已实现 / 已实测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宿主与工具链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macOS arm64</a:t>
                      </a:r>
                    </a:p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SDK 1.1.3 / 1.2.0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其他宿主需单独复验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声明解析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std.ast 与已测试声明子集</a:t>
                      </a:r>
                    </a:p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保留参数、返回类型、来源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不宣称完整语义覆盖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示例正确性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真实编译、运行及登记输出核对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不证明全部输入正确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外部链接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离线未检查时保留未确认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不能当作远端可访问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588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执行项目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维护者明确授权的可信本地项目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资源限制不是完整安全沙箱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ABB42BF0-DC66-4082-8BB1-DF0FF61E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10791825" cy="3990975"/>
          </a:xfrm>
          <a:custGeom xmlns:a="http://schemas.openxmlformats.org/drawingml/2006/main">
            <a:pathLst>
              <a:path w="10791825" h="399097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1117473"/>
                  <a:pt x="10753725" y="2993231"/>
                  <a:pt x="10782300" y="3962400"/>
                </a:cubicBezTo>
                <a:cubicBezTo>
                  <a:pt x="7122605" y="4000500"/>
                  <a:pt x="3129629" y="3952875"/>
                  <a:pt x="19050" y="3981450"/>
                </a:cubicBezTo>
                <a:cubicBezTo>
                  <a:pt x="47625" y="2793682"/>
                  <a:pt x="0" y="119729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6DD4E-CB17-42AA-ABAA-1AA7D61E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10791825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复杂语法、其他平台与更大项目，需要扩展样例并重新验证。">
            <a:extLst xmlns:a="http://schemas.openxmlformats.org/drawingml/2006/main">
              <a:ext uri="{FF2B5EF4-FFF2-40B4-BE49-F238E27FC236}">
                <a16:creationId xmlns:a16="http://schemas.microsoft.com/office/drawing/2014/main" id="{3662EA4F-7EA6-439E-8A64-0A10BAF0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1067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复杂语法、其他平台与更大项目，需要扩展样例并重新验证。</a:t>
            </a:r>
          </a:p>
        </p:txBody>
      </p:sp>
    </p:spTree>
    <p:extLst>
      <p:ext uri="{BB962C8B-B14F-4D97-AF65-F5344CB8AC3E}">
        <p14:creationId xmlns:p14="http://schemas.microsoft.com/office/powerpoint/2010/main" val="1014317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F9A1C-AE40-483C-8916-A256BD23F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d0f9f231b41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09101CFF-DC15-483F-B60A-9325DEF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2 / 4">
            <a:extLst xmlns:a="http://schemas.openxmlformats.org/drawingml/2006/main">
              <a:ext uri="{FF2B5EF4-FFF2-40B4-BE49-F238E27FC236}">
                <a16:creationId xmlns:a16="http://schemas.microsoft.com/office/drawing/2014/main" id="{361CC738-C580-49FB-877D-19F37E66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2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EEE7606-3B72-4006-AAF2-6F9DC853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095750" cy="219075"/>
          </a:xfrm>
          <a:custGeom xmlns:a="http://schemas.openxmlformats.org/drawingml/2006/main">
            <a:pathLst>
              <a:path w="4095750" h="219075">
                <a:moveTo>
                  <a:pt x="0" y="28575"/>
                </a:moveTo>
                <a:lnTo>
                  <a:pt x="4048125" y="0"/>
                </a:lnTo>
                <a:lnTo>
                  <a:pt x="40957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状态含义与输出核对">
            <a:extLst xmlns:a="http://schemas.openxmlformats.org/drawingml/2006/main">
              <a:ext uri="{FF2B5EF4-FFF2-40B4-BE49-F238E27FC236}">
                <a16:creationId xmlns:a16="http://schemas.microsoft.com/office/drawing/2014/main" id="{CFCCEED2-878A-4EF0-8E3F-72370DA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备查：状态含义与输出核对</a:t>
            </a:r>
          </a:p>
        </p:txBody>
      </p:sp>
      <p:sp>
        <p:nvSpPr>
          <p:cNvPr id="6" name="仅编译、运行通过、需重测与历史记录分别保留">
            <a:extLst xmlns:a="http://schemas.openxmlformats.org/drawingml/2006/main">
              <a:ext uri="{FF2B5EF4-FFF2-40B4-BE49-F238E27FC236}">
                <a16:creationId xmlns:a16="http://schemas.microsoft.com/office/drawing/2014/main" id="{AAB36763-3FAE-48E8-BB98-CA13299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仅编译、运行通过、需重测与历史记录分别保留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3F5F3-ABAA-4A35-810A-541289C94CD2}"/>
              </a:ext>
            </a:extLst>
          </p:cNvPr>
          <p:cNvGraphicFramePr/>
          <p:nvPr/>
        </p:nvGraphicFramePr>
        <p:xfrm>
          <a:off xmlns:a="http://schemas.openxmlformats.org/drawingml/2006/main" x="733425" y="2114550"/>
          <a:ext xmlns:a="http://schemas.openxmlformats.org/drawingml/2006/main" cx="6029325" cy="3467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33525"/>
                <a:gridCol w="4495800"/>
              </a:tblGrid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判断条件 / 解释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实际运行且登记输出检查通过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编译完成，未验证运行行为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需重测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源码、配置或工具链等输入变化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历史记录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保留过去尝试，不直接当作当前可用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0B2645C3-F227-4FAE-B79D-A524ED92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6067425" cy="3505200"/>
          </a:xfrm>
          <a:custGeom xmlns:a="http://schemas.openxmlformats.org/drawingml/2006/main">
            <a:pathLst>
              <a:path w="6067425" h="3505200">
                <a:moveTo>
                  <a:pt x="38100" y="28575"/>
                </a:moveTo>
                <a:cubicBezTo>
                  <a:pt x="1698879" y="0"/>
                  <a:pt x="4125849" y="57150"/>
                  <a:pt x="6038850" y="19050"/>
                </a:cubicBezTo>
                <a:cubicBezTo>
                  <a:pt x="6076950" y="981456"/>
                  <a:pt x="6029325" y="2628900"/>
                  <a:pt x="6057900" y="3476625"/>
                </a:cubicBezTo>
                <a:cubicBezTo>
                  <a:pt x="4004501" y="3514725"/>
                  <a:pt x="1759553" y="3467100"/>
                  <a:pt x="19050" y="3495675"/>
                </a:cubicBezTo>
                <a:cubicBezTo>
                  <a:pt x="47625" y="2453640"/>
                  <a:pt x="0" y="105156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B120B-484D-48C1-AB58-BF0057BB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6067425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rithmetic · SDK 1.1.3">
            <a:extLst xmlns:a="http://schemas.openxmlformats.org/drawingml/2006/main">
              <a:ext uri="{FF2B5EF4-FFF2-40B4-BE49-F238E27FC236}">
                <a16:creationId xmlns:a16="http://schemas.microsoft.com/office/drawing/2014/main" id="{E27BBCE8-1CFB-4A50-83E9-797BCF5B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24075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arithmetic · SDK 1.1.3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53503-9CAE-44D6-900F-5435F44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19375"/>
            <a:ext cx="43624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BEC7C-937B-466F-8E31-1DD214DEA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df023e51e49ec"/>
          <a:srcRect xmlns:a="http://schemas.openxmlformats.org/drawingml/2006/main" l="14500" t="17000" r="14500" b="17000"/>
          <a:stretch xmlns:a="http://schemas.openxmlformats.org/drawingml/2006/main"/>
        </p:blipFill>
        <p:spPr>
          <a:xfrm xmlns:a="http://schemas.openxmlformats.org/drawingml/2006/main">
            <a:off x="7162800" y="2667000"/>
            <a:ext cx="4267200" cy="2257425"/>
          </a:xfrm>
          <a:prstGeom xmlns:a="http://schemas.openxmlformats.org/drawingml/2006/main" prst="rect">
            <a:avLst/>
          </a:prstGeom>
        </p:spPr>
      </p:pic>
      <p:sp>
        <p:nvSpPr>
          <p:cNvPr id="13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CFF8D54-FABE-4F1C-92F5-C9FBEC80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19375"/>
            <a:ext cx="4362450" cy="2352675"/>
          </a:xfrm>
          <a:custGeom xmlns:a="http://schemas.openxmlformats.org/drawingml/2006/main">
            <a:pathLst>
              <a:path w="4362450" h="2352675">
                <a:moveTo>
                  <a:pt x="38100" y="28575"/>
                </a:moveTo>
                <a:cubicBezTo>
                  <a:pt x="1221486" y="0"/>
                  <a:pt x="2966466" y="57150"/>
                  <a:pt x="4333875" y="19050"/>
                </a:cubicBezTo>
                <a:cubicBezTo>
                  <a:pt x="4371975" y="658749"/>
                  <a:pt x="4324350" y="1764506"/>
                  <a:pt x="4352925" y="2324100"/>
                </a:cubicBezTo>
                <a:cubicBezTo>
                  <a:pt x="2879217" y="2362200"/>
                  <a:pt x="1265111" y="2314575"/>
                  <a:pt x="19050" y="2343150"/>
                </a:cubicBezTo>
                <a:cubicBezTo>
                  <a:pt x="47625" y="1646872"/>
                  <a:pt x="0" y="70580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7AB38-9B29-4E5A-BB28-8856C311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19375"/>
            <a:ext cx="43624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退出码：期望0，实际0&#10;stdout：均为 &quot;42\n&quot;&#10;检查结果单独显示通过">
            <a:extLst xmlns:a="http://schemas.openxmlformats.org/drawingml/2006/main">
              <a:ext uri="{FF2B5EF4-FFF2-40B4-BE49-F238E27FC236}">
                <a16:creationId xmlns:a16="http://schemas.microsoft.com/office/drawing/2014/main" id="{26C4A4DC-84AC-4D56-8569-C4DD0EA7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00650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退出码：期望0，实际0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stdout：均为 "42\n"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检查结果单独显示通过</a:t>
            </a:r>
          </a:p>
        </p:txBody>
      </p:sp>
      <p:sp>
        <p:nvSpPr>
          <p:cNvPr id="16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F2B44E51-BA30-4D78-BAE5-6CB138AF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6124575" cy="257175"/>
          </a:xfrm>
          <a:custGeom xmlns:a="http://schemas.openxmlformats.org/drawingml/2006/main">
            <a:pathLst>
              <a:path w="6124575" h="257175">
                <a:moveTo>
                  <a:pt x="0" y="28575"/>
                </a:moveTo>
                <a:lnTo>
                  <a:pt x="6076950" y="0"/>
                </a:lnTo>
                <a:lnTo>
                  <a:pt x="6124575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26 / 28 = 92.9%：记录占比，不是项目正确率。">
            <a:extLst xmlns:a="http://schemas.openxmlformats.org/drawingml/2006/main">
              <a:ext uri="{FF2B5EF4-FFF2-40B4-BE49-F238E27FC236}">
                <a16:creationId xmlns:a16="http://schemas.microsoft.com/office/drawing/2014/main" id="{259470C6-FE8D-4E13-A569-64205E64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26 / 28 = 92.9%：记录占比，不是项目正确率。</a:t>
            </a:r>
          </a:p>
        </p:txBody>
      </p:sp>
    </p:spTree>
    <p:extLst>
      <p:ext uri="{BB962C8B-B14F-4D97-AF65-F5344CB8AC3E}">
        <p14:creationId xmlns:p14="http://schemas.microsoft.com/office/powerpoint/2010/main" val="995401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8E482-2367-41A4-A608-7AE0209A9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ee0beb1fd42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3EB0FEFB-3F8E-4DC1-8DF5-A1351FA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3 / 4">
            <a:extLst xmlns:a="http://schemas.openxmlformats.org/drawingml/2006/main">
              <a:ext uri="{FF2B5EF4-FFF2-40B4-BE49-F238E27FC236}">
                <a16:creationId xmlns:a16="http://schemas.microsoft.com/office/drawing/2014/main" id="{C0E127BA-5F1C-4ECA-BFC8-20D7905F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3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B7412F2-8382-4E5C-8AEB-9DE78945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781425" cy="219075"/>
          </a:xfrm>
          <a:custGeom xmlns:a="http://schemas.openxmlformats.org/drawingml/2006/main">
            <a:pathLst>
              <a:path w="3781425" h="219075">
                <a:moveTo>
                  <a:pt x="0" y="28575"/>
                </a:moveTo>
                <a:lnTo>
                  <a:pt x="3733800" y="0"/>
                </a:lnTo>
                <a:lnTo>
                  <a:pt x="37814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从源码启动工作台">
            <a:extLst xmlns:a="http://schemas.openxmlformats.org/drawingml/2006/main">
              <a:ext uri="{FF2B5EF4-FFF2-40B4-BE49-F238E27FC236}">
                <a16:creationId xmlns:a16="http://schemas.microsoft.com/office/drawing/2014/main" id="{0FDCF19B-208A-4D8A-8ACC-5F0BB70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备查：从源码启动工作台</a:t>
            </a:r>
          </a:p>
        </p:txBody>
      </p:sp>
      <p:sp>
        <p:nvSpPr>
          <p:cNvPr id="6" name="先准备兼容工具链，再构建服务；首次没有报告是正常状态">
            <a:extLst xmlns:a="http://schemas.openxmlformats.org/drawingml/2006/main">
              <a:ext uri="{FF2B5EF4-FFF2-40B4-BE49-F238E27FC236}">
                <a16:creationId xmlns:a16="http://schemas.microsoft.com/office/drawing/2014/main" id="{65FA2516-92F6-489D-AA4D-4CD99FB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先准备兼容工具链，再构建服务；首次没有报告是正常状态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325967F8-CBC7-4DE6-93B7-780CA4B5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7200900" cy="2905125"/>
          </a:xfrm>
          <a:custGeom xmlns:a="http://schemas.openxmlformats.org/drawingml/2006/main">
            <a:pathLst>
              <a:path w="7200900" h="2905125">
                <a:moveTo>
                  <a:pt x="38100" y="28575"/>
                </a:moveTo>
                <a:cubicBezTo>
                  <a:pt x="2016252" y="0"/>
                  <a:pt x="4896612" y="57150"/>
                  <a:pt x="7172325" y="19050"/>
                </a:cubicBezTo>
                <a:cubicBezTo>
                  <a:pt x="7210425" y="813435"/>
                  <a:pt x="7162800" y="2178844"/>
                  <a:pt x="7191375" y="2876550"/>
                </a:cubicBezTo>
                <a:cubicBezTo>
                  <a:pt x="4752594" y="2914650"/>
                  <a:pt x="2088261" y="2867025"/>
                  <a:pt x="19050" y="2895600"/>
                </a:cubicBezTo>
                <a:cubicBezTo>
                  <a:pt x="47625" y="2033588"/>
                  <a:pt x="0" y="87153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EF055-4BB8-4890-8AA4-727DDAB0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72009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export CJ_DOCGUARD_SDK_1_1_3=/absolute/path/sdk-1.">
            <a:extLst xmlns:a="http://schemas.openxmlformats.org/drawingml/2006/main">
              <a:ext uri="{FF2B5EF4-FFF2-40B4-BE49-F238E27FC236}">
                <a16:creationId xmlns:a16="http://schemas.microsoft.com/office/drawing/2014/main" id="{99BAD3F9-66FA-402C-9A92-35DACBEF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6800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export CJ_DOCGUARD_SDK_1_1_3=/absolute/path/sdk-1.1.3/cangjie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export CJ_DOCGUARD_SDK_1_2_0=/absolute/path/sdk-1.2.0/cangjie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git clone https://atomgit.com/c2892480843s/cj-docguard.git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cd cj-docguard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git checkout 068a22a8a4d1987ac0aac837da22b39c8224417f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bash scripts/build_workbench.sh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bash scripts/workbench.sh --port 8765</a:t>
            </a:r>
          </a:p>
        </p:txBody>
      </p:sp>
      <p:sp>
        <p:nvSpPr>
          <p:cNvPr id="10" name="运行前检查">
            <a:extLst xmlns:a="http://schemas.openxmlformats.org/drawingml/2006/main">
              <a:ext uri="{FF2B5EF4-FFF2-40B4-BE49-F238E27FC236}">
                <a16:creationId xmlns:a16="http://schemas.microsoft.com/office/drawing/2014/main" id="{45E4094D-2F14-40BA-921E-24CFCE89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运行前检查</a:t>
            </a:r>
          </a:p>
        </p:txBody>
      </p:sp>
      <p:sp>
        <p:nvSpPr>
          <p:cNvPr id="11" name="git / bash / cc / ar / zip&#10;仓颉1.1.3与1.2.0&#10;兼容的 Apple">
            <a:extLst xmlns:a="http://schemas.openxmlformats.org/drawingml/2006/main">
              <a:ext uri="{FF2B5EF4-FFF2-40B4-BE49-F238E27FC236}">
                <a16:creationId xmlns:a16="http://schemas.microsoft.com/office/drawing/2014/main" id="{8C11D271-9152-4A9B-8E07-5249F956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310515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git / bash / cc / ar / zip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仓颉1.1.3与1.2.0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兼容的 Apple 系统 SDK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示例路径需替换为本机目录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按指南诊断缺失依赖</a:t>
            </a:r>
          </a:p>
        </p:txBody>
      </p:sp>
      <p:sp>
        <p:nvSpPr>
          <p:cNvPr id="12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05C0ED1F-2F9D-403C-8975-84CC9BEE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81650"/>
            <a:ext cx="9096375" cy="304800"/>
          </a:xfrm>
          <a:custGeom xmlns:a="http://schemas.openxmlformats.org/drawingml/2006/main">
            <a:pathLst>
              <a:path w="9096375" h="304800">
                <a:moveTo>
                  <a:pt x="0" y="28575"/>
                </a:moveTo>
                <a:lnTo>
                  <a:pt x="9048750" y="0"/>
                </a:lnTo>
                <a:lnTo>
                  <a:pt x="9096375" y="276225"/>
                </a:lnTo>
                <a:lnTo>
                  <a:pt x="38100" y="304800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打开 http://127.0.0.1:8765/">
            <a:extLst xmlns:a="http://schemas.openxmlformats.org/drawingml/2006/main">
              <a:ext uri="{FF2B5EF4-FFF2-40B4-BE49-F238E27FC236}">
                <a16:creationId xmlns:a16="http://schemas.microsoft.com/office/drawing/2014/main" id="{615C81DD-CA9E-42CC-B02E-1A3DACF6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打开 http://127.0.0.1:8765/</a:t>
            </a:r>
          </a:p>
        </p:txBody>
      </p:sp>
      <p:sp>
        <p:nvSpPr>
          <p:cNvPr id="14" name="环境诊断 → 生成文档 → 运行测试 → 检查链接。&#10;服务仅绑定本机；其他宿主或工具链变化需要完整复">
            <a:extLst xmlns:a="http://schemas.openxmlformats.org/drawingml/2006/main">
              <a:ext uri="{FF2B5EF4-FFF2-40B4-BE49-F238E27FC236}">
                <a16:creationId xmlns:a16="http://schemas.microsoft.com/office/drawing/2014/main" id="{BE7A770A-8D30-4601-85C4-93CB5966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62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环境诊断 → 生成文档 → 运行测试 → 检查链接。</a:t>
            </a:r>
          </a:p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服务仅绑定本机；其他宿主或工具链变化需要完整复验。</a:t>
            </a:r>
          </a:p>
        </p:txBody>
      </p:sp>
    </p:spTree>
    <p:extLst>
      <p:ext uri="{BB962C8B-B14F-4D97-AF65-F5344CB8AC3E}">
        <p14:creationId xmlns:p14="http://schemas.microsoft.com/office/powerpoint/2010/main" val="7619131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1AD00-3BF4-459F-80A3-73597C823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fe5d362f045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5103C21D-10D7-494E-BE30-467FF30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4 / 4">
            <a:extLst xmlns:a="http://schemas.openxmlformats.org/drawingml/2006/main">
              <a:ext uri="{FF2B5EF4-FFF2-40B4-BE49-F238E27FC236}">
                <a16:creationId xmlns:a16="http://schemas.microsoft.com/office/drawing/2014/main" id="{6A3A4D63-2297-4829-BFA3-38DD5B7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4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295B1540-8827-4948-8D8C-9B554DAA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667375" cy="219075"/>
          </a:xfrm>
          <a:custGeom xmlns:a="http://schemas.openxmlformats.org/drawingml/2006/main">
            <a:pathLst>
              <a:path w="5667375" h="219075">
                <a:moveTo>
                  <a:pt x="0" y="28575"/>
                </a:moveTo>
                <a:lnTo>
                  <a:pt x="5619750" y="0"/>
                </a:lnTo>
                <a:lnTo>
                  <a:pt x="56673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一份配置连接文档、示例和环境">
            <a:extLst xmlns:a="http://schemas.openxmlformats.org/drawingml/2006/main">
              <a:ext uri="{FF2B5EF4-FFF2-40B4-BE49-F238E27FC236}">
                <a16:creationId xmlns:a16="http://schemas.microsoft.com/office/drawing/2014/main" id="{60843F45-FE1C-46B3-BB33-9254B79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备查：一份配置连接文档、示例和环境</a:t>
            </a:r>
          </a:p>
        </p:txBody>
      </p:sp>
      <p:sp>
        <p:nvSpPr>
          <p:cNvPr id="6" name="登记的符号、运行方式与SDK，决定文档关联和查询维度">
            <a:extLst xmlns:a="http://schemas.openxmlformats.org/drawingml/2006/main">
              <a:ext uri="{FF2B5EF4-FFF2-40B4-BE49-F238E27FC236}">
                <a16:creationId xmlns:a16="http://schemas.microsoft.com/office/drawing/2014/main" id="{B9DE80C4-CF8B-4D52-917E-4E699139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登记的符号、运行方式与SDK，决定文档关联和查询维度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34FFFDC3-72CC-43FE-BCFE-49DAA2D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5657850" cy="3810000"/>
          </a:xfrm>
          <a:custGeom xmlns:a="http://schemas.openxmlformats.org/drawingml/2006/main">
            <a:pathLst>
              <a:path w="5657850" h="3810000">
                <a:moveTo>
                  <a:pt x="38100" y="28575"/>
                </a:moveTo>
                <a:cubicBezTo>
                  <a:pt x="1584198" y="0"/>
                  <a:pt x="3847338" y="57150"/>
                  <a:pt x="5629275" y="19050"/>
                </a:cubicBezTo>
                <a:cubicBezTo>
                  <a:pt x="5667375" y="1066800"/>
                  <a:pt x="5619750" y="2857500"/>
                  <a:pt x="5648325" y="3781425"/>
                </a:cubicBezTo>
                <a:cubicBezTo>
                  <a:pt x="3734181" y="3819525"/>
                  <a:pt x="1640777" y="3771900"/>
                  <a:pt x="19050" y="3800475"/>
                </a:cubicBezTo>
                <a:cubicBezTo>
                  <a:pt x="47625" y="2667000"/>
                  <a:pt x="0" y="114300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A653B-1CA0-4E0F-9215-C4E8024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56578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登记片段：docguard.toml">
            <a:extLst xmlns:a="http://schemas.openxmlformats.org/drawingml/2006/main">
              <a:ext uri="{FF2B5EF4-FFF2-40B4-BE49-F238E27FC236}">
                <a16:creationId xmlns:a16="http://schemas.microsoft.com/office/drawing/2014/main" id="{0762F2A0-3C29-444E-BD84-B42277D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登记片段：docguard.toml</a:t>
            </a:r>
          </a:p>
        </p:txBody>
      </p:sp>
      <p:sp>
        <p:nvSpPr>
          <p:cNvPr id="10" name="[[sdks]]&#10;version = &quot;1.2.0&quot;&#10;&#10;[[examples]]&#10;id = &quot;ari">
            <a:extLst xmlns:a="http://schemas.openxmlformats.org/drawingml/2006/main">
              <a:ext uri="{FF2B5EF4-FFF2-40B4-BE49-F238E27FC236}">
                <a16:creationId xmlns:a16="http://schemas.microsoft.com/office/drawing/2014/main" id="{95F1D2A0-D095-4DC1-8B11-33BCA7D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52768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[[sdks]]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version = "1.2.0"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[[examples]]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id = "arithmetic"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file = "programs/arithmetic.cj"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symbol = "add"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mode = "run"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stdout = "42\n"</a:t>
            </a:r>
          </a:p>
          <a:p xmlns:a="http://schemas.openxmlformats.org/drawingml/2006/main">
            <a:pPr algn="l">
              <a:def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expected_exit = 0</a:t>
            </a:r>
          </a:p>
        </p:txBody>
      </p:sp>
      <p:sp>
        <p:nvSpPr>
          <p:cNvPr id="11" name="网页选项来自实际配置与记录">
            <a:extLst xmlns:a="http://schemas.openxmlformats.org/drawingml/2006/main">
              <a:ext uri="{FF2B5EF4-FFF2-40B4-BE49-F238E27FC236}">
                <a16:creationId xmlns:a16="http://schemas.microsoft.com/office/drawing/2014/main" id="{221F9A12-BC69-4E60-B5D2-3D97AB8C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657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网页选项来自实际配置与记录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5F8C8-F83D-4352-A3D9-161D7209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6386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F5946-AC9D-4D57-9B52-938319D35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035b0c7234f13"/>
          <a:srcRect xmlns:a="http://schemas.openxmlformats.org/drawingml/2006/main" l="22500" t="23500" r="2500" b="36000"/>
          <a:stretch xmlns:a="http://schemas.openxmlformats.org/drawingml/2006/main"/>
        </p:blipFill>
        <p:spPr>
          <a:xfrm xmlns:a="http://schemas.openxmlformats.org/drawingml/2006/main">
            <a:off x="6886575" y="2695575"/>
            <a:ext cx="4543425" cy="2305050"/>
          </a:xfrm>
          <a:prstGeom xmlns:a="http://schemas.openxmlformats.org/drawingml/2006/main" prst="rect">
            <a:avLst/>
          </a:prstGeom>
        </p:spPr>
      </p:pic>
      <p:sp>
        <p:nvSpPr>
          <p:cNvPr id="14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80F2EEC-A4B0-48BE-B559-60C7F3A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638675" cy="2400300"/>
          </a:xfrm>
          <a:custGeom xmlns:a="http://schemas.openxmlformats.org/drawingml/2006/main">
            <a:pathLst>
              <a:path w="4638675" h="2400300">
                <a:moveTo>
                  <a:pt x="38100" y="28575"/>
                </a:moveTo>
                <a:cubicBezTo>
                  <a:pt x="1298829" y="0"/>
                  <a:pt x="3154299" y="57150"/>
                  <a:pt x="4610100" y="19050"/>
                </a:cubicBezTo>
                <a:cubicBezTo>
                  <a:pt x="4648200" y="672084"/>
                  <a:pt x="4600575" y="1800225"/>
                  <a:pt x="4629150" y="2371725"/>
                </a:cubicBezTo>
                <a:cubicBezTo>
                  <a:pt x="3061526" y="2409825"/>
                  <a:pt x="1345216" y="2362200"/>
                  <a:pt x="19050" y="2390775"/>
                </a:cubicBezTo>
                <a:cubicBezTo>
                  <a:pt x="47625" y="1680210"/>
                  <a:pt x="0" y="72009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EDDBC-1969-4687-90CB-9E69B3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6386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DK / 平台 / 示例条件联动&#10;最终有效性仍由本地服务判断&#10;界面选择不会绕过当前结果校验">
            <a:extLst xmlns:a="http://schemas.openxmlformats.org/drawingml/2006/main">
              <a:ext uri="{FF2B5EF4-FFF2-40B4-BE49-F238E27FC236}">
                <a16:creationId xmlns:a16="http://schemas.microsoft.com/office/drawing/2014/main" id="{2A209083-0FCD-4415-80B0-501A33D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238750"/>
            <a:ext cx="45434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 / 平台 / 示例条件联动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最终有效性仍由本地服务判断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界面选择不会绕过当前结果校验</a:t>
            </a:r>
          </a:p>
        </p:txBody>
      </p:sp>
      <p:sp>
        <p:nvSpPr>
          <p:cNvPr id="17" name="完整项目字段见 examples/healthy/docguard.toml；片段仅说明示例与环境如">
            <a:extLst xmlns:a="http://schemas.openxmlformats.org/drawingml/2006/main">
              <a:ext uri="{FF2B5EF4-FFF2-40B4-BE49-F238E27FC236}">
                <a16:creationId xmlns:a16="http://schemas.microsoft.com/office/drawing/2014/main" id="{670E3B23-3038-4405-B43A-52FEAC18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34125"/>
            <a:ext cx="10639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完整项目字段见 examples/healthy/docguard.toml；片段仅说明示例与环境如何登记。</a:t>
            </a:r>
          </a:p>
        </p:txBody>
      </p:sp>
    </p:spTree>
    <p:extLst>
      <p:ext uri="{BB962C8B-B14F-4D97-AF65-F5344CB8AC3E}">
        <p14:creationId xmlns:p14="http://schemas.microsoft.com/office/powerpoint/2010/main" val="1926611912"/>
      </p:ext>
    </p:extLst>
  </p:cSld>
</p:sld>
</file>

<file path=ppt/theme/theme1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2026-10-29T13:31:29.1280000Z</dcterms:created>
  <dcterms:modified xsi:type="dcterms:W3CDTF">2026-10-29T13:31:29.1280000Z</dcterms:modified>
</coreProperties>
</file>