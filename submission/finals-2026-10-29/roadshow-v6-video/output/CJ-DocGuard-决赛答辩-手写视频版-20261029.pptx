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mp4" ContentType="video/mp4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afa8d31aea42da" /><Relationship Type="http://schemas.openxmlformats.org/officeDocument/2006/relationships/extended-properties" Target="/docProps/app.xml" Id="Rb391a0255759448c" /><Relationship Type="http://schemas.openxmlformats.org/officeDocument/2006/relationships/officeDocument" Target="/ppt/presentation.xml" Id="Re1b3c70647904c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44730ccd09465f"/>
  </p:sldMasterIdLst>
  <p:notesMasterIdLst>
    <p:notesMasterId xmlns:r="http://schemas.openxmlformats.org/officeDocument/2006/relationships" r:id="Rd764cf0b64dd47f6"/>
  </p:notesMasterIdLst>
  <p:sldIdLst>
    <p:sldId xmlns:r="http://schemas.openxmlformats.org/officeDocument/2006/relationships" id="256" r:id="R51e0fda5363b408e"/>
    <p:sldId xmlns:r="http://schemas.openxmlformats.org/officeDocument/2006/relationships" id="257" r:id="R4837e0aa44ee43d3"/>
    <p:sldId xmlns:r="http://schemas.openxmlformats.org/officeDocument/2006/relationships" id="258" r:id="R8c7982169c8d4ef8"/>
    <p:sldId xmlns:r="http://schemas.openxmlformats.org/officeDocument/2006/relationships" id="259" r:id="Rf4a6dadc7c244192"/>
    <p:sldId xmlns:r="http://schemas.openxmlformats.org/officeDocument/2006/relationships" id="260" r:id="R75ba91b100e54c7b"/>
    <p:sldId xmlns:r="http://schemas.openxmlformats.org/officeDocument/2006/relationships" id="261" r:id="R19130d980a0d4494"/>
    <p:sldId xmlns:r="http://schemas.openxmlformats.org/officeDocument/2006/relationships" id="262" r:id="R3d58f84cf87d4b93"/>
    <p:sldId xmlns:r="http://schemas.openxmlformats.org/officeDocument/2006/relationships" id="263" r:id="R28ee5dd471944b36"/>
    <p:sldId xmlns:r="http://schemas.openxmlformats.org/officeDocument/2006/relationships" id="264" r:id="Rfc5fc500f60f4a36"/>
    <p:sldId xmlns:r="http://schemas.openxmlformats.org/officeDocument/2006/relationships" id="265" r:id="R032a6b3391a44e88"/>
    <p:sldId xmlns:r="http://schemas.openxmlformats.org/officeDocument/2006/relationships" id="266" r:id="R18ab2397a80142f6"/>
    <p:sldId xmlns:r="http://schemas.openxmlformats.org/officeDocument/2006/relationships" id="267" r:id="Rb3150a400abb40ef"/>
    <p:sldId xmlns:r="http://schemas.openxmlformats.org/officeDocument/2006/relationships" id="268" r:id="Ra7d673c987434a38"/>
    <p:sldId xmlns:r="http://schemas.openxmlformats.org/officeDocument/2006/relationships" id="269" r:id="Rab7c714c040e49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eef675b33f42d0" /><Relationship Type="http://schemas.openxmlformats.org/officeDocument/2006/relationships/slideMaster" Target="/ppt/slideMasters/slideMaster1.xml" Id="R0b44730ccd09465f" /><Relationship Type="http://schemas.openxmlformats.org/officeDocument/2006/relationships/notesMaster" Target="/ppt/notesMasters/notesMaster1.xml" Id="Rd764cf0b64dd47f6" /><Relationship Type="http://schemas.openxmlformats.org/officeDocument/2006/relationships/presProps" Target="/ppt/presProps.xml" Id="R85f62c1815984ef5" /><Relationship Type="http://schemas.openxmlformats.org/officeDocument/2006/relationships/tableStyles" Target="/ppt/tableStyles.xml" Id="R86d5b56e6e6a4db8" /><Relationship Type="http://schemas.openxmlformats.org/officeDocument/2006/relationships/slide" Target="/ppt/slides/slide1.xml" Id="R51e0fda5363b408e" /><Relationship Type="http://schemas.openxmlformats.org/officeDocument/2006/relationships/slide" Target="/ppt/slides/slide2.xml" Id="R4837e0aa44ee43d3" /><Relationship Type="http://schemas.openxmlformats.org/officeDocument/2006/relationships/slide" Target="/ppt/slides/slide3.xml" Id="R8c7982169c8d4ef8" /><Relationship Type="http://schemas.openxmlformats.org/officeDocument/2006/relationships/slide" Target="/ppt/slides/slide4.xml" Id="Rf4a6dadc7c244192" /><Relationship Type="http://schemas.openxmlformats.org/officeDocument/2006/relationships/slide" Target="/ppt/slides/slide5.xml" Id="R75ba91b100e54c7b" /><Relationship Type="http://schemas.openxmlformats.org/officeDocument/2006/relationships/slide" Target="/ppt/slides/slide6.xml" Id="R19130d980a0d4494" /><Relationship Type="http://schemas.openxmlformats.org/officeDocument/2006/relationships/slide" Target="/ppt/slides/slide7.xml" Id="R3d58f84cf87d4b93" /><Relationship Type="http://schemas.openxmlformats.org/officeDocument/2006/relationships/slide" Target="/ppt/slides/slide8.xml" Id="R28ee5dd471944b36" /><Relationship Type="http://schemas.openxmlformats.org/officeDocument/2006/relationships/slide" Target="/ppt/slides/slide9.xml" Id="Rfc5fc500f60f4a36" /><Relationship Type="http://schemas.openxmlformats.org/officeDocument/2006/relationships/slide" Target="/ppt/slides/slide10.xml" Id="R032a6b3391a44e88" /><Relationship Type="http://schemas.openxmlformats.org/officeDocument/2006/relationships/slide" Target="/ppt/slides/slide11.xml" Id="R18ab2397a80142f6" /><Relationship Type="http://schemas.openxmlformats.org/officeDocument/2006/relationships/slide" Target="/ppt/slides/slide12.xml" Id="Rb3150a400abb40ef" /><Relationship Type="http://schemas.openxmlformats.org/officeDocument/2006/relationships/slide" Target="/ppt/slides/slide13.xml" Id="Ra7d673c987434a38" /><Relationship Type="http://schemas.openxmlformats.org/officeDocument/2006/relationships/slide" Target="/ppt/slides/slide14.xml" Id="Rab7c714c040e49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e50fb6fd3140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otebook Marker">
      <a:dk1>
        <a:srgbClr val="000000"/>
      </a:dk1>
      <a:lt1>
        <a:srgbClr val="FFFFFF"/>
      </a:lt1>
      <a:dk2>
        <a:srgbClr val="2A302D"/>
      </a:dk2>
      <a:lt2>
        <a:srgbClr val="FAF6EB"/>
      </a:lt2>
      <a:accent1>
        <a:srgbClr val="28638C"/>
      </a:accent1>
      <a:accent2>
        <a:srgbClr val="397B60"/>
      </a:accent2>
      <a:accent3>
        <a:srgbClr val="D89E38"/>
      </a:accent3>
      <a:accent4>
        <a:srgbClr val="AA554B"/>
      </a:accent4>
      <a:accent5>
        <a:srgbClr val="8D9D86"/>
      </a:accent5>
      <a:accent6>
        <a:srgbClr val="77654F"/>
      </a:accent6>
      <a:hlink>
        <a:srgbClr val="28638C"/>
      </a:hlink>
      <a:folHlink>
        <a:srgbClr val="397B60"/>
      </a:folHlink>
    </a:clrScheme>
    <a:fontScheme name="">
      <a:majorFont>
        <a:latin typeface="Ma Shan Zheng"/>
        <a:ea typeface=""/>
        <a:cs typeface=""/>
      </a:majorFont>
      <a:minorFont>
        <a:latin typeface="Ma Shan Zheng"/>
        <a:ea typeface=""/>
        <a:cs typeface=""/>
      </a:minorFont>
    </a:fontScheme>
    <a:fmtScheme name="Notebook Marker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dad967bb194c21" /><Relationship Type="http://schemas.openxmlformats.org/officeDocument/2006/relationships/notesMaster" Target="/ppt/notesMasters/notesMaster1.xml" Id="Ra78cc278bba34d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68058bd8ae4ac4" /><Relationship Type="http://schemas.openxmlformats.org/officeDocument/2006/relationships/notesMaster" Target="/ppt/notesMasters/notesMaster1.xml" Id="R672aec4c75364c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b9d648f3584e91" /><Relationship Type="http://schemas.openxmlformats.org/officeDocument/2006/relationships/notesMaster" Target="/ppt/notesMasters/notesMaster1.xml" Id="Rd2de4812681842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5d4acb2c274abf" /><Relationship Type="http://schemas.openxmlformats.org/officeDocument/2006/relationships/notesMaster" Target="/ppt/notesMasters/notesMaster1.xml" Id="Rca4a7cbc58fe40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7a07705004439e" /><Relationship Type="http://schemas.openxmlformats.org/officeDocument/2006/relationships/notesMaster" Target="/ppt/notesMasters/notesMaster1.xml" Id="R0e20c07eeabf43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b258c3c5124f2a" /><Relationship Type="http://schemas.openxmlformats.org/officeDocument/2006/relationships/notesMaster" Target="/ppt/notesMasters/notesMaster1.xml" Id="Rbe5b148cb2a349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e5648f09e84154" /><Relationship Type="http://schemas.openxmlformats.org/officeDocument/2006/relationships/notesMaster" Target="/ppt/notesMasters/notesMaster1.xml" Id="R6c83ddcde8f045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e0a42740be4bbb" /><Relationship Type="http://schemas.openxmlformats.org/officeDocument/2006/relationships/notesMaster" Target="/ppt/notesMasters/notesMaster1.xml" Id="R439291088b4347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5f806b927044a5" /><Relationship Type="http://schemas.openxmlformats.org/officeDocument/2006/relationships/notesMaster" Target="/ppt/notesMasters/notesMaster1.xml" Id="Ra2f26b68cddb4b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640d3fe86a4011" /><Relationship Type="http://schemas.openxmlformats.org/officeDocument/2006/relationships/notesMaster" Target="/ppt/notesMasters/notesMaster1.xml" Id="R118cd909267048e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64d449700884fde" /><Relationship Type="http://schemas.openxmlformats.org/officeDocument/2006/relationships/notesMaster" Target="/ppt/notesMasters/notesMaster1.xml" Id="R525dc961da9a41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4230f64048482c" /><Relationship Type="http://schemas.openxmlformats.org/officeDocument/2006/relationships/notesMaster" Target="/ppt/notesMasters/notesMaster1.xml" Id="R4b2edbbd32a449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e9c5daa49e49ec" /><Relationship Type="http://schemas.openxmlformats.org/officeDocument/2006/relationships/notesMaster" Target="/ppt/notesMasters/notesMaster1.xml" Id="Rffdb478cfa5248b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42dc8fabc7546f5" /><Relationship Type="http://schemas.openxmlformats.org/officeDocument/2006/relationships/notesMaster" Target="/ppt/notesMasters/notesMaster1.xml" Id="Re5ebf0be308b44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主讲时段：0:00至0:20，20秒（第4页包含视频播放）。</a:t>
            </a:r>
          </a:p>
          <a:p xmlns:a="http://schemas.openxmlformats.org/drawingml/2006/main">
            <a:r>
              <a:t>大家好，CJ-DocGuard 是面向仓颉库维护者的项目级接口文档生成及测试工作台。声明、示例、工具包版本和链接检查集中维护。本版有四十七个公共接口、十四个登记示例，核心处理和本地服务由仓颉实现。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动作：指向当前工作台画面与三组数量，说明面向库维护者。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来源：facts.json；assets/overview.png；docs/ui/2026-10-29-controls/native-workflow.json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主讲时段：0:20至0:55，35秒（第4页包含视频播放）。</a:t>
            </a:r>
          </a:p>
          <a:p xmlns:a="http://schemas.openxmlformats.org/drawingml/2006/main">
            <a:r>
              <a:t>赛题的三项交付，在工作台里对应明确入口。结构化文档提供声明、参数、返回类型和关联示例；示例测试调用真实编译器和运行库，记录退出状态并核对输出；版本矩阵和链接检查分别给出环境对应关系、失效位置与原因。维护者通过本地配置接入现有项目。登记项目不会自动允许执行，仍需要明确审阅与授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动作：从赛题交付讲到网页入口，再说明登记与执行信任。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来源：docs/finals-requirement-evidence-2026-10-29.md；assets/config.png；examples/healthy/docguard.toml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主讲时段：0:55至1:35，40秒（第4页包含视频播放）。</a:t>
            </a:r>
          </a:p>
          <a:p xmlns:a="http://schemas.openxmlformats.org/drawingml/2006/main">
            <a:r>
              <a:t>这里用 add 展开说明。接口页可以检索声明，看到两个整数参数和整数返回类型，关联到 arithmetic 等登记示例，并能跳到源码。左侧示例调用 add 二十和二十二，登记输出是四十二加换行，期望退出码为零。文档提供 JSON、HTML 和 Markdown 产物。接口出现于文档不代表所有输入都已经测试；重名和重载需要明确的符号身份。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动作：按声明→示例源码→期望输出→关联来源讲清链路。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来源：assets/api.png；examples/healthy/programs/arithmetic.cj；examples/healthy/docguard.toml；src/bindings.cj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主讲时段：1:35至3:35，120秒（第4页包含视频播放）。</a:t>
            </a:r>
          </a:p>
          <a:p xmlns:a="http://schemas.openxmlformats.org/drawingml/2006/main">
            <a:r>
              <a:t>下面通过两分钟系统视频，查看接口、核对输出、查询当前有效记录、定位坏链，并导出同一环境的代码包。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动作：点击视频封面播放。视频120秒，已包含配音，播放期间不重复讲解。结束后继续第5页。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来源：output/CJ-DocGuard-系统介绍-2分钟-1080p60.mp4；video/chapters.json；video/recording.json；src/export.cj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主讲时段：3:35至4:15，40秒（第4页包含视频播放）。</a:t>
            </a:r>
          </a:p>
          <a:p xmlns:a="http://schemas.openxmlformats.org/drawingml/2006/main">
            <a:r>
              <a:t>架构分为浏览器、仓颉本地服务、仓颉核心和真实工具链。浏览器负责标准网页交互，仓颉服务处理项目、配置和任务请求。核心使用 std.ast 提取受支持声明，再由符号绑定、执行编排和当前结果判断等模块处理。C 负责子进程监督，Bash 负责构建启动，Python 用于测试和只读协议适配等辅助工作。这里没有把进程资源限制说成完整安全沙箱。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动作：从服务架构讲到模块表和工具链，简述语言分工。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来源：workbench_native/；src/extractor.cj；src/evidence.cj；src/export.cj；scripts/runner.c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主讲时段：4:15至5:00，45秒（第4页包含视频播放）。</a:t>
            </a:r>
          </a:p>
          <a:p xmlns:a="http://schemas.openxmlformats.org/drawingml/2006/main">
            <a:r>
              <a:t>统计图和实际矩阵展示同一组当前记录。每个 SDK 有十三条运行通过和一条仅编译，两版合计二十六条运行通过、两条仅编译。矩阵按示例和工具包分别定位，点开单元格可以查看日志、退出码以及期望和实际输出。仅编译只说明编译完成，没有验证运行行为。这些数量描述本版登记样例，不是项目正确率，也不是全语言覆盖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动作：对照统计图、矩阵截图和原生表格，不把仅编译当作运行通过。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来源：facts.json；assets/matrix.png；docs/ui/2026-10-29-controls/native-workflow.json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主讲时段：5:00至5:40，40秒（第4页包含视频播放）。</a:t>
            </a:r>
          </a:p>
          <a:p xmlns:a="http://schemas.openxmlformats.org/drawingml/2006/main">
            <a:r>
              <a:t>当前可用的判断同时考虑源码、配置、工具链、平台、记录完整性和相应环境的最新尝试。源码变更后需要重测，最新尝试失败时不能回退旧成功，不同 SDK 或平台也不能相互替代。右侧历史列表仍保留过去的记录，但页面明确说明它们不直接代表当前结果。查询和导出使用同一套判断规则。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动作：解释三种拒绝情形，指向历史页面上的提示。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来源：assets/history.png；src/evidence.cj；src/engine.cj；src/export.cj；tests/native_evidence.cj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主讲时段：5:40至6:20，40秒（第4页包含视频播放）。</a:t>
            </a:r>
          </a:p>
          <a:p xmlns:a="http://schemas.openxmlformats.org/drawingml/2006/main">
            <a:r>
              <a:t>链接检查会保留来源行号、原始目标和失败原因。右侧是当前专项样例的实际页面：缺失文件和缺失锚点分别定位到 README 第十三和十四行。专项样例共二十六条，二十三条通过、两处预置坏链被识别、一条离线外链未确认；严格检查返回一符合预期。健康工作区另有一百七十八条链接通过，两组数量不混在一起。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动作：分开说明健康工作区与专项样例，定位两处预置失败。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来源：facts.json；assets/links.png；examples/link-checks/README.md；src/links.cj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主讲时段：6:20至7:00，40秒（第4页包含视频播放）。</a:t>
            </a:r>
          </a:p>
          <a:p xmlns:a="http://schemas.openxmlformats.org/drawingml/2006/main">
            <a:r>
              <a:t>近期工程优化主要体现在三个方面。首先，将核心和本地服务迁移到仓颉。其次，查询与导出统一采用当前输入和最新尝试的判断，修复链接解析及符号绑定等问题。最后，网页补齐真实选项、条件联动与任务反馈，避免编造进度百分比。当前二十三项原生服务专项回归通过，二十种页面场景和交互、三十次布局检查通过；七百三十九条历史完整保留，任务堆上限显式配置为一G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动作：结合两个界面画面说明选项和任务，再讲当前检查的各自口径。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来源：assets/project-options.png；assets/task-running.png；../roadshow-v3/checks/native-http-current.txt；../roadshow-v3/checks/ui-current.txt；docs/ui/2026-10-29-controls/layout-checks.json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主讲时段：7:00至7:20，20秒（第4页包含视频播放）。</a:t>
            </a:r>
          </a:p>
          <a:p xmlns:a="http://schemas.openxmlformats.org/drawingml/2006/main">
            <a:r>
              <a:t>交付内容包括结构化文档、独立环境测试记录、示例源码和重建脚本。按运行指南准备双工具链，就能从固定功能提交启动本地工作台。当前完整实测宿主为 macOS arm64。谢谢大家。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动作：指出交付包内容、源码编辑和固定版本，结束主讲。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来源：assets/source-editor.png；src/export.cj；docs/native-workbench.md；功能源码068a22a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按已实现和已测试范围回答：完整宿主为 macOS arm64，两版 SDK；解析使用 std.ast 和已测试声明子集；输出检查只覆盖登记行为；外链未联网则保留未确认；执行面向维护者明确授权的可信项目。其他宿主和复杂项目需单独复验。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动作：按问题选择支持范围中的对应行。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来源：docs/requirements-status.md；docs/native-workbench.md；src/extractor.cj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右侧是 arithmetic 的实际输出核对，SDK 一点一点三的记录中，退出码期望和实际均为零，stdout 期望和实际均为四十二加换行。运行通过要求实际执行并通过登记输出检查；仅编译没有运行验证。需重测和历史记录分别保留。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动作：指向退出码和stdout的期望、实际及通过状态。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来源：assets/output-check.png；examples/healthy/docguard.toml；src/engine.cj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运行前先准备并登记工具链，再克隆仓库并检出固定功能提交，构建原生服务并启动工作台。源码目录首次没有历史报告是正常状态。SDK 安装路径和系统 SDK 必须改为本机上实际存在的兼容路径。服务只用于本机。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动作：按先配置、再构建、后启动的顺序说明。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来源：docs/native-workbench.md；scripts/build_workbench.sh；scripts/workbench.sh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配置将项目源码、SDK、示例、符号与运行方式联系起来。示例片段声明 arithmetic 关联 add，按 run 模式检查输出四十二加换行与退出码零。网页查询的 SDK、平台和示例选项来自实际配置和记录，界面选择不会绕过服务端的当前结果校验。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动作：解释配置字段如何映射符号、SDK和查询条件。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来源：examples/healthy/docguard.toml；assets/query-form.png；web/views.js；src/bindings.cj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视觉：底纹为图像生成的纸张纹理，不是产品运行记录；本次网页操作由真实录屏呈现，矩阵与测试统计沿用当前功能源码068a22a的已记录结果。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46b3794c9642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54443d045e42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ccea12e94d48a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92fbafeda943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3208328c39469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070b50193449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8B18F7-66C3-4722-9A6C-AF3CB1212F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85DEAF-6654-4C64-B81B-7DEBD0C163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87408B7-5230-4D8B-95E9-64E9DC8903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DD7BA9-89CF-4EF7-A9F1-A2F1A9A45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3FD184F-FEFF-4C56-B20E-0370A1CCBA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9E8BD2-0C5E-4748-A463-495A65C475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A2860F-FB4E-46D9-90B3-6E8C45681B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A82A26B-2D26-4816-8485-B0499F82B2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A8ECDE-EA45-40A1-BDDB-7C801A77A3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FFCDC0-67E9-4A9B-A375-AD73E93E2F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20244b38a04376" /><Relationship Type="http://schemas.openxmlformats.org/officeDocument/2006/relationships/slideLayout" Target="/ppt/slideLayouts/slideLayout1.xml" Id="R2af57ff161554bfc" /><Relationship Type="http://schemas.openxmlformats.org/officeDocument/2006/relationships/slideLayout" Target="/ppt/slideLayouts/slideLayout2.xml" Id="Re10d143ca77f48b4" /><Relationship Type="http://schemas.openxmlformats.org/officeDocument/2006/relationships/slideLayout" Target="/ppt/slideLayouts/slideLayout3.xml" Id="Rcac06a143bc644c4" /><Relationship Type="http://schemas.openxmlformats.org/officeDocument/2006/relationships/slideLayout" Target="/ppt/slideLayouts/slideLayout4.xml" Id="R14cc0039a6304b9d" /><Relationship Type="http://schemas.openxmlformats.org/officeDocument/2006/relationships/slideLayout" Target="/ppt/slideLayouts/slideLayout5.xml" Id="R6663500fee2f43ed" /><Relationship Type="http://schemas.openxmlformats.org/officeDocument/2006/relationships/slideLayout" Target="/ppt/slideLayouts/slideLayout6.xml" Id="Rabd37775dcf849e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f57ff161554bfc"/>
    <p:sldLayoutId xmlns:r="http://schemas.openxmlformats.org/officeDocument/2006/relationships" id="2147483650" r:id="Re10d143ca77f48b4"/>
    <p:sldLayoutId xmlns:r="http://schemas.openxmlformats.org/officeDocument/2006/relationships" id="2147483651" r:id="Rcac06a143bc644c4"/>
    <p:sldLayoutId xmlns:r="http://schemas.openxmlformats.org/officeDocument/2006/relationships" id="2147483652" r:id="R14cc0039a6304b9d"/>
    <p:sldLayoutId xmlns:r="http://schemas.openxmlformats.org/officeDocument/2006/relationships" id="2147483653" r:id="R6663500fee2f43ed"/>
    <p:sldLayoutId xmlns:r="http://schemas.openxmlformats.org/officeDocument/2006/relationships" id="2147483654" r:id="Rabd37775dcf849e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otebook Marker">
      <a:dk1>
        <a:srgbClr val="000000"/>
      </a:dk1>
      <a:lt1>
        <a:srgbClr val="FFFFFF"/>
      </a:lt1>
      <a:dk2>
        <a:srgbClr val="2A302D"/>
      </a:dk2>
      <a:lt2>
        <a:srgbClr val="FAF6EB"/>
      </a:lt2>
      <a:accent1>
        <a:srgbClr val="28638C"/>
      </a:accent1>
      <a:accent2>
        <a:srgbClr val="397B60"/>
      </a:accent2>
      <a:accent3>
        <a:srgbClr val="D89E38"/>
      </a:accent3>
      <a:accent4>
        <a:srgbClr val="AA554B"/>
      </a:accent4>
      <a:accent5>
        <a:srgbClr val="8D9D86"/>
      </a:accent5>
      <a:accent6>
        <a:srgbClr val="77654F"/>
      </a:accent6>
      <a:hlink>
        <a:srgbClr val="28638C"/>
      </a:hlink>
      <a:folHlink>
        <a:srgbClr val="397B60"/>
      </a:folHlink>
    </a:clrScheme>
    <a:fontScheme name="">
      <a:majorFont>
        <a:latin typeface="Ma Shan Zheng"/>
        <a:ea typeface=""/>
        <a:cs typeface=""/>
      </a:majorFont>
      <a:minorFont>
        <a:latin typeface="Ma Shan Zheng"/>
        <a:ea typeface=""/>
        <a:cs typeface=""/>
      </a:minorFont>
    </a:fontScheme>
    <a:fmtScheme name="Notebook Marker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b264e7dbb244b2" /><Relationship Type="http://schemas.openxmlformats.org/officeDocument/2006/relationships/image" Target="/ppt/media/image.png" Id="R2fa0d9cccfba4e4f" /><Relationship Type="http://schemas.openxmlformats.org/officeDocument/2006/relationships/image" Target="/ppt/media/image.jpeg" Id="Rd3df94f32bfc4ae0" /><Relationship Type="http://schemas.openxmlformats.org/officeDocument/2006/relationships/notesSlide" Target="/ppt/notesSlides/notesSlide1.xml" Id="R4717716a49044afb" /></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e4ec2d626704c37" /><ns0:Relationship Type="http://schemas.openxmlformats.org/officeDocument/2006/relationships/image" Target="../media/image.png" Id="R747123de6f7f44d1" /><ns0:Relationship Type="http://schemas.openxmlformats.org/officeDocument/2006/relationships/image" Target="/ppt/media/image2.jpeg" Id="R2fe14dafe7494473" /><ns0:Relationship Type="http://schemas.openxmlformats.org/officeDocument/2006/relationships/notesSlide" Target="/ppt/notesSlides/notesSlide2.xml" Id="Rfc577d5dc5db47d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4880e191b4f4d45" /><ns0:Relationship Type="http://schemas.openxmlformats.org/officeDocument/2006/relationships/image" Target="../media/image.png" Id="Re49ad2d68c744429" /><ns0:Relationship Type="http://schemas.openxmlformats.org/officeDocument/2006/relationships/image" Target="/ppt/media/image3.jpeg" Id="R45b6af48e301463c" /><ns0:Relationship Type="http://schemas.openxmlformats.org/officeDocument/2006/relationships/notesSlide" Target="/ppt/notesSlides/notesSlide3.xml" Id="R46ec4d2c91ae4a4a" /></ns0:Relationships>
</file>

<file path=ppt/slides/_rels/slide4.xml.rels><?xml version='1.0' encoding='UTF-8' standalone='yes'?>
<ns0:Relationships xmlns:ns0="http://schemas.openxmlformats.org/package/2006/relationships"><ns0:Relationship Type="http://schemas.openxmlformats.org/officeDocument/2006/relationships/slideLayout" Target="/ppt/slideLayouts/slideLayout6.xml" Id="R2f8bf02b021a4ea0"/><ns0:Relationship Type="http://schemas.openxmlformats.org/officeDocument/2006/relationships/image" Target="../media/image.png" Id="R8cd5fc14c38b4024"/><ns0:Relationship Type="http://schemas.openxmlformats.org/officeDocument/2006/relationships/image" Target="/ppt/media/image5.png" Id="R81e0baf11dfa4e30"/><ns0:Relationship Type="http://schemas.openxmlformats.org/officeDocument/2006/relationships/notesSlide" Target="/ppt/notesSlides/notesSlide4.xml" Id="R07633f2c1d194033"/><ns0:Relationship Id="rIdDocGuardVideo" Type="http://schemas.openxmlformats.org/officeDocument/2006/relationships/video" Target="../media/cj-docguard-system-intro.mp4"/><ns0:Relationship Id="rIdDocGuardMedia" Type="http://schemas.microsoft.com/office/2007/relationships/media" Target="../media/cj-docguard-system-intro.mp4"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e725aee44d74e53" /><ns0:Relationship Type="http://schemas.openxmlformats.org/officeDocument/2006/relationships/image" Target="../media/image.png" Id="Rdf98e1234f524faf" /><ns0:Relationship Type="http://schemas.openxmlformats.org/officeDocument/2006/relationships/notesSlide" Target="/ppt/notesSlides/notesSlide5.xml" Id="Red3f1f88922442e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aed2ecadddd41b8" /><ns0:Relationship Type="http://schemas.openxmlformats.org/officeDocument/2006/relationships/image" Target="../media/image.png" Id="Rc8eb826dcb3c4795" /><ns0:Relationship Type="http://schemas.openxmlformats.org/officeDocument/2006/relationships/chart" Target="/ppt/slides/charts/chart1.xml" Id="Rbccddf664a9a4afe" /><ns0:Relationship Type="http://schemas.openxmlformats.org/officeDocument/2006/relationships/image" Target="/ppt/media/image4.jpeg" Id="Rb632d2d3c6504c50" /><ns0:Relationship Type="http://schemas.openxmlformats.org/officeDocument/2006/relationships/notesSlide" Target="/ppt/notesSlides/notesSlide6.xml" Id="Re4f804eed67742c4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64684708a404a1e" /><ns0:Relationship Type="http://schemas.openxmlformats.org/officeDocument/2006/relationships/image" Target="../media/image.png" Id="Rd5921c4d79c04668" /><ns0:Relationship Type="http://schemas.openxmlformats.org/officeDocument/2006/relationships/image" Target="/ppt/media/image5.jpeg" Id="R9a525263e71c4cc5" /><ns0:Relationship Type="http://schemas.openxmlformats.org/officeDocument/2006/relationships/notesSlide" Target="/ppt/notesSlides/notesSlide7.xml" Id="R6513fba3b2314fa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f4ff65d5d8b4938" /><ns0:Relationship Type="http://schemas.openxmlformats.org/officeDocument/2006/relationships/image" Target="../media/image.png" Id="R90e502a8925849f1" /><ns0:Relationship Type="http://schemas.openxmlformats.org/officeDocument/2006/relationships/image" Target="/ppt/media/image6.jpeg" Id="R3f9e5746f9e4418f" /><ns0:Relationship Type="http://schemas.openxmlformats.org/officeDocument/2006/relationships/notesSlide" Target="/ppt/notesSlides/notesSlide8.xml" Id="R85636963453b4fc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7f4c39e59a14366" /><ns0:Relationship Type="http://schemas.openxmlformats.org/officeDocument/2006/relationships/image" Target="../media/image.png" Id="R1f40389817224107" /><ns0:Relationship Type="http://schemas.openxmlformats.org/officeDocument/2006/relationships/image" Target="/ppt/media/image7.jpeg" Id="Rb46b3893488045ce" /><ns0:Relationship Type="http://schemas.openxmlformats.org/officeDocument/2006/relationships/image" Target="/ppt/media/image8.jpeg" Id="R3dcfcaa8bb6a4528" /><ns0:Relationship Type="http://schemas.openxmlformats.org/officeDocument/2006/relationships/notesSlide" Target="/ppt/notesSlides/notesSlide9.xml" Id="R1a634860b68048b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f6763c2dff24b70" /><ns0:Relationship Type="http://schemas.openxmlformats.org/officeDocument/2006/relationships/image" Target="../media/image.png" Id="R5fa00c7482764ec0" /><ns0:Relationship Type="http://schemas.openxmlformats.org/officeDocument/2006/relationships/image" Target="/ppt/media/image9.jpeg" Id="R35b0a004b68c446c" /><ns0:Relationship Type="http://schemas.openxmlformats.org/officeDocument/2006/relationships/notesSlide" Target="/ppt/notesSlides/notesSlide10.xml" Id="Rd5cecf7a12a8431f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84fb36637e64c9d" /><ns0:Relationship Type="http://schemas.openxmlformats.org/officeDocument/2006/relationships/image" Target="../media/image.png" Id="Rfd1f6e03f8424b19" /><ns0:Relationship Type="http://schemas.openxmlformats.org/officeDocument/2006/relationships/notesSlide" Target="/ppt/notesSlides/notesSlide11.xml" Id="R7ce35b63ba3545b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8b7c14f68444e3d" /><ns0:Relationship Type="http://schemas.openxmlformats.org/officeDocument/2006/relationships/image" Target="../media/image.png" Id="R6f64758efa7f44d1" /><ns0:Relationship Type="http://schemas.openxmlformats.org/officeDocument/2006/relationships/image" Target="/ppt/media/image10.jpeg" Id="R6ac05a9e22a24863" /><ns0:Relationship Type="http://schemas.openxmlformats.org/officeDocument/2006/relationships/notesSlide" Target="/ppt/notesSlides/notesSlide12.xml" Id="Rb6c73dd805b245d5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4b3a38342ed4e55" /><ns0:Relationship Type="http://schemas.openxmlformats.org/officeDocument/2006/relationships/image" Target="../media/image.png" Id="Rd80336a117474a77" /><ns0:Relationship Type="http://schemas.openxmlformats.org/officeDocument/2006/relationships/notesSlide" Target="/ppt/notesSlides/notesSlide13.xml" Id="R55c680b72bb0433c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f166ad4c0f24533" /><ns0:Relationship Type="http://schemas.openxmlformats.org/officeDocument/2006/relationships/image" Target="../media/image.png" Id="R63dd49fa34c1467a" /><ns0:Relationship Type="http://schemas.openxmlformats.org/officeDocument/2006/relationships/image" Target="/ppt/media/image11.jpeg" Id="R37332707561342ad" /><ns0:Relationship Type="http://schemas.openxmlformats.org/officeDocument/2006/relationships/notesSlide" Target="/ppt/notesSlides/notesSlide14.xml" Id="R5b16681b608c423e" /></ns0: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运行通过</c:v>
          </c:tx>
          <c:spPr>
            <a:solidFill xmlns:a="http://schemas.openxmlformats.org/drawingml/2006/main">
              <a:srgbClr val="9FBAA5"/>
            </a:solidFill>
            <a:ln xmlns:a="http://schemas.openxmlformats.org/drawingml/2006/main" w="19050">
              <a:solidFill>
                <a:srgbClr val="397B60"/>
              </a:solidFill>
              <a:prstDash val="solid"/>
            </a:ln>
          </c:spPr>
          <c:invertIfNegative val="0"/>
          <c:cat>
            <c:strRef>
              <c:f>'Chart Data'!$A$2:$A$3</c:f>
              <c:strCache>
                <c:ptCount val="2"/>
                <c:pt idx="0">
                  <c:v>SDK 1.2.0</c:v>
                </c:pt>
                <c:pt idx="1">
                  <c:v>SDK 1.1.3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ser>
          <c:idx val="1"/>
          <c:order val="1"/>
          <c:tx>
            <c:v>仅编译</c:v>
          </c:tx>
          <c:spPr>
            <a:solidFill xmlns:a="http://schemas.openxmlformats.org/drawingml/2006/main">
              <a:srgbClr val="EFD18C"/>
            </a:solidFill>
            <a:ln xmlns:a="http://schemas.openxmlformats.org/drawingml/2006/main" w="19050">
              <a:solidFill>
                <a:srgbClr val="A87630"/>
              </a:solidFill>
              <a:prstDash val="solid"/>
            </a:ln>
          </c:spPr>
          <c:invertIfNegative val="0"/>
          <c:cat>
            <c:strRef>
              <c:f>'Chart Data'!$C$2:$C$3</c:f>
              <c:strCache>
                <c:ptCount val="2"/>
                <c:pt idx="0">
                  <c:v>SDK 1.2.0</c:v>
                </c:pt>
                <c:pt idx="1">
                  <c:v>SDK 1.1.3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2A302D"/>
                  </a:solidFill>
                  <a:latin typeface="Chalkboard SE"/>
                  <a:ea typeface="Chalkboard SE"/>
                  <a:cs typeface="Chalkboard SE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pPr>
          </a:p>
        </c:txPr>
        <c:crossAx val="48672768"/>
      </c:catAx>
      <c:valAx>
        <c:axId val="48672768"/>
        <c:scaling>
          <c:orientation val="minMax"/>
          <c:max val="1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BD2C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2A302D"/>
              </a:solidFill>
              <a:latin typeface="Ma Shan Zheng"/>
              <a:ea typeface="Ma Shan Zheng"/>
              <a:cs typeface="Ma Shan Zheng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8F5E95-7A32-4925-8366-E438984D07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0d9cccfba4e4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FC86AFEE-E639-47C4-9046-F503F904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1 / 10">
            <a:extLst xmlns:a="http://schemas.openxmlformats.org/drawingml/2006/main">
              <a:ext uri="{FF2B5EF4-FFF2-40B4-BE49-F238E27FC236}">
                <a16:creationId xmlns:a16="http://schemas.microsoft.com/office/drawing/2014/main" id="{EEDFED59-A06A-4789-B727-2B755677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01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C9A33B5A-C056-4312-A0D7-5E0DE81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009650"/>
            <a:ext cx="1809750" cy="276225"/>
          </a:xfrm>
          <a:custGeom xmlns:a="http://schemas.openxmlformats.org/drawingml/2006/main">
            <a:pathLst>
              <a:path w="1809750" h="276225">
                <a:moveTo>
                  <a:pt x="0" y="28575"/>
                </a:moveTo>
                <a:lnTo>
                  <a:pt x="1762125" y="0"/>
                </a:lnTo>
                <a:lnTo>
                  <a:pt x="1809750" y="247650"/>
                </a:lnTo>
                <a:lnTo>
                  <a:pt x="38100" y="27622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决赛答辩">
            <a:extLst xmlns:a="http://schemas.openxmlformats.org/drawingml/2006/main">
              <a:ext uri="{FF2B5EF4-FFF2-40B4-BE49-F238E27FC236}">
                <a16:creationId xmlns:a16="http://schemas.microsoft.com/office/drawing/2014/main" id="{B049138E-AC4F-4289-AE15-0E462B3F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191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6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决赛答辩</a:t>
            </a:r>
          </a:p>
        </p:txBody>
      </p:sp>
      <p:sp>
        <p:nvSpPr>
          <p:cNvPr id="6" name="CJ-DocGuard">
            <a:extLst xmlns:a="http://schemas.openxmlformats.org/drawingml/2006/main">
              <a:ext uri="{FF2B5EF4-FFF2-40B4-BE49-F238E27FC236}">
                <a16:creationId xmlns:a16="http://schemas.microsoft.com/office/drawing/2014/main" id="{DC38CCD9-3A33-4840-BCB3-73D23369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52575"/>
            <a:ext cx="5429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defRPr>
            </a:pPr>
            <a:r>
              <a:rPr sz="4650" b="0">
                <a:solidFill>
                  <a:srgbClr val="2A302D"/>
                </a:solidFill>
                <a:latin typeface="Chalkboard SE"/>
                <a:ea typeface="Chalkboard SE"/>
                <a:cs typeface="Chalkboard SE"/>
              </a:rPr>
              <a:t>CJ-DocGuard</a:t>
            </a:r>
          </a:p>
        </p:txBody>
      </p:sp>
      <p:sp>
        <p:nvSpPr>
          <p:cNvPr id="7" name="仓颉项目级 API&#10;文档生成及测试">
            <a:extLst xmlns:a="http://schemas.openxmlformats.org/drawingml/2006/main">
              <a:ext uri="{FF2B5EF4-FFF2-40B4-BE49-F238E27FC236}">
                <a16:creationId xmlns:a16="http://schemas.microsoft.com/office/drawing/2014/main" id="{3271018B-9AB1-46BE-BF64-8EC5D267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43175"/>
            <a:ext cx="53054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仓颉项目级 API</a:t>
            </a:r>
          </a:p>
          <a:p xmlns:a="http://schemas.openxmlformats.org/drawingml/2006/main">
            <a:pPr algn="l">
              <a:def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8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文档生成及测试</a:t>
            </a:r>
          </a:p>
        </p:txBody>
      </p:sp>
      <p:sp>
        <p:nvSpPr>
          <p:cNvPr id="8" name="面向仓颉库维护者&#10;维护接口说明、受测示例与版本关系&#10;在一个本地工作台查看检查结果">
            <a:extLst xmlns:a="http://schemas.openxmlformats.org/drawingml/2006/main">
              <a:ext uri="{FF2B5EF4-FFF2-40B4-BE49-F238E27FC236}">
                <a16:creationId xmlns:a16="http://schemas.microsoft.com/office/drawing/2014/main" id="{CFB4A562-98B3-4FB4-9D34-38D9AFA1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43325"/>
            <a:ext cx="52768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面向仓颉库维护者</a:t>
            </a:r>
          </a:p>
          <a:p xmlns:a="http://schemas.openxmlformats.org/drawingml/2006/main">
            <a: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维护接口说明、受测示例与版本关系</a:t>
            </a:r>
          </a:p>
          <a:p xmlns:a="http://schemas.openxmlformats.org/drawingml/2006/main">
            <a: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在一个本地工作台查看检查结果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0E870-576E-4441-8117-43B7BAC1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943100"/>
            <a:ext cx="5229225" cy="3324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98018-608E-4065-BA6A-68252B3F0B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f94f32bfc4ae0"/>
          <a:srcRect xmlns:a="http://schemas.openxmlformats.org/drawingml/2006/main" l="20000" t="19000" r="1500" b="8000"/>
          <a:stretch xmlns:a="http://schemas.openxmlformats.org/drawingml/2006/main"/>
        </p:blipFill>
        <p:spPr>
          <a:xfrm xmlns:a="http://schemas.openxmlformats.org/drawingml/2006/main">
            <a:off x="6305550" y="1990725"/>
            <a:ext cx="5133975" cy="3228975"/>
          </a:xfrm>
          <a:prstGeom xmlns:a="http://schemas.openxmlformats.org/drawingml/2006/main" prst="rect">
            <a:avLst/>
          </a:prstGeom>
        </p:spPr>
      </p:pic>
      <p:sp>
        <p:nvSpPr>
          <p:cNvPr id="11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8F30DA89-59A6-4198-81E7-EAFE065F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943100"/>
            <a:ext cx="5229225" cy="3324225"/>
          </a:xfrm>
          <a:custGeom xmlns:a="http://schemas.openxmlformats.org/drawingml/2006/main">
            <a:pathLst>
              <a:path w="5229225" h="3324225">
                <a:moveTo>
                  <a:pt x="38100" y="28575"/>
                </a:moveTo>
                <a:cubicBezTo>
                  <a:pt x="1464183" y="0"/>
                  <a:pt x="3555873" y="57150"/>
                  <a:pt x="5200650" y="19050"/>
                </a:cubicBezTo>
                <a:cubicBezTo>
                  <a:pt x="5238750" y="930783"/>
                  <a:pt x="5191125" y="2493169"/>
                  <a:pt x="5219700" y="3295650"/>
                </a:cubicBezTo>
                <a:cubicBezTo>
                  <a:pt x="3451289" y="3333750"/>
                  <a:pt x="1516475" y="3286125"/>
                  <a:pt x="19050" y="3314700"/>
                </a:cubicBezTo>
                <a:cubicBezTo>
                  <a:pt x="47625" y="2326958"/>
                  <a:pt x="0" y="99726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A74ED-02FC-427A-BC78-CC2BDA65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943100"/>
            <a:ext cx="5229225" cy="3324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当前工作区：接口、示例、版本结果集中查看">
            <a:extLst xmlns:a="http://schemas.openxmlformats.org/drawingml/2006/main">
              <a:ext uri="{FF2B5EF4-FFF2-40B4-BE49-F238E27FC236}">
                <a16:creationId xmlns:a16="http://schemas.microsoft.com/office/drawing/2014/main" id="{53CDF110-5010-45AF-BACF-BE85814F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362575"/>
            <a:ext cx="5191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当前工作区：接口、示例、版本结果集中查看</a:t>
            </a:r>
          </a:p>
        </p:txBody>
      </p:sp>
      <p:sp>
        <p:nvSpPr>
          <p:cNvPr id="1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DC22737C-4523-4FF3-AD85-12179D8C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5048250" cy="257175"/>
          </a:xfrm>
          <a:custGeom xmlns:a="http://schemas.openxmlformats.org/drawingml/2006/main">
            <a:pathLst>
              <a:path w="5048250" h="257175">
                <a:moveTo>
                  <a:pt x="0" y="28575"/>
                </a:moveTo>
                <a:lnTo>
                  <a:pt x="5000625" y="0"/>
                </a:lnTo>
                <a:lnTo>
                  <a:pt x="5048250" y="228600"/>
                </a:lnTo>
                <a:lnTo>
                  <a:pt x="38100" y="257175"/>
                </a:lnTo>
                <a:close/>
              </a:path>
            </a:pathLst>
          </a:custGeom>
          <a:solidFill xmlns:a="http://schemas.openxmlformats.org/drawingml/2006/main">
            <a:srgbClr val="DEE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本地网页 · 原生仓颉服务与核心">
            <a:extLst xmlns:a="http://schemas.openxmlformats.org/drawingml/2006/main">
              <a:ext uri="{FF2B5EF4-FFF2-40B4-BE49-F238E27FC236}">
                <a16:creationId xmlns:a16="http://schemas.microsoft.com/office/drawing/2014/main" id="{61AC3632-2348-4788-9E2D-483FFBB9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981575"/>
            <a:ext cx="525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3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本地网页 · 原生仓颉服务与核心</a:t>
            </a:r>
          </a:p>
        </p:txBody>
      </p:sp>
      <p:sp>
        <p:nvSpPr>
          <p:cNvPr id="16" name="47">
            <a:extLst xmlns:a="http://schemas.openxmlformats.org/drawingml/2006/main">
              <a:ext uri="{FF2B5EF4-FFF2-40B4-BE49-F238E27FC236}">
                <a16:creationId xmlns:a16="http://schemas.microsoft.com/office/drawing/2014/main" id="{64F8D3B2-CB2E-478F-B0E5-70B3AB80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435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47</a:t>
            </a:r>
          </a:p>
        </p:txBody>
      </p:sp>
      <p:sp>
        <p:nvSpPr>
          <p:cNvPr id="17" name="公共接口">
            <a:extLst xmlns:a="http://schemas.openxmlformats.org/drawingml/2006/main">
              <a:ext uri="{FF2B5EF4-FFF2-40B4-BE49-F238E27FC236}">
                <a16:creationId xmlns:a16="http://schemas.microsoft.com/office/drawing/2014/main" id="{5640272A-B934-417A-9825-37FDFF09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934075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公共接口</a:t>
            </a:r>
          </a:p>
        </p:txBody>
      </p:sp>
      <p:sp>
        <p:nvSpPr>
          <p:cNvPr id="18" name="14">
            <a:extLst xmlns:a="http://schemas.openxmlformats.org/drawingml/2006/main">
              <a:ext uri="{FF2B5EF4-FFF2-40B4-BE49-F238E27FC236}">
                <a16:creationId xmlns:a16="http://schemas.microsoft.com/office/drawing/2014/main" id="{F196BE01-C07D-413B-A4F1-08723194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7435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14</a:t>
            </a:r>
          </a:p>
        </p:txBody>
      </p:sp>
      <p:sp>
        <p:nvSpPr>
          <p:cNvPr id="19" name="登记示例">
            <a:extLst xmlns:a="http://schemas.openxmlformats.org/drawingml/2006/main">
              <a:ext uri="{FF2B5EF4-FFF2-40B4-BE49-F238E27FC236}">
                <a16:creationId xmlns:a16="http://schemas.microsoft.com/office/drawing/2014/main" id="{69F98BD2-F1F2-4B66-9892-E9214F03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934075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登记示例</a:t>
            </a:r>
          </a:p>
        </p:txBody>
      </p:sp>
      <p:sp>
        <p:nvSpPr>
          <p:cNvPr id="20" name="2">
            <a:extLst xmlns:a="http://schemas.openxmlformats.org/drawingml/2006/main">
              <a:ext uri="{FF2B5EF4-FFF2-40B4-BE49-F238E27FC236}">
                <a16:creationId xmlns:a16="http://schemas.microsoft.com/office/drawing/2014/main" id="{B9CFE396-C08E-4518-ACB9-5645E07B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743575"/>
            <a:ext cx="66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36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2</a:t>
            </a:r>
          </a:p>
        </p:txBody>
      </p:sp>
      <p:sp>
        <p:nvSpPr>
          <p:cNvPr id="21" name="SDK 版本">
            <a:extLst xmlns:a="http://schemas.openxmlformats.org/drawingml/2006/main">
              <a:ext uri="{FF2B5EF4-FFF2-40B4-BE49-F238E27FC236}">
                <a16:creationId xmlns:a16="http://schemas.microsoft.com/office/drawing/2014/main" id="{6B479639-5873-4422-A641-97CD02CE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934075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SDK 版本</a:t>
            </a:r>
          </a:p>
        </p:txBody>
      </p:sp>
      <p:sp>
        <p:nvSpPr>
          <p:cNvPr id="22" name="当前完整实测：macOS arm64；仓颉 1.1.3 / 1.2.0">
            <a:extLst xmlns:a="http://schemas.openxmlformats.org/drawingml/2006/main">
              <a:ext uri="{FF2B5EF4-FFF2-40B4-BE49-F238E27FC236}">
                <a16:creationId xmlns:a16="http://schemas.microsoft.com/office/drawing/2014/main" id="{597803B0-4FE9-4168-861E-74D8656E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0557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当前完整实测：macOS arm64；仓颉 1.1.3 / 1.2.0</a:t>
            </a:r>
          </a:p>
        </p:txBody>
      </p:sp>
    </p:spTree>
    <p:extLst>
      <p:ext uri="{BB962C8B-B14F-4D97-AF65-F5344CB8AC3E}">
        <p14:creationId xmlns:p14="http://schemas.microsoft.com/office/powerpoint/2010/main" val="1480916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271D5-6C06-46FF-AC76-74E3611E31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123de6f7f44d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2DB1A1E1-44AD-4362-83CB-2F22B40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A3AD67B9-93CD-40E0-90E0-CB27DB31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02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3E005972-79F1-4F68-8402-58324932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3467100" cy="219075"/>
          </a:xfrm>
          <a:custGeom xmlns:a="http://schemas.openxmlformats.org/drawingml/2006/main">
            <a:pathLst>
              <a:path w="3467100" h="219075">
                <a:moveTo>
                  <a:pt x="0" y="28575"/>
                </a:moveTo>
                <a:lnTo>
                  <a:pt x="3419475" y="0"/>
                </a:lnTo>
                <a:lnTo>
                  <a:pt x="346710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赛题交付与库维护流程">
            <a:extLst xmlns:a="http://schemas.openxmlformats.org/drawingml/2006/main">
              <a:ext uri="{FF2B5EF4-FFF2-40B4-BE49-F238E27FC236}">
                <a16:creationId xmlns:a16="http://schemas.microsoft.com/office/drawing/2014/main" id="{38977ECA-270A-4997-9760-48155E0A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赛题交付与库维护流程</a:t>
            </a:r>
          </a:p>
        </p:txBody>
      </p:sp>
      <p:sp>
        <p:nvSpPr>
          <p:cNvPr id="6" name="从接入项目，到生成文档、执行示例和定位问题">
            <a:extLst xmlns:a="http://schemas.openxmlformats.org/drawingml/2006/main">
              <a:ext uri="{FF2B5EF4-FFF2-40B4-BE49-F238E27FC236}">
                <a16:creationId xmlns:a16="http://schemas.microsoft.com/office/drawing/2014/main" id="{714DB552-C966-480F-8865-A2EBE786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从接入项目，到生成文档、执行示例和定位问题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A826B-D89A-406D-8185-7784F746E895}"/>
              </a:ext>
            </a:extLst>
          </p:cNvPr>
          <p:cNvGraphicFramePr/>
          <p:nvPr/>
        </p:nvGraphicFramePr>
        <p:xfrm>
          <a:off xmlns:a="http://schemas.openxmlformats.org/drawingml/2006/main" x="714375" y="2076450"/>
          <a:ext xmlns:a="http://schemas.openxmlformats.org/drawingml/2006/main" cx="7162800" cy="3124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71650"/>
                <a:gridCol w="1924050"/>
                <a:gridCol w="3467100"/>
              </a:tblGrid>
              <a:tr h="78105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交付要求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网页入口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实际产物与检查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78105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结构化文档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接口文档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源码编辑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声明、参数、返回类型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关联示例及源码位置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78105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示例正确性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测试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示例测试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任务中心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真实编译与运行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退出码、期望/实际输出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78105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SDK 版本与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索引链接测试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SDK 测试矩阵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链接与问题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按SDK和平台保留结果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目标文件、锚点与来源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8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45B7BFBC-B0CE-41A4-BE13-77DD6F1A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57400"/>
            <a:ext cx="7200900" cy="3162300"/>
          </a:xfrm>
          <a:custGeom xmlns:a="http://schemas.openxmlformats.org/drawingml/2006/main">
            <a:pathLst>
              <a:path w="7200900" h="3162300">
                <a:moveTo>
                  <a:pt x="38100" y="28575"/>
                </a:moveTo>
                <a:cubicBezTo>
                  <a:pt x="2016252" y="0"/>
                  <a:pt x="4896612" y="57150"/>
                  <a:pt x="7172325" y="19050"/>
                </a:cubicBezTo>
                <a:cubicBezTo>
                  <a:pt x="7210425" y="885444"/>
                  <a:pt x="7162800" y="2371725"/>
                  <a:pt x="7191375" y="3133725"/>
                </a:cubicBezTo>
                <a:cubicBezTo>
                  <a:pt x="4752594" y="3171825"/>
                  <a:pt x="2088261" y="3124200"/>
                  <a:pt x="19050" y="3152775"/>
                </a:cubicBezTo>
                <a:cubicBezTo>
                  <a:pt x="47625" y="2213610"/>
                  <a:pt x="0" y="948690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05FFE2-7479-4757-B7D6-BA7900E5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57400"/>
            <a:ext cx="7200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接入现有库">
            <a:extLst xmlns:a="http://schemas.openxmlformats.org/drawingml/2006/main">
              <a:ext uri="{FF2B5EF4-FFF2-40B4-BE49-F238E27FC236}">
                <a16:creationId xmlns:a16="http://schemas.microsoft.com/office/drawing/2014/main" id="{7A81E332-1129-4E8C-BE8C-056B6002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669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接入现有库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7F186-9A49-45F4-900D-8325CF49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62225"/>
            <a:ext cx="3238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CACF7-0E28-47A5-BD6C-C1A37FB17E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e14dafe7494473"/>
          <a:srcRect xmlns:a="http://schemas.openxmlformats.org/drawingml/2006/main" l="22500" t="16000" r="34000" b="69000"/>
          <a:stretch xmlns:a="http://schemas.openxmlformats.org/drawingml/2006/main"/>
        </p:blipFill>
        <p:spPr>
          <a:xfrm xmlns:a="http://schemas.openxmlformats.org/drawingml/2006/main">
            <a:off x="8286750" y="2609850"/>
            <a:ext cx="3143250" cy="1504950"/>
          </a:xfrm>
          <a:prstGeom xmlns:a="http://schemas.openxmlformats.org/drawingml/2006/main" prst="rect">
            <a:avLst/>
          </a:prstGeom>
        </p:spPr>
      </p:pic>
      <p:sp>
        <p:nvSpPr>
          <p:cNvPr id="13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4FA5970A-CF5A-43D7-90EE-F95C811C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62225"/>
            <a:ext cx="3238500" cy="1600200"/>
          </a:xfrm>
          <a:custGeom xmlns:a="http://schemas.openxmlformats.org/drawingml/2006/main">
            <a:pathLst>
              <a:path w="3238500" h="1600200">
                <a:moveTo>
                  <a:pt x="38100" y="28575"/>
                </a:moveTo>
                <a:cubicBezTo>
                  <a:pt x="906780" y="0"/>
                  <a:pt x="2202180" y="57150"/>
                  <a:pt x="3209925" y="19050"/>
                </a:cubicBezTo>
                <a:cubicBezTo>
                  <a:pt x="3248025" y="448056"/>
                  <a:pt x="3200400" y="1200150"/>
                  <a:pt x="3228975" y="1571625"/>
                </a:cubicBezTo>
                <a:cubicBezTo>
                  <a:pt x="2137410" y="1609725"/>
                  <a:pt x="939165" y="1562100"/>
                  <a:pt x="19050" y="1590675"/>
                </a:cubicBezTo>
                <a:cubicBezTo>
                  <a:pt x="47625" y="1120140"/>
                  <a:pt x="0" y="480060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2E247-6154-45D5-AD9E-1C22B531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62225"/>
            <a:ext cx="3238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登记本地配置绝对路径；&#10;登记不会自动授予执行信任。">
            <a:extLst xmlns:a="http://schemas.openxmlformats.org/drawingml/2006/main">
              <a:ext uri="{FF2B5EF4-FFF2-40B4-BE49-F238E27FC236}">
                <a16:creationId xmlns:a16="http://schemas.microsoft.com/office/drawing/2014/main" id="{211E0E12-356C-4106-B9C8-C3CCCEE3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305300"/>
            <a:ext cx="320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登记本地配置绝对路径；</a:t>
            </a:r>
          </a:p>
          <a:p xmlns:a="http://schemas.openxmlformats.org/drawingml/2006/main">
            <a: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登记不会自动授予执行信任。</a:t>
            </a:r>
          </a:p>
        </p:txBody>
      </p:sp>
      <p:sp>
        <p:nvSpPr>
          <p:cNvPr id="16" name="接入 → 诊断环境&#10;生成文档 → 运行与检查&#10;查看结果 → 修改后重测">
            <a:extLst xmlns:a="http://schemas.openxmlformats.org/drawingml/2006/main">
              <a:ext uri="{FF2B5EF4-FFF2-40B4-BE49-F238E27FC236}">
                <a16:creationId xmlns:a16="http://schemas.microsoft.com/office/drawing/2014/main" id="{3C7C17BB-31C4-4FD8-8927-C11B08A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29225"/>
            <a:ext cx="32004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接入 → 诊断环境</a:t>
            </a:r>
          </a:p>
          <a:p xmlns:a="http://schemas.openxmlformats.org/drawingml/2006/main">
            <a: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生成文档 → 运行与检查</a:t>
            </a:r>
          </a:p>
          <a:p xmlns:a="http://schemas.openxmlformats.org/drawingml/2006/main">
            <a:pPr algn="l">
              <a:def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查看结果 → 修改后重测</a:t>
            </a:r>
          </a:p>
        </p:txBody>
      </p:sp>
      <p:sp>
        <p:nvSpPr>
          <p:cNvPr id="17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FA79AC63-F53F-419D-9FD7-051B917B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695950"/>
            <a:ext cx="6991350" cy="257175"/>
          </a:xfrm>
          <a:custGeom xmlns:a="http://schemas.openxmlformats.org/drawingml/2006/main">
            <a:pathLst>
              <a:path w="6991350" h="257175">
                <a:moveTo>
                  <a:pt x="0" y="28575"/>
                </a:moveTo>
                <a:lnTo>
                  <a:pt x="6943725" y="0"/>
                </a:lnTo>
                <a:lnTo>
                  <a:pt x="6991350" y="228600"/>
                </a:lnTo>
                <a:lnTo>
                  <a:pt x="38100" y="257175"/>
                </a:lnTo>
                <a:close/>
              </a:path>
            </a:pathLst>
          </a:custGeom>
          <a:solidFill xmlns:a="http://schemas.openxmlformats.org/drawingml/2006/main">
            <a:srgbClr val="DEE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把查文档、核示例、比版本&#10;放进可重复执行的维护流程。">
            <a:extLst xmlns:a="http://schemas.openxmlformats.org/drawingml/2006/main">
              <a:ext uri="{FF2B5EF4-FFF2-40B4-BE49-F238E27FC236}">
                <a16:creationId xmlns:a16="http://schemas.microsoft.com/office/drawing/2014/main" id="{C072F514-E505-440E-BCE8-B388BB90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70580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把查文档、核示例、比版本</a:t>
            </a:r>
          </a:p>
          <a:p xmlns:a="http://schemas.openxmlformats.org/drawingml/2006/main">
            <a: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放进可重复执行的维护流程。</a:t>
            </a:r>
          </a:p>
        </p:txBody>
      </p:sp>
      <p:sp>
        <p:nvSpPr>
          <p:cNvPr id="19" name="API：应用程序接口；SDK：仓颉编译器、运行库等开发工具。">
            <a:extLst xmlns:a="http://schemas.openxmlformats.org/drawingml/2006/main">
              <a:ext uri="{FF2B5EF4-FFF2-40B4-BE49-F238E27FC236}">
                <a16:creationId xmlns:a16="http://schemas.microsoft.com/office/drawing/2014/main" id="{D4099AC8-A487-4CD3-AD01-CF968F3C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0557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API：应用程序接口；SDK：仓颉编译器、运行库等开发工具。</a:t>
            </a:r>
          </a:p>
        </p:txBody>
      </p:sp>
    </p:spTree>
    <p:extLst>
      <p:ext uri="{BB962C8B-B14F-4D97-AF65-F5344CB8AC3E}">
        <p14:creationId xmlns:p14="http://schemas.microsoft.com/office/powerpoint/2010/main" val="16148073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65E913-25C0-4801-B84A-EB6BE99BE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ad2d68c74442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11DDF445-9994-416E-86E3-94936274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607700D3-6B5E-4DC7-BECA-5BBF47FD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03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A8CEC96E-1F1B-44F2-B228-F5F9485B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4724400" cy="219075"/>
          </a:xfrm>
          <a:custGeom xmlns:a="http://schemas.openxmlformats.org/drawingml/2006/main">
            <a:pathLst>
              <a:path w="4724400" h="219075">
                <a:moveTo>
                  <a:pt x="0" y="28575"/>
                </a:moveTo>
                <a:lnTo>
                  <a:pt x="4676775" y="0"/>
                </a:lnTo>
                <a:lnTo>
                  <a:pt x="472440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从接口说明，找到可运行的示例">
            <a:extLst xmlns:a="http://schemas.openxmlformats.org/drawingml/2006/main">
              <a:ext uri="{FF2B5EF4-FFF2-40B4-BE49-F238E27FC236}">
                <a16:creationId xmlns:a16="http://schemas.microsoft.com/office/drawing/2014/main" id="{6E4AD8D7-057C-4BAF-A7D0-874B9545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从接口说明，找到可运行的示例</a:t>
            </a:r>
          </a:p>
        </p:txBody>
      </p:sp>
      <p:sp>
        <p:nvSpPr>
          <p:cNvPr id="6" name="声明、源码位置、参数、返回类型和登记示例互相关联">
            <a:extLst xmlns:a="http://schemas.openxmlformats.org/drawingml/2006/main">
              <a:ext uri="{FF2B5EF4-FFF2-40B4-BE49-F238E27FC236}">
                <a16:creationId xmlns:a16="http://schemas.microsoft.com/office/drawing/2014/main" id="{9BA5516D-62FC-47C9-AFA5-C5A2FA82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声明、源码位置、参数、返回类型和登记示例互相关联</a:t>
            </a:r>
          </a:p>
        </p:txBody>
      </p:sp>
      <p:sp>
        <p:nvSpPr>
          <p:cNvPr id="7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562C20CC-F5B9-488E-BD2A-A6B2A768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66925"/>
            <a:ext cx="4914900" cy="1323975"/>
          </a:xfrm>
          <a:custGeom xmlns:a="http://schemas.openxmlformats.org/drawingml/2006/main">
            <a:pathLst>
              <a:path w="4914900" h="1323975">
                <a:moveTo>
                  <a:pt x="38100" y="28575"/>
                </a:moveTo>
                <a:cubicBezTo>
                  <a:pt x="1376172" y="0"/>
                  <a:pt x="3342132" y="57150"/>
                  <a:pt x="4886325" y="19050"/>
                </a:cubicBezTo>
                <a:cubicBezTo>
                  <a:pt x="4924425" y="370713"/>
                  <a:pt x="4876800" y="992981"/>
                  <a:pt x="4905375" y="1295400"/>
                </a:cubicBezTo>
                <a:cubicBezTo>
                  <a:pt x="3243834" y="1333500"/>
                  <a:pt x="1425321" y="1285875"/>
                  <a:pt x="19050" y="1314450"/>
                </a:cubicBezTo>
                <a:cubicBezTo>
                  <a:pt x="47625" y="926783"/>
                  <a:pt x="0" y="397192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FFFDF7"/>
          </a:solidFill>
          <a:ln xmlns:a="http://schemas.openxmlformats.org/drawingml/2006/main" w="23813">
            <a:solidFill>
              <a:srgbClr val="28638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C108F-EC81-47FA-9705-AB5A8EED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66925"/>
            <a:ext cx="491490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add · 公共函数">
            <a:extLst xmlns:a="http://schemas.openxmlformats.org/drawingml/2006/main">
              <a:ext uri="{FF2B5EF4-FFF2-40B4-BE49-F238E27FC236}">
                <a16:creationId xmlns:a16="http://schemas.microsoft.com/office/drawing/2014/main" id="{DC4DFB8C-8028-4CEE-8B79-98646B9F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45624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add · 公共函数</a:t>
            </a:r>
          </a:p>
        </p:txBody>
      </p:sp>
      <p:sp>
        <p:nvSpPr>
          <p:cNvPr id="10" name="public func add(a: Int64,&#10;                b: Int64">
            <a:extLst xmlns:a="http://schemas.openxmlformats.org/drawingml/2006/main">
              <a:ext uri="{FF2B5EF4-FFF2-40B4-BE49-F238E27FC236}">
                <a16:creationId xmlns:a16="http://schemas.microsoft.com/office/drawing/2014/main" id="{C6D60DFB-4214-4102-9E90-266FCC2F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5529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defPPr>
            <a:lvl1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1pPr>
            <a:lvl2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2pPr>
            <a:lvl3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3pPr>
            <a:lvl4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4pPr>
            <a:lvl5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5pPr>
            <a:lvl6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6pPr>
            <a:lvl7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7pPr>
            <a:lvl8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8pPr>
            <a:lvl9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public func add(a: Int64,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                b: Int64): Int64</a:t>
            </a:r>
          </a:p>
        </p:txBody>
      </p:sp>
      <p:sp>
        <p:nvSpPr>
          <p:cNvPr id="11" name="登记示例 arithmetic（摘录）">
            <a:extLst xmlns:a="http://schemas.openxmlformats.org/drawingml/2006/main">
              <a:ext uri="{FF2B5EF4-FFF2-40B4-BE49-F238E27FC236}">
                <a16:creationId xmlns:a16="http://schemas.microsoft.com/office/drawing/2014/main" id="{73BB69FA-02F3-4AB1-AADB-7CE12D8B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483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登记示例 arithmetic（摘录）</a:t>
            </a:r>
          </a:p>
        </p:txBody>
      </p:sp>
      <p:sp>
        <p:nvSpPr>
          <p:cNvPr id="12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A0E474B5-ED88-4272-8BCD-6E58BFCF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4914900" cy="1066800"/>
          </a:xfrm>
          <a:custGeom xmlns:a="http://schemas.openxmlformats.org/drawingml/2006/main">
            <a:pathLst>
              <a:path w="4914900" h="1066800">
                <a:moveTo>
                  <a:pt x="38100" y="28575"/>
                </a:moveTo>
                <a:cubicBezTo>
                  <a:pt x="1376172" y="0"/>
                  <a:pt x="3342132" y="57150"/>
                  <a:pt x="4886325" y="19050"/>
                </a:cubicBezTo>
                <a:cubicBezTo>
                  <a:pt x="4924425" y="298704"/>
                  <a:pt x="4876800" y="800100"/>
                  <a:pt x="4905375" y="1038225"/>
                </a:cubicBezTo>
                <a:cubicBezTo>
                  <a:pt x="3243834" y="1076325"/>
                  <a:pt x="1425321" y="1028700"/>
                  <a:pt x="19050" y="1057275"/>
                </a:cubicBezTo>
                <a:cubicBezTo>
                  <a:pt x="47625" y="746760"/>
                  <a:pt x="0" y="320040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FFFDF7"/>
          </a:solidFill>
          <a:ln xmlns:a="http://schemas.openxmlformats.org/drawingml/2006/main" w="23813">
            <a:solidFill>
              <a:srgbClr val="2A302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953289-B6A1-46AB-AB4E-71D573D3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49149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main(): Unit {&#10;    println(add(20, 22))&#10;}">
            <a:extLst xmlns:a="http://schemas.openxmlformats.org/drawingml/2006/main">
              <a:ext uri="{FF2B5EF4-FFF2-40B4-BE49-F238E27FC236}">
                <a16:creationId xmlns:a16="http://schemas.microsoft.com/office/drawing/2014/main" id="{0D0DC8C8-E413-4D55-AF63-E51CE615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152900"/>
            <a:ext cx="45243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defPPr>
            <a:lvl1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1pPr>
            <a:lvl2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2pPr>
            <a:lvl3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3pPr>
            <a:lvl4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4pPr>
            <a:lvl5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5pPr>
            <a:lvl6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6pPr>
            <a:lvl7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7pPr>
            <a:lvl8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8pPr>
            <a:lvl9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main(): Unit {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    println(add(20, 22))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}</a:t>
            </a:r>
          </a:p>
        </p:txBody>
      </p:sp>
      <p:sp>
        <p:nvSpPr>
          <p:cNvPr id="15" name="期望：退出码 0；输出 &quot;42\n&quot;">
            <a:extLst xmlns:a="http://schemas.openxmlformats.org/drawingml/2006/main">
              <a:ext uri="{FF2B5EF4-FFF2-40B4-BE49-F238E27FC236}">
                <a16:creationId xmlns:a16="http://schemas.microsoft.com/office/drawing/2014/main" id="{60A39093-16FC-4F55-B850-76C96263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4848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期望：退出码 0；输出 "42\n"</a:t>
            </a:r>
          </a:p>
        </p:txBody>
      </p:sp>
      <p:sp>
        <p:nvSpPr>
          <p:cNvPr id="16" name="可搜索、跳转源码、查看关联示例&#10;生成 JSON / HTML / Markdown 文档">
            <a:extLst xmlns:a="http://schemas.openxmlformats.org/drawingml/2006/main">
              <a:ext uri="{FF2B5EF4-FFF2-40B4-BE49-F238E27FC236}">
                <a16:creationId xmlns:a16="http://schemas.microsoft.com/office/drawing/2014/main" id="{D302809C-68DF-4825-8824-222788A1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可搜索、跳转源码、查看关联示例</a:t>
            </a:r>
          </a:p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生成 JSON / HTML / Markdown 文档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1ECFE8-522F-40E8-9FDB-8F5BD91B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57400"/>
            <a:ext cx="5410200" cy="401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5C753-1BAE-468F-8747-3B9FA8C146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6af48e301463c"/>
          <a:srcRect xmlns:a="http://schemas.openxmlformats.org/drawingml/2006/main" l="41400" t="33000" r="0" b="8000"/>
          <a:stretch xmlns:a="http://schemas.openxmlformats.org/drawingml/2006/main"/>
        </p:blipFill>
        <p:spPr>
          <a:xfrm xmlns:a="http://schemas.openxmlformats.org/drawingml/2006/main">
            <a:off x="6124575" y="2105025"/>
            <a:ext cx="5314950" cy="3914775"/>
          </a:xfrm>
          <a:prstGeom xmlns:a="http://schemas.openxmlformats.org/drawingml/2006/main" prst="rect">
            <a:avLst/>
          </a:prstGeom>
        </p:spPr>
      </p:pic>
      <p:sp>
        <p:nvSpPr>
          <p:cNvPr id="19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036BCF1D-B2CF-4816-B0FA-4FC7D60D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57400"/>
            <a:ext cx="5410200" cy="4010025"/>
          </a:xfrm>
          <a:custGeom xmlns:a="http://schemas.openxmlformats.org/drawingml/2006/main">
            <a:pathLst>
              <a:path w="5410200" h="4010025">
                <a:moveTo>
                  <a:pt x="38100" y="28575"/>
                </a:moveTo>
                <a:cubicBezTo>
                  <a:pt x="1514856" y="0"/>
                  <a:pt x="3678936" y="57150"/>
                  <a:pt x="5381625" y="19050"/>
                </a:cubicBezTo>
                <a:cubicBezTo>
                  <a:pt x="5419725" y="1122807"/>
                  <a:pt x="5372100" y="3007519"/>
                  <a:pt x="5400675" y="3981450"/>
                </a:cubicBezTo>
                <a:cubicBezTo>
                  <a:pt x="3570732" y="4019550"/>
                  <a:pt x="1568958" y="3971925"/>
                  <a:pt x="19050" y="4000500"/>
                </a:cubicBezTo>
                <a:cubicBezTo>
                  <a:pt x="47625" y="2807018"/>
                  <a:pt x="0" y="120300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E42796-5DBE-4013-B64F-0683040B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57400"/>
            <a:ext cx="5410200" cy="401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重名与重载需明确身份，不能随意绑定示例。">
            <a:extLst xmlns:a="http://schemas.openxmlformats.org/drawingml/2006/main">
              <a:ext uri="{FF2B5EF4-FFF2-40B4-BE49-F238E27FC236}">
                <a16:creationId xmlns:a16="http://schemas.microsoft.com/office/drawing/2014/main" id="{863F2EF0-3A6D-498D-A458-22740B24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6200775"/>
            <a:ext cx="533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重名与重载需明确身份，不能随意绑定示例。</a:t>
            </a:r>
          </a:p>
        </p:txBody>
      </p:sp>
    </p:spTree>
    <p:extLst>
      <p:ext uri="{BB962C8B-B14F-4D97-AF65-F5344CB8AC3E}">
        <p14:creationId xmlns:p14="http://schemas.microsoft.com/office/powerpoint/2010/main" val="19167860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2C900-2821-49F4-B6A1-B6308999E8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5fc14c38b402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DFE3B7A0-32B8-4C12-A15C-C8BC407E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124313B6-8634-453E-AD4F-4B8F2811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04 / 10</a:t>
            </a:r>
          </a:p>
        </p:txBody>
      </p:sp>
      <p:sp>
        <p:nvSpPr>
          <p:cNvPr id="4" name="系统介绍 · 02:00">
            <a:extLst xmlns:a="http://schemas.openxmlformats.org/drawingml/2006/main">
              <a:ext uri="{FF2B5EF4-FFF2-40B4-BE49-F238E27FC236}">
                <a16:creationId xmlns:a16="http://schemas.microsoft.com/office/drawing/2014/main" id="{82BF812D-7AEE-4194-9C0C-9A6A2318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572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系统介绍 · 02:00</a:t>
            </a:r>
          </a:p>
        </p:txBody>
      </p:sp>
      <p:sp>
        <p:nvSpPr>
          <p:cNvPr id="5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7504D0F5-933F-4AD1-B7F0-E826E63D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085850"/>
            <a:ext cx="9791700" cy="5524500"/>
          </a:xfrm>
          <a:custGeom xmlns:a="http://schemas.openxmlformats.org/drawingml/2006/main">
            <a:pathLst>
              <a:path w="9791700" h="5524500">
                <a:moveTo>
                  <a:pt x="38100" y="28575"/>
                </a:moveTo>
                <a:cubicBezTo>
                  <a:pt x="2741676" y="0"/>
                  <a:pt x="6658356" y="57150"/>
                  <a:pt x="9763125" y="19050"/>
                </a:cubicBezTo>
                <a:cubicBezTo>
                  <a:pt x="9801225" y="1546860"/>
                  <a:pt x="9753600" y="4143375"/>
                  <a:pt x="9782175" y="5495925"/>
                </a:cubicBezTo>
                <a:cubicBezTo>
                  <a:pt x="6462522" y="5534025"/>
                  <a:pt x="2839593" y="5486400"/>
                  <a:pt x="19050" y="5514975"/>
                </a:cubicBezTo>
                <a:cubicBezTo>
                  <a:pt x="47625" y="3867150"/>
                  <a:pt x="0" y="1657350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A302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72B56-A0C3-41E3-AEED-7EB18F6D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085850"/>
            <a:ext cx="9791700" cy="552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7" name="CJ-DocGuard 系统介绍（02:00）" descr="真实网页操作，含中文配音和字幕，点击播放。">
            <a:extLst xmlns:a="http://schemas.openxmlformats.org/drawingml/2006/main">
              <a:ext uri="{FF2B5EF4-FFF2-40B4-BE49-F238E27FC236}">
                <a16:creationId xmlns:a16="http://schemas.microsoft.com/office/drawing/2014/main" id="{81F57063-FFBA-44D9-9926-4DDCE24B3D7A}"/>
              </a:ext>
            </a:extLst>
            <ns0:hlinkClick xmlns:ns0="http://schemas.openxmlformats.org/drawingml/2006/main" action="ppaction://media"/>
          </p:cNvPr>
          <p:cNvPicPr>
            <a:picLocks xmlns:a="http://schemas.openxmlformats.org/drawingml/2006/main" noChangeAspect="1"/>
          </p:cNvPicPr>
          <p:nvPr>
            <ns1:videoFile xmlns:ns1="http://schemas.openxmlformats.org/drawingml/2006/main" xmlns:ns2="http://schemas.openxmlformats.org/officeDocument/2006/relationships" ns2:link="rIdDocGuardVideo"/>
            <p:extLst>
              <p:ext uri="{DAA4B4D4-6D71-4841-9C94-3DE7FCFB9230}">
                <p14:media xmlns:p14="http://schemas.microsoft.com/office/powerpoint/2010/main" xmlns:ns3="http://schemas.openxmlformats.org/officeDocument/2006/relationships" ns3:embed="rIdDocGuardMedia"/>
              </p:ext>
            </p:extLst>
          </p:nvPr>
        </p:nvPicPr>
        <p:blipFill>
          <a:blip xmlns:r="http://schemas.openxmlformats.org/officeDocument/2006/relationships" xmlns:a="http://schemas.openxmlformats.org/drawingml/2006/main" r:embed="R81e0baf11dfa4e30"/>
          <a:stretch xmlns:a="http://schemas.openxmlformats.org/drawingml/2006/main"/>
        </p:blipFill>
        <p:spPr>
          <a:xfrm xmlns:a="http://schemas.openxmlformats.org/drawingml/2006/main">
            <a:off x="1219200" y="11049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638621"/>
      </p:ext>
    </p:extLst>
  </p:cSld>
  <p:timing>
    <p:tnLst>
      <p:par>
        <p:cTn id="1" dur="indefinite" restart="never" nodeType="tmRoot">
          <p:childTnLst>
            <p:video fullScrn="0">
              <p:cMediaNode vol="100000" showWhenStopped="0">
                <p:cTn id="2" fill="remove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73CEF3-1067-46F6-8EE8-242F9C09E3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98e1234f524fa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9C02DFEB-22DD-4804-AA2F-80CE5C80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E4A35819-2FBF-4FB7-B9F7-589FD3C1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05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BEB28DB6-D5AD-4082-8882-B86AE02A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5038725" cy="219075"/>
          </a:xfrm>
          <a:custGeom xmlns:a="http://schemas.openxmlformats.org/drawingml/2006/main">
            <a:pathLst>
              <a:path w="5038725" h="219075">
                <a:moveTo>
                  <a:pt x="0" y="28575"/>
                </a:moveTo>
                <a:lnTo>
                  <a:pt x="4991100" y="0"/>
                </a:lnTo>
                <a:lnTo>
                  <a:pt x="5038725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仓颉服务、核心模块与真实工具链">
            <a:extLst xmlns:a="http://schemas.openxmlformats.org/drawingml/2006/main">
              <a:ext uri="{FF2B5EF4-FFF2-40B4-BE49-F238E27FC236}">
                <a16:creationId xmlns:a16="http://schemas.microsoft.com/office/drawing/2014/main" id="{AB615720-23D9-4C00-8244-2EF3FA0B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仓颉服务、核心模块与真实工具链</a:t>
            </a:r>
          </a:p>
        </p:txBody>
      </p:sp>
      <p:sp>
        <p:nvSpPr>
          <p:cNvPr id="6" name="浏览器负责交互；本地服务和核心处理由仓颉实现">
            <a:extLst xmlns:a="http://schemas.openxmlformats.org/drawingml/2006/main">
              <a:ext uri="{FF2B5EF4-FFF2-40B4-BE49-F238E27FC236}">
                <a16:creationId xmlns:a16="http://schemas.microsoft.com/office/drawing/2014/main" id="{4EF0E12A-DA8A-4CF1-A25F-E3E8FAF6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浏览器负责交互；本地服务和核心处理由仓颉实现</a:t>
            </a:r>
          </a:p>
        </p:txBody>
      </p:sp>
      <p:sp>
        <p:nvSpPr>
          <p:cNvPr id="7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EDDD5705-75FC-47C0-8CC5-AE30A2FD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47875"/>
            <a:ext cx="2571750" cy="1152525"/>
          </a:xfrm>
          <a:custGeom xmlns:a="http://schemas.openxmlformats.org/drawingml/2006/main">
            <a:pathLst>
              <a:path w="2571750" h="1152525">
                <a:moveTo>
                  <a:pt x="38100" y="28575"/>
                </a:moveTo>
                <a:cubicBezTo>
                  <a:pt x="720090" y="0"/>
                  <a:pt x="1748790" y="57150"/>
                  <a:pt x="2543175" y="19050"/>
                </a:cubicBezTo>
                <a:cubicBezTo>
                  <a:pt x="2581275" y="322707"/>
                  <a:pt x="2533650" y="864394"/>
                  <a:pt x="2562225" y="1123950"/>
                </a:cubicBezTo>
                <a:cubicBezTo>
                  <a:pt x="1697355" y="1162050"/>
                  <a:pt x="745808" y="1114425"/>
                  <a:pt x="19050" y="1143000"/>
                </a:cubicBezTo>
                <a:cubicBezTo>
                  <a:pt x="47625" y="806767"/>
                  <a:pt x="0" y="34575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2A302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47EA2-9E75-4618-8C5D-AFB6F629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47875"/>
            <a:ext cx="257175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浏览器页面">
            <a:extLst xmlns:a="http://schemas.openxmlformats.org/drawingml/2006/main">
              <a:ext uri="{FF2B5EF4-FFF2-40B4-BE49-F238E27FC236}">
                <a16:creationId xmlns:a16="http://schemas.microsoft.com/office/drawing/2014/main" id="{36819F1C-D134-4D3C-AF84-A179F736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219325"/>
            <a:ext cx="2190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浏览器页面</a:t>
            </a:r>
          </a:p>
        </p:txBody>
      </p:sp>
      <p:sp>
        <p:nvSpPr>
          <p:cNvPr id="10" name="HTML / CSS / JavaScript">
            <a:extLst xmlns:a="http://schemas.openxmlformats.org/drawingml/2006/main">
              <a:ext uri="{FF2B5EF4-FFF2-40B4-BE49-F238E27FC236}">
                <a16:creationId xmlns:a16="http://schemas.microsoft.com/office/drawing/2014/main" id="{CC37D388-3A90-49F4-AC76-68F6FF4D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762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HTML / CSS / JavaScript</a:t>
            </a:r>
          </a:p>
        </p:txBody>
      </p:sp>
      <p:sp>
        <p:nvSpPr>
          <p:cNvPr id="11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50C09535-92B0-44CE-A5F0-F04F18BB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47875"/>
            <a:ext cx="2952750" cy="1152525"/>
          </a:xfrm>
          <a:custGeom xmlns:a="http://schemas.openxmlformats.org/drawingml/2006/main">
            <a:pathLst>
              <a:path w="2952750" h="1152525">
                <a:moveTo>
                  <a:pt x="38100" y="28575"/>
                </a:moveTo>
                <a:cubicBezTo>
                  <a:pt x="826770" y="0"/>
                  <a:pt x="2007870" y="57150"/>
                  <a:pt x="2924175" y="19050"/>
                </a:cubicBezTo>
                <a:cubicBezTo>
                  <a:pt x="2962275" y="322707"/>
                  <a:pt x="2914650" y="864394"/>
                  <a:pt x="2943225" y="1123950"/>
                </a:cubicBezTo>
                <a:cubicBezTo>
                  <a:pt x="1948815" y="1162050"/>
                  <a:pt x="856297" y="1114425"/>
                  <a:pt x="19050" y="1143000"/>
                </a:cubicBezTo>
                <a:cubicBezTo>
                  <a:pt x="47625" y="806767"/>
                  <a:pt x="0" y="345758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25718">
            <a:solidFill>
              <a:srgbClr val="2A302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73849C-9DE2-42EE-9672-52BB5A2E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47875"/>
            <a:ext cx="295275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仓颉本地服务">
            <a:extLst xmlns:a="http://schemas.openxmlformats.org/drawingml/2006/main">
              <a:ext uri="{FF2B5EF4-FFF2-40B4-BE49-F238E27FC236}">
                <a16:creationId xmlns:a16="http://schemas.microsoft.com/office/drawing/2014/main" id="{F4A460D9-73C4-451C-91C2-F53AAC83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1932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仓颉本地服务</a:t>
            </a:r>
          </a:p>
        </p:txBody>
      </p:sp>
      <p:sp>
        <p:nvSpPr>
          <p:cNvPr id="14" name="HTTP、项目、配置与任务">
            <a:extLst xmlns:a="http://schemas.openxmlformats.org/drawingml/2006/main">
              <a:ext uri="{FF2B5EF4-FFF2-40B4-BE49-F238E27FC236}">
                <a16:creationId xmlns:a16="http://schemas.microsoft.com/office/drawing/2014/main" id="{602AF80F-A658-4604-A5F8-9D7E7AF4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622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HTTP、项目、配置与任务</a:t>
            </a:r>
          </a:p>
        </p:txBody>
      </p:sp>
      <p:sp>
        <p:nvSpPr>
          <p:cNvPr id="15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86F1361A-908E-4ABE-973E-71E957A1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47875"/>
            <a:ext cx="3924300" cy="1152525"/>
          </a:xfrm>
          <a:custGeom xmlns:a="http://schemas.openxmlformats.org/drawingml/2006/main">
            <a:pathLst>
              <a:path w="3924300" h="1152525">
                <a:moveTo>
                  <a:pt x="38100" y="28575"/>
                </a:moveTo>
                <a:cubicBezTo>
                  <a:pt x="1098804" y="0"/>
                  <a:pt x="2668524" y="57150"/>
                  <a:pt x="3895725" y="19050"/>
                </a:cubicBezTo>
                <a:cubicBezTo>
                  <a:pt x="3933825" y="322707"/>
                  <a:pt x="3886200" y="864394"/>
                  <a:pt x="3914775" y="1123950"/>
                </a:cubicBezTo>
                <a:cubicBezTo>
                  <a:pt x="2590038" y="1162050"/>
                  <a:pt x="1138047" y="1114425"/>
                  <a:pt x="19050" y="1143000"/>
                </a:cubicBezTo>
                <a:cubicBezTo>
                  <a:pt x="47625" y="806767"/>
                  <a:pt x="0" y="34575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2A30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87A73-D870-4624-B1F7-D6FF1BDD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47875"/>
            <a:ext cx="39243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仓颉核心">
            <a:extLst xmlns:a="http://schemas.openxmlformats.org/drawingml/2006/main">
              <a:ext uri="{FF2B5EF4-FFF2-40B4-BE49-F238E27FC236}">
                <a16:creationId xmlns:a16="http://schemas.microsoft.com/office/drawing/2014/main" id="{3E2016B3-591F-4A45-A461-EEFDC9E9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19325"/>
            <a:ext cx="3543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仓颉核心</a:t>
            </a:r>
          </a:p>
        </p:txBody>
      </p:sp>
      <p:sp>
        <p:nvSpPr>
          <p:cNvPr id="18" name="声明提取、测试与结果判断">
            <a:extLst xmlns:a="http://schemas.openxmlformats.org/drawingml/2006/main">
              <a:ext uri="{FF2B5EF4-FFF2-40B4-BE49-F238E27FC236}">
                <a16:creationId xmlns:a16="http://schemas.microsoft.com/office/drawing/2014/main" id="{8A5E0943-4191-489C-ABFC-18C24793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62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声明提取、测试与结果判断</a:t>
            </a:r>
          </a:p>
        </p:txBody>
      </p:sp>
      <p:sp>
        <p:nvSpPr>
          <p:cNvPr id="19" name="手绘向右流程箭头">
            <a:extLst xmlns:a="http://schemas.openxmlformats.org/drawingml/2006/main">
              <a:ext uri="{FF2B5EF4-FFF2-40B4-BE49-F238E27FC236}">
                <a16:creationId xmlns:a16="http://schemas.microsoft.com/office/drawing/2014/main" id="{6E410622-2018-4E11-8763-A6960A43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500313"/>
            <a:ext cx="571500" cy="247650"/>
          </a:xfrm>
          <a:custGeom xmlns:a="http://schemas.openxmlformats.org/drawingml/2006/main">
            <a:pathLst>
              <a:path w="571500" h="247650">
                <a:moveTo>
                  <a:pt x="9525" y="123825"/>
                </a:moveTo>
                <a:cubicBezTo>
                  <a:pt x="154305" y="85725"/>
                  <a:pt x="400050" y="152400"/>
                  <a:pt x="552450" y="114300"/>
                </a:cubicBezTo>
                <a:moveTo>
                  <a:pt x="409575" y="19050"/>
                </a:moveTo>
                <a:lnTo>
                  <a:pt x="552450" y="114300"/>
                </a:lnTo>
                <a:lnTo>
                  <a:pt x="4095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2A302D"/>
            </a:solidFill>
            <a:prstDash val="solid"/>
          </a:ln>
        </p:spPr>
      </p:sp>
      <p:sp>
        <p:nvSpPr>
          <p:cNvPr id="20" name="手绘向右流程箭头">
            <a:extLst xmlns:a="http://schemas.openxmlformats.org/drawingml/2006/main">
              <a:ext uri="{FF2B5EF4-FFF2-40B4-BE49-F238E27FC236}">
                <a16:creationId xmlns:a16="http://schemas.microsoft.com/office/drawing/2014/main" id="{4BA28711-F1D1-4182-B3BD-057D9FF7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00313"/>
            <a:ext cx="561975" cy="247650"/>
          </a:xfrm>
          <a:custGeom xmlns:a="http://schemas.openxmlformats.org/drawingml/2006/main">
            <a:pathLst>
              <a:path w="561975" h="247650">
                <a:moveTo>
                  <a:pt x="9525" y="123825"/>
                </a:moveTo>
                <a:cubicBezTo>
                  <a:pt x="151733" y="85725"/>
                  <a:pt x="393383" y="152400"/>
                  <a:pt x="542925" y="114300"/>
                </a:cubicBezTo>
                <a:moveTo>
                  <a:pt x="400050" y="19050"/>
                </a:moveTo>
                <a:lnTo>
                  <a:pt x="542925" y="114300"/>
                </a:lnTo>
                <a:lnTo>
                  <a:pt x="40005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2A302D"/>
            </a:solidFill>
            <a:prstDash val="solid"/>
          </a:ln>
        </p:spPr>
      </p:sp>
      <p:sp>
        <p:nvSpPr>
          <p:cNvPr id="21" name="std.ast → 结构化声明 → 关联登记示例">
            <a:extLst xmlns:a="http://schemas.openxmlformats.org/drawingml/2006/main">
              <a:ext uri="{FF2B5EF4-FFF2-40B4-BE49-F238E27FC236}">
                <a16:creationId xmlns:a16="http://schemas.microsoft.com/office/drawing/2014/main" id="{E35679B5-C33B-4813-92E3-6C43430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10696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std.ast → 结构化声明 → 关联登记示例</a:t>
            </a:r>
          </a:p>
        </p:txBody>
      </p:sp>
      <p:graphicFrame>
        <p:nvGraphicFrame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E34A09-1169-4ADF-BCF6-6E1A0450B438}"/>
              </a:ext>
            </a:extLst>
          </p:cNvPr>
          <p:cNvGraphicFramePr/>
          <p:nvPr/>
        </p:nvGraphicFramePr>
        <p:xfrm>
          <a:off xmlns:a="http://schemas.openxmlformats.org/drawingml/2006/main" x="733425" y="4095750"/>
          <a:ext xmlns:a="http://schemas.openxmlformats.org/drawingml/2006/main" cx="6248400" cy="21336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3981450"/>
              </a:tblGrid>
              <a:tr h="4267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主要源码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职责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4267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workbench_native/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HTTP 请求、项目和任务管理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4267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src/extractor.cj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提取公共声明、参数和返回类型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4267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src/evidence.cj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判断当前输入与执行记录是否匹配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4267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src/export.cj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校验指定环境后生成可重建示例包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37338578-3240-415E-A0F2-0C2F960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76700"/>
            <a:ext cx="6286500" cy="2171700"/>
          </a:xfrm>
          <a:custGeom xmlns:a="http://schemas.openxmlformats.org/drawingml/2006/main">
            <a:pathLst>
              <a:path w="6286500" h="2171700">
                <a:moveTo>
                  <a:pt x="38100" y="28575"/>
                </a:moveTo>
                <a:cubicBezTo>
                  <a:pt x="1760220" y="0"/>
                  <a:pt x="4274820" y="57150"/>
                  <a:pt x="6257925" y="19050"/>
                </a:cubicBezTo>
                <a:cubicBezTo>
                  <a:pt x="6296025" y="608076"/>
                  <a:pt x="6248400" y="1628775"/>
                  <a:pt x="6276975" y="2143125"/>
                </a:cubicBezTo>
                <a:cubicBezTo>
                  <a:pt x="4149090" y="2181225"/>
                  <a:pt x="1823085" y="2133600"/>
                  <a:pt x="19050" y="2162175"/>
                </a:cubicBezTo>
                <a:cubicBezTo>
                  <a:pt x="47625" y="1520190"/>
                  <a:pt x="0" y="651510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85B569-CA42-4664-9BB8-6DE5C2EB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76700"/>
            <a:ext cx="62865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B918AF1F-1157-4654-9CE2-B4431804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67175"/>
            <a:ext cx="3924300" cy="1066800"/>
          </a:xfrm>
          <a:custGeom xmlns:a="http://schemas.openxmlformats.org/drawingml/2006/main">
            <a:pathLst>
              <a:path w="3924300" h="1066800">
                <a:moveTo>
                  <a:pt x="38100" y="28575"/>
                </a:moveTo>
                <a:cubicBezTo>
                  <a:pt x="1098804" y="0"/>
                  <a:pt x="2668524" y="57150"/>
                  <a:pt x="3895725" y="19050"/>
                </a:cubicBezTo>
                <a:cubicBezTo>
                  <a:pt x="3933825" y="298704"/>
                  <a:pt x="3886200" y="800100"/>
                  <a:pt x="3914775" y="1038225"/>
                </a:cubicBezTo>
                <a:cubicBezTo>
                  <a:pt x="2590038" y="1076325"/>
                  <a:pt x="1138047" y="1028700"/>
                  <a:pt x="19050" y="1057275"/>
                </a:cubicBezTo>
                <a:cubicBezTo>
                  <a:pt x="47625" y="746760"/>
                  <a:pt x="0" y="320040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DEEDDA"/>
          </a:solidFill>
          <a:ln xmlns:a="http://schemas.openxmlformats.org/drawingml/2006/main" w="25718">
            <a:solidFill>
              <a:srgbClr val="397B6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D9E49-9C06-4641-B782-8AF42A2C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67175"/>
            <a:ext cx="3924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7" name="真实 SDK 1.1.3 / 1.2.0">
            <a:extLst xmlns:a="http://schemas.openxmlformats.org/drawingml/2006/main">
              <a:ext uri="{FF2B5EF4-FFF2-40B4-BE49-F238E27FC236}">
                <a16:creationId xmlns:a16="http://schemas.microsoft.com/office/drawing/2014/main" id="{7849C7EB-EE49-4442-8EC5-4ABF281C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38625"/>
            <a:ext cx="3543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真实 SDK 1.1.3 / 1.2.0</a:t>
            </a:r>
          </a:p>
        </p:txBody>
      </p:sp>
      <p:sp>
        <p:nvSpPr>
          <p:cNvPr id="28" name="编译 → 运行 → 登记输出核对">
            <a:extLst xmlns:a="http://schemas.openxmlformats.org/drawingml/2006/main">
              <a:ext uri="{FF2B5EF4-FFF2-40B4-BE49-F238E27FC236}">
                <a16:creationId xmlns:a16="http://schemas.microsoft.com/office/drawing/2014/main" id="{7606E745-092A-4A29-9685-1E18942F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81550"/>
            <a:ext cx="3543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编译 → 运行 → 登记输出核对</a:t>
            </a:r>
          </a:p>
        </p:txBody>
      </p:sp>
      <p:sp>
        <p:nvSpPr>
          <p:cNvPr id="29" name="手绘向下流程箭头">
            <a:extLst xmlns:a="http://schemas.openxmlformats.org/drawingml/2006/main">
              <a:ext uri="{FF2B5EF4-FFF2-40B4-BE49-F238E27FC236}">
                <a16:creationId xmlns:a16="http://schemas.microsoft.com/office/drawing/2014/main" id="{C3D59307-ADA1-490C-A58A-B6166DA2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238500"/>
            <a:ext cx="247650" cy="781050"/>
          </a:xfrm>
          <a:custGeom xmlns:a="http://schemas.openxmlformats.org/drawingml/2006/main">
            <a:pathLst>
              <a:path w="247650" h="781050">
                <a:moveTo>
                  <a:pt x="114300" y="9525"/>
                </a:moveTo>
                <a:cubicBezTo>
                  <a:pt x="142875" y="218694"/>
                  <a:pt x="85725" y="538925"/>
                  <a:pt x="123825" y="762000"/>
                </a:cubicBezTo>
                <a:moveTo>
                  <a:pt x="19050" y="628650"/>
                </a:moveTo>
                <a:lnTo>
                  <a:pt x="123825" y="762000"/>
                </a:lnTo>
                <a:lnTo>
                  <a:pt x="228600" y="619125"/>
                </a:ln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2A302D"/>
            </a:solidFill>
            <a:prstDash val="solid"/>
          </a:ln>
        </p:spPr>
      </p:sp>
      <p:sp>
        <p:nvSpPr>
          <p:cNvPr id="30" name="C：子进程监督与信号&#10;Bash：构建与启动&#10;Python：测试和只读适配等辅助">
            <a:extLst xmlns:a="http://schemas.openxmlformats.org/drawingml/2006/main">
              <a:ext uri="{FF2B5EF4-FFF2-40B4-BE49-F238E27FC236}">
                <a16:creationId xmlns:a16="http://schemas.microsoft.com/office/drawing/2014/main" id="{D3F0E2C3-B554-49C9-8721-4FE89891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343525"/>
            <a:ext cx="3867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C：子进程监督与信号</a:t>
            </a:r>
          </a:p>
          <a:p xmlns:a="http://schemas.openxmlformats.org/drawingml/2006/main">
            <a: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Bash：构建与启动</a:t>
            </a:r>
          </a:p>
          <a:p xmlns:a="http://schemas.openxmlformats.org/drawingml/2006/main">
            <a: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Python：测试和只读适配等辅助</a:t>
            </a:r>
          </a:p>
        </p:txBody>
      </p:sp>
      <p:sp>
        <p:nvSpPr>
          <p:cNvPr id="31" name="解析限于已实现、已测试的声明子集；进程资源控制不等于完整安全沙箱。">
            <a:extLst xmlns:a="http://schemas.openxmlformats.org/drawingml/2006/main">
              <a:ext uri="{FF2B5EF4-FFF2-40B4-BE49-F238E27FC236}">
                <a16:creationId xmlns:a16="http://schemas.microsoft.com/office/drawing/2014/main" id="{D137E268-4ADA-47EB-B41D-9D92B464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0557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解析限于已实现、已测试的声明子集；进程资源控制不等于完整安全沙箱。</a:t>
            </a:r>
          </a:p>
        </p:txBody>
      </p:sp>
    </p:spTree>
    <p:extLst>
      <p:ext uri="{BB962C8B-B14F-4D97-AF65-F5344CB8AC3E}">
        <p14:creationId xmlns:p14="http://schemas.microsoft.com/office/powerpoint/2010/main" val="5559924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0CBCDA-76AD-4EE2-9DC5-5D3B6324E6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b826dcb3c479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E11CD7A8-9FAF-4A67-8AFA-7B2841A2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F0767942-B708-44CB-AEE9-B21CD4D4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06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CAD14564-B4B5-417F-9A49-D1A28823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5981700" cy="219075"/>
          </a:xfrm>
          <a:custGeom xmlns:a="http://schemas.openxmlformats.org/drawingml/2006/main">
            <a:pathLst>
              <a:path w="5981700" h="219075">
                <a:moveTo>
                  <a:pt x="0" y="28575"/>
                </a:moveTo>
                <a:lnTo>
                  <a:pt x="5934075" y="0"/>
                </a:lnTo>
                <a:lnTo>
                  <a:pt x="598170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双 SDK 结果：统计与矩阵同时查看">
            <a:extLst xmlns:a="http://schemas.openxmlformats.org/drawingml/2006/main">
              <a:ext uri="{FF2B5EF4-FFF2-40B4-BE49-F238E27FC236}">
                <a16:creationId xmlns:a16="http://schemas.microsoft.com/office/drawing/2014/main" id="{0C6D6B8A-B2E7-4528-90EC-7F30FA54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双 SDK 结果：统计与矩阵同时查看</a:t>
            </a:r>
          </a:p>
        </p:txBody>
      </p:sp>
      <p:sp>
        <p:nvSpPr>
          <p:cNvPr id="6" name="14 个登记示例 × 2 个 SDK；仅编译不等于运行通过">
            <a:extLst xmlns:a="http://schemas.openxmlformats.org/drawingml/2006/main">
              <a:ext uri="{FF2B5EF4-FFF2-40B4-BE49-F238E27FC236}">
                <a16:creationId xmlns:a16="http://schemas.microsoft.com/office/drawing/2014/main" id="{83B1C100-E0DC-4182-A14F-BD9D0045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14 个登记示例 × 2 个 SDK；仅编译不等于运行通过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094F633-3496-45B3-A646-02351C898359}"/>
              </a:ext>
            </a:extLst>
          </p:cNvPr>
          <p:cNvGraphicFramePr/>
          <p:nvPr/>
        </p:nvGraphicFramePr>
        <p:xfrm>
          <a:off xmlns:a="http://schemas.openxmlformats.org/drawingml/2006/main" x="723900" y="1990725"/>
          <a:ext xmlns:a="http://schemas.openxmlformats.org/drawingml/2006/main" cx="5172075" cy="2590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cddf664a9a4af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712A4-035D-43AA-B12B-CA0516BF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009775"/>
            <a:ext cx="5305425" cy="2562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07EB1-6F90-477D-9B90-21FCC25579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32d2d3c6504c50"/>
          <a:srcRect xmlns:a="http://schemas.openxmlformats.org/drawingml/2006/main" l="22500" t="17000" r="2500" b="53000"/>
          <a:stretch xmlns:a="http://schemas.openxmlformats.org/drawingml/2006/main"/>
        </p:blipFill>
        <p:spPr>
          <a:xfrm xmlns:a="http://schemas.openxmlformats.org/drawingml/2006/main">
            <a:off x="6229350" y="2057400"/>
            <a:ext cx="5210175" cy="2466975"/>
          </a:xfrm>
          <a:prstGeom xmlns:a="http://schemas.openxmlformats.org/drawingml/2006/main" prst="rect">
            <a:avLst/>
          </a:prstGeom>
        </p:spPr>
      </p:pic>
      <p:sp>
        <p:nvSpPr>
          <p:cNvPr id="10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D0F53702-2290-462B-ACDE-B5F988FF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009775"/>
            <a:ext cx="5305425" cy="2562225"/>
          </a:xfrm>
          <a:custGeom xmlns:a="http://schemas.openxmlformats.org/drawingml/2006/main">
            <a:pathLst>
              <a:path w="5305425" h="2562225">
                <a:moveTo>
                  <a:pt x="38100" y="28575"/>
                </a:moveTo>
                <a:cubicBezTo>
                  <a:pt x="1485519" y="0"/>
                  <a:pt x="3607689" y="57150"/>
                  <a:pt x="5276850" y="19050"/>
                </a:cubicBezTo>
                <a:cubicBezTo>
                  <a:pt x="5314950" y="717423"/>
                  <a:pt x="5267325" y="1921669"/>
                  <a:pt x="5295900" y="2533650"/>
                </a:cubicBezTo>
                <a:cubicBezTo>
                  <a:pt x="3501581" y="2571750"/>
                  <a:pt x="1538573" y="2524125"/>
                  <a:pt x="19050" y="2552700"/>
                </a:cubicBezTo>
                <a:cubicBezTo>
                  <a:pt x="47625" y="1793557"/>
                  <a:pt x="0" y="76866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2ADBC-BA92-4210-B3A0-1D1702D9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009775"/>
            <a:ext cx="5305425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实际矩阵节选：按示例和SDK定位，&#10;点开单元格查看日志与期望/实际输出。">
            <a:extLst xmlns:a="http://schemas.openxmlformats.org/drawingml/2006/main">
              <a:ext uri="{FF2B5EF4-FFF2-40B4-BE49-F238E27FC236}">
                <a16:creationId xmlns:a16="http://schemas.microsoft.com/office/drawing/2014/main" id="{4F85FB15-F239-4564-B3F3-EEC8337B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57725"/>
            <a:ext cx="5219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实际矩阵节选：按示例和SDK定位，</a:t>
            </a:r>
          </a:p>
          <a:p xmlns:a="http://schemas.openxmlformats.org/drawingml/2006/main">
            <a:pPr algn="l">
              <a:def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点开单元格查看日志与期望/实际输出。</a:t>
            </a:r>
          </a:p>
        </p:txBody>
      </p:sp>
      <p:sp>
        <p:nvSpPr>
          <p:cNvPr id="13" name="26 条运行通过 + 2 条仅编译 = 28 条记录">
            <a:extLst xmlns:a="http://schemas.openxmlformats.org/drawingml/2006/main">
              <a:ext uri="{FF2B5EF4-FFF2-40B4-BE49-F238E27FC236}">
                <a16:creationId xmlns:a16="http://schemas.microsoft.com/office/drawing/2014/main" id="{D3513538-7226-4743-893E-D388BC27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86300"/>
            <a:ext cx="52673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175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26 条运行通过 + 2 条仅编译 = 28 条记录</a:t>
            </a:r>
          </a:p>
        </p:txBody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BE71F-0394-4DC8-B953-685FFE6495EE}"/>
              </a:ext>
            </a:extLst>
          </p:cNvPr>
          <p:cNvGraphicFramePr/>
          <p:nvPr/>
        </p:nvGraphicFramePr>
        <p:xfrm>
          <a:off xmlns:a="http://schemas.openxmlformats.org/drawingml/2006/main" x="733425" y="5343525"/>
          <a:ext xmlns:a="http://schemas.openxmlformats.org/drawingml/2006/main" cx="10753725" cy="10953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209925"/>
                <a:gridCol w="2600325"/>
                <a:gridCol w="2352675"/>
                <a:gridCol w="2590800"/>
              </a:tblGrid>
              <a:tr h="365125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SDK 版本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运行通过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仅编译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合计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365125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1.1.3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13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14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365125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1.2.0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13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14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5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BD1AF63E-CB80-44FB-993B-945E5529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24475"/>
            <a:ext cx="10791825" cy="1133475"/>
          </a:xfrm>
          <a:custGeom xmlns:a="http://schemas.openxmlformats.org/drawingml/2006/main">
            <a:pathLst>
              <a:path w="10791825" h="1133475">
                <a:moveTo>
                  <a:pt x="38100" y="28575"/>
                </a:moveTo>
                <a:cubicBezTo>
                  <a:pt x="3021711" y="0"/>
                  <a:pt x="7338441" y="57150"/>
                  <a:pt x="10763250" y="19050"/>
                </a:cubicBezTo>
                <a:cubicBezTo>
                  <a:pt x="10801350" y="317373"/>
                  <a:pt x="10753725" y="850106"/>
                  <a:pt x="10782300" y="1104900"/>
                </a:cubicBezTo>
                <a:cubicBezTo>
                  <a:pt x="7122605" y="1143000"/>
                  <a:pt x="3129629" y="1095375"/>
                  <a:pt x="19050" y="1123950"/>
                </a:cubicBezTo>
                <a:cubicBezTo>
                  <a:pt x="47625" y="793433"/>
                  <a:pt x="0" y="340042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09B8D-44F3-461E-B23E-D8DC3F4D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24475"/>
            <a:ext cx="107918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数量描述当前登记样例，不是项目正确率或全语言覆盖率。">
            <a:extLst xmlns:a="http://schemas.openxmlformats.org/drawingml/2006/main">
              <a:ext uri="{FF2B5EF4-FFF2-40B4-BE49-F238E27FC236}">
                <a16:creationId xmlns:a16="http://schemas.microsoft.com/office/drawing/2014/main" id="{5B7FB85C-3005-4B54-B92F-5F248153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53200"/>
            <a:ext cx="10715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5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数量描述当前登记样例，不是项目正确率或全语言覆盖率。</a:t>
            </a:r>
          </a:p>
        </p:txBody>
      </p:sp>
    </p:spTree>
    <p:extLst>
      <p:ext uri="{BB962C8B-B14F-4D97-AF65-F5344CB8AC3E}">
        <p14:creationId xmlns:p14="http://schemas.microsoft.com/office/powerpoint/2010/main" val="3284632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DB79B-AC24-4E52-BF5B-4BE3E500EC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21c4d79c0466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78B55CD8-5166-4724-A79C-994FB8E8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E9FCC7D7-A08C-44F0-8BA9-E6C83670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07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3F8AF695-A112-4176-BA9E-1A9E8112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4095750" cy="219075"/>
          </a:xfrm>
          <a:custGeom xmlns:a="http://schemas.openxmlformats.org/drawingml/2006/main">
            <a:pathLst>
              <a:path w="4095750" h="219075">
                <a:moveTo>
                  <a:pt x="0" y="28575"/>
                </a:moveTo>
                <a:lnTo>
                  <a:pt x="4048125" y="0"/>
                </a:lnTo>
                <a:lnTo>
                  <a:pt x="409575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当前可用结果，怎样判定？">
            <a:extLst xmlns:a="http://schemas.openxmlformats.org/drawingml/2006/main">
              <a:ext uri="{FF2B5EF4-FFF2-40B4-BE49-F238E27FC236}">
                <a16:creationId xmlns:a16="http://schemas.microsoft.com/office/drawing/2014/main" id="{E9039326-5B86-4177-B954-5AA2C6FF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当前可用结果，怎样判定？</a:t>
            </a:r>
          </a:p>
        </p:txBody>
      </p:sp>
      <p:sp>
        <p:nvSpPr>
          <p:cNvPr id="6" name="查询与导出共用判断规则，保留历史但不回退旧成功">
            <a:extLst xmlns:a="http://schemas.openxmlformats.org/drawingml/2006/main">
              <a:ext uri="{FF2B5EF4-FFF2-40B4-BE49-F238E27FC236}">
                <a16:creationId xmlns:a16="http://schemas.microsoft.com/office/drawing/2014/main" id="{88F5F4B8-7DCD-4667-9D6B-05288B61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查询与导出共用判断规则，保留历史但不回退旧成功</a:t>
            </a:r>
          </a:p>
        </p:txBody>
      </p:sp>
      <p:sp>
        <p:nvSpPr>
          <p:cNvPr id="7" name="核对六项条件">
            <a:extLst xmlns:a="http://schemas.openxmlformats.org/drawingml/2006/main">
              <a:ext uri="{FF2B5EF4-FFF2-40B4-BE49-F238E27FC236}">
                <a16:creationId xmlns:a16="http://schemas.microsoft.com/office/drawing/2014/main" id="{77A71FA4-3A0F-4CA2-BA5C-055D68FD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076450"/>
            <a:ext cx="6038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核对六项条件</a:t>
            </a:r>
          </a:p>
        </p:txBody>
      </p:sp>
      <p:sp>
        <p:nvSpPr>
          <p:cNvPr id="8" name="源码 / 配置 / 工具链 / 平台&#10;记录完整性 / 相应环境的最新尝试">
            <a:extLst xmlns:a="http://schemas.openxmlformats.org/drawingml/2006/main">
              <a:ext uri="{FF2B5EF4-FFF2-40B4-BE49-F238E27FC236}">
                <a16:creationId xmlns:a16="http://schemas.microsoft.com/office/drawing/2014/main" id="{CF88DE39-27A4-41DA-93BA-BCB86F36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00325"/>
            <a:ext cx="60293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源码 / 配置 / 工具链 / 平台</a:t>
            </a:r>
          </a:p>
          <a:p xmlns:a="http://schemas.openxmlformats.org/drawingml/2006/main">
            <a:pPr algn="l">
              <a:def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记录完整性 / 相应环境的最新尝试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98782-FFF5-4859-841B-A136C4F31DCA}"/>
              </a:ext>
            </a:extLst>
          </p:cNvPr>
          <p:cNvGraphicFramePr/>
          <p:nvPr/>
        </p:nvGraphicFramePr>
        <p:xfrm>
          <a:off xmlns:a="http://schemas.openxmlformats.org/drawingml/2006/main" x="733425" y="3629025"/>
          <a:ext xmlns:a="http://schemas.openxmlformats.org/drawingml/2006/main" cx="6096000" cy="2571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33625"/>
                <a:gridCol w="3762375"/>
              </a:tblGrid>
              <a:tr h="642938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触发情形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当前处理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642938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源码或配置变化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标记需重测，重新执行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42938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最新一次尝试失败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不以较早成功替代失败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42938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SDK 或平台不匹配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不跨环境返回有效示例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0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2E8E7322-4C4B-4B66-960B-296F64D3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09975"/>
            <a:ext cx="6134100" cy="2609850"/>
          </a:xfrm>
          <a:custGeom xmlns:a="http://schemas.openxmlformats.org/drawingml/2006/main">
            <a:pathLst>
              <a:path w="6134100" h="2609850">
                <a:moveTo>
                  <a:pt x="38100" y="28575"/>
                </a:moveTo>
                <a:cubicBezTo>
                  <a:pt x="1717548" y="0"/>
                  <a:pt x="4171188" y="57150"/>
                  <a:pt x="6105525" y="19050"/>
                </a:cubicBezTo>
                <a:cubicBezTo>
                  <a:pt x="6143625" y="730758"/>
                  <a:pt x="6096000" y="1957388"/>
                  <a:pt x="6124575" y="2581275"/>
                </a:cubicBezTo>
                <a:cubicBezTo>
                  <a:pt x="4048506" y="2619375"/>
                  <a:pt x="1778889" y="2571750"/>
                  <a:pt x="19050" y="2600325"/>
                </a:cubicBezTo>
                <a:cubicBezTo>
                  <a:pt x="47625" y="1826895"/>
                  <a:pt x="0" y="782955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D5025E-600C-417C-9017-5A32B20B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09975"/>
            <a:ext cx="61341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历史保留，当前另行判断">
            <a:extLst xmlns:a="http://schemas.openxmlformats.org/drawingml/2006/main">
              <a:ext uri="{FF2B5EF4-FFF2-40B4-BE49-F238E27FC236}">
                <a16:creationId xmlns:a16="http://schemas.microsoft.com/office/drawing/2014/main" id="{8E5D1485-5C75-4F65-B839-2FA45F6A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85975"/>
            <a:ext cx="434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历史保留，当前另行判断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6D5FFC-82D8-47F8-8591-B5CD6ECC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67000"/>
            <a:ext cx="43624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5BB9B-3555-4280-953E-64F03FD79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25263e71c4cc5"/>
          <a:srcRect xmlns:a="http://schemas.openxmlformats.org/drawingml/2006/main" l="22500" t="38000" r="2500" b="2000"/>
          <a:stretch xmlns:a="http://schemas.openxmlformats.org/drawingml/2006/main"/>
        </p:blipFill>
        <p:spPr>
          <a:xfrm xmlns:a="http://schemas.openxmlformats.org/drawingml/2006/main">
            <a:off x="7172325" y="2714625"/>
            <a:ext cx="4267200" cy="2238375"/>
          </a:xfrm>
          <a:prstGeom xmlns:a="http://schemas.openxmlformats.org/drawingml/2006/main" prst="rect">
            <a:avLst/>
          </a:prstGeom>
        </p:spPr>
      </p:pic>
      <p:sp>
        <p:nvSpPr>
          <p:cNvPr id="15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F740652A-1B00-4016-96D0-3C9DDD8E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67000"/>
            <a:ext cx="4362450" cy="2333625"/>
          </a:xfrm>
          <a:custGeom xmlns:a="http://schemas.openxmlformats.org/drawingml/2006/main">
            <a:pathLst>
              <a:path w="4362450" h="2333625">
                <a:moveTo>
                  <a:pt x="38100" y="28575"/>
                </a:moveTo>
                <a:cubicBezTo>
                  <a:pt x="1221486" y="0"/>
                  <a:pt x="2966466" y="57150"/>
                  <a:pt x="4333875" y="19050"/>
                </a:cubicBezTo>
                <a:cubicBezTo>
                  <a:pt x="4371975" y="653415"/>
                  <a:pt x="4324350" y="1750219"/>
                  <a:pt x="4352925" y="2305050"/>
                </a:cubicBezTo>
                <a:cubicBezTo>
                  <a:pt x="2879217" y="2343150"/>
                  <a:pt x="1265111" y="2295525"/>
                  <a:pt x="19050" y="2324100"/>
                </a:cubicBezTo>
                <a:cubicBezTo>
                  <a:pt x="47625" y="1633538"/>
                  <a:pt x="0" y="70008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A6125-B4AB-46E8-84A7-CCA6701A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67000"/>
            <a:ext cx="43624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739 条历史完整保留&#10;列表不直接代表当前结果&#10;导出前仍校验当前输入与环境">
            <a:extLst xmlns:a="http://schemas.openxmlformats.org/drawingml/2006/main">
              <a:ext uri="{FF2B5EF4-FFF2-40B4-BE49-F238E27FC236}">
                <a16:creationId xmlns:a16="http://schemas.microsoft.com/office/drawing/2014/main" id="{6D69E4E8-79DF-4036-BEC4-A123A85E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257800"/>
            <a:ext cx="42767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739 条历史完整保留</a:t>
            </a:r>
          </a:p>
          <a:p xmlns:a="http://schemas.openxmlformats.org/drawingml/2006/main">
            <a: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列表不直接代表当前结果</a:t>
            </a:r>
          </a:p>
          <a:p xmlns:a="http://schemas.openxmlformats.org/drawingml/2006/main">
            <a:pPr algn="l">
              <a:def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导出前仍校验当前输入与环境</a:t>
            </a:r>
          </a:p>
        </p:txBody>
      </p:sp>
      <p:sp>
        <p:nvSpPr>
          <p:cNvPr id="18" name="输出检查只覆盖登记的受测行为，不能据一次成功推断所有输入都正确。">
            <a:extLst xmlns:a="http://schemas.openxmlformats.org/drawingml/2006/main">
              <a:ext uri="{FF2B5EF4-FFF2-40B4-BE49-F238E27FC236}">
                <a16:creationId xmlns:a16="http://schemas.microsoft.com/office/drawing/2014/main" id="{50DF6CE2-5BF6-4F2D-A941-C66266E1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0557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输出检查只覆盖登记的受测行为，不能据一次成功推断所有输入都正确。</a:t>
            </a:r>
          </a:p>
        </p:txBody>
      </p:sp>
    </p:spTree>
    <p:extLst>
      <p:ext uri="{BB962C8B-B14F-4D97-AF65-F5344CB8AC3E}">
        <p14:creationId xmlns:p14="http://schemas.microsoft.com/office/powerpoint/2010/main" val="20290174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0B409-52AB-4745-BEB8-4562190D74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502a8925849f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185EAFD6-D455-45DF-8B8A-2194F86C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F8C3C3B8-6EF9-4A94-B95D-96627E69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08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75B6B55D-FEC5-48C9-8AE2-AA556FB6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5038725" cy="219075"/>
          </a:xfrm>
          <a:custGeom xmlns:a="http://schemas.openxmlformats.org/drawingml/2006/main">
            <a:pathLst>
              <a:path w="5038725" h="219075">
                <a:moveTo>
                  <a:pt x="0" y="28575"/>
                </a:moveTo>
                <a:lnTo>
                  <a:pt x="4991100" y="0"/>
                </a:lnTo>
                <a:lnTo>
                  <a:pt x="5038725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链接检查：发现问题，也解释原因">
            <a:extLst xmlns:a="http://schemas.openxmlformats.org/drawingml/2006/main">
              <a:ext uri="{FF2B5EF4-FFF2-40B4-BE49-F238E27FC236}">
                <a16:creationId xmlns:a16="http://schemas.microsoft.com/office/drawing/2014/main" id="{1CD86E43-82EC-4819-9531-2E9AD2B6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链接检查：发现问题，也解释原因</a:t>
            </a:r>
          </a:p>
        </p:txBody>
      </p:sp>
      <p:sp>
        <p:nvSpPr>
          <p:cNvPr id="6" name="保留来源、行号、原始目标与失败原因；两组样例分开统计">
            <a:extLst xmlns:a="http://schemas.openxmlformats.org/drawingml/2006/main">
              <a:ext uri="{FF2B5EF4-FFF2-40B4-BE49-F238E27FC236}">
                <a16:creationId xmlns:a16="http://schemas.microsoft.com/office/drawing/2014/main" id="{A74AE05D-7B3D-4F27-A5BC-045E0CD6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保留来源、行号、原始目标与失败原因；两组样例分开统计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F8014-9018-46B2-B7FE-8A09E0AC514F}"/>
              </a:ext>
            </a:extLst>
          </p:cNvPr>
          <p:cNvGraphicFramePr/>
          <p:nvPr/>
        </p:nvGraphicFramePr>
        <p:xfrm>
          <a:off xmlns:a="http://schemas.openxmlformats.org/drawingml/2006/main" x="733425" y="2076450"/>
          <a:ext xmlns:a="http://schemas.openxmlformats.org/drawingml/2006/main" cx="10753725" cy="21050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24100"/>
                <a:gridCol w="4914900"/>
                <a:gridCol w="3514725"/>
              </a:tblGrid>
              <a:tr h="701675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来源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原始目标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检查结果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701675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README.md:13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docs/intentionally-missing.md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目标文件不存在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701675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README.md:14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docs/target%20file.md</a:t>
                      </a:r>
                    </a:p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#escaped-ghost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目标标题或锚点不存在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8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12E5D24A-B3A2-4556-A7A3-95AE6CB0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57400"/>
            <a:ext cx="10791825" cy="2143125"/>
          </a:xfrm>
          <a:custGeom xmlns:a="http://schemas.openxmlformats.org/drawingml/2006/main">
            <a:pathLst>
              <a:path w="10791825" h="2143125">
                <a:moveTo>
                  <a:pt x="38100" y="28575"/>
                </a:moveTo>
                <a:cubicBezTo>
                  <a:pt x="3021711" y="0"/>
                  <a:pt x="7338441" y="57150"/>
                  <a:pt x="10763250" y="19050"/>
                </a:cubicBezTo>
                <a:cubicBezTo>
                  <a:pt x="10801350" y="600075"/>
                  <a:pt x="10753725" y="1607344"/>
                  <a:pt x="10782300" y="2114550"/>
                </a:cubicBezTo>
                <a:cubicBezTo>
                  <a:pt x="7122605" y="2152650"/>
                  <a:pt x="3129629" y="2105025"/>
                  <a:pt x="19050" y="2133600"/>
                </a:cubicBezTo>
                <a:cubicBezTo>
                  <a:pt x="47625" y="1500188"/>
                  <a:pt x="0" y="642938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9CBF9-D2C5-48FB-9E96-5D53BF95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57400"/>
            <a:ext cx="10791825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3EBDB-9316-4E57-959A-617A89A4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533900"/>
            <a:ext cx="5972175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1B7815-DCF3-4F07-9EB5-2324AF1978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e5746f9e4418f"/>
          <a:srcRect xmlns:a="http://schemas.openxmlformats.org/drawingml/2006/main" l="22500" t="36500" r="2500" b="36500"/>
          <a:stretch xmlns:a="http://schemas.openxmlformats.org/drawingml/2006/main"/>
        </p:blipFill>
        <p:spPr>
          <a:xfrm xmlns:a="http://schemas.openxmlformats.org/drawingml/2006/main">
            <a:off x="781050" y="4581525"/>
            <a:ext cx="5876925" cy="1647825"/>
          </a:xfrm>
          <a:prstGeom xmlns:a="http://schemas.openxmlformats.org/drawingml/2006/main" prst="rect">
            <a:avLst/>
          </a:prstGeom>
        </p:spPr>
      </p:pic>
      <p:sp>
        <p:nvSpPr>
          <p:cNvPr id="12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B4A178FE-8077-44F9-A256-1DA10BE5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533900"/>
            <a:ext cx="5972175" cy="1743075"/>
          </a:xfrm>
          <a:custGeom xmlns:a="http://schemas.openxmlformats.org/drawingml/2006/main">
            <a:pathLst>
              <a:path w="5972175" h="1743075">
                <a:moveTo>
                  <a:pt x="38100" y="28575"/>
                </a:moveTo>
                <a:cubicBezTo>
                  <a:pt x="1672209" y="0"/>
                  <a:pt x="4061079" y="57150"/>
                  <a:pt x="5943600" y="19050"/>
                </a:cubicBezTo>
                <a:cubicBezTo>
                  <a:pt x="5981700" y="488061"/>
                  <a:pt x="5934075" y="1307306"/>
                  <a:pt x="5962650" y="1714500"/>
                </a:cubicBezTo>
                <a:cubicBezTo>
                  <a:pt x="3941636" y="1752600"/>
                  <a:pt x="1731931" y="1704975"/>
                  <a:pt x="19050" y="1733550"/>
                </a:cubicBezTo>
                <a:cubicBezTo>
                  <a:pt x="47625" y="1220153"/>
                  <a:pt x="0" y="522923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6C03E8-986D-4534-913C-D4D6702D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533900"/>
            <a:ext cx="5972175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本地文件 / 锚点 / 索引链接">
            <a:extLst xmlns:a="http://schemas.openxmlformats.org/drawingml/2006/main">
              <a:ext uri="{FF2B5EF4-FFF2-40B4-BE49-F238E27FC236}">
                <a16:creationId xmlns:a16="http://schemas.microsoft.com/office/drawing/2014/main" id="{BF42EA51-7822-41E6-96C5-16864958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381500"/>
            <a:ext cx="44100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1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本地文件 / 锚点 / 索引链接</a:t>
            </a:r>
          </a:p>
        </p:txBody>
      </p:sp>
      <p:sp>
        <p:nvSpPr>
          <p:cNvPr id="15" name="URL解码后定位文件与标题；&#10;HTML索引与Markdown链接分别检查。&#10;专项：23通过 / 2失">
            <a:extLst xmlns:a="http://schemas.openxmlformats.org/drawingml/2006/main">
              <a:ext uri="{FF2B5EF4-FFF2-40B4-BE49-F238E27FC236}">
                <a16:creationId xmlns:a16="http://schemas.microsoft.com/office/drawing/2014/main" id="{624D536C-9055-418E-B8B4-5E4DA73C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876800"/>
            <a:ext cx="436245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URL解码后定位文件与标题；</a:t>
            </a:r>
          </a:p>
          <a:p xmlns:a="http://schemas.openxmlformats.org/drawingml/2006/main">
            <a: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HTML索引与Markdown链接分别检查。</a:t>
            </a:r>
          </a:p>
          <a:p xmlns:a="http://schemas.openxmlformats.org/drawingml/2006/main">
            <a: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专项：23通过 / 2失败 / 1未确认。</a:t>
            </a:r>
          </a:p>
          <a:p xmlns:a="http://schemas.openxmlformats.org/drawingml/2006/main">
            <a:pPr algn="l">
              <a:def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健康工作区：178条通过（另计）。</a:t>
            </a:r>
          </a:p>
        </p:txBody>
      </p:sp>
      <p:sp>
        <p:nvSpPr>
          <p:cNvPr id="16" name="两处预置坏链导致严格检查退出1，符合预期；离线外链保持未确认。">
            <a:extLst xmlns:a="http://schemas.openxmlformats.org/drawingml/2006/main">
              <a:ext uri="{FF2B5EF4-FFF2-40B4-BE49-F238E27FC236}">
                <a16:creationId xmlns:a16="http://schemas.microsoft.com/office/drawing/2014/main" id="{64D819CB-46CE-4260-A8E7-7C7BC899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0557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5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两处预置坏链导致严格检查退出1，符合预期；离线外链保持未确认。</a:t>
            </a:r>
          </a:p>
        </p:txBody>
      </p:sp>
    </p:spTree>
    <p:extLst>
      <p:ext uri="{BB962C8B-B14F-4D97-AF65-F5344CB8AC3E}">
        <p14:creationId xmlns:p14="http://schemas.microsoft.com/office/powerpoint/2010/main" val="6350273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93D78A-DF61-4AAC-99B4-D3726BC953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038981722410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68B30C1E-761C-4812-B765-D04F3938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F47656AB-6CE5-483C-8990-188F3EEE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09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3C91DFAF-2B73-4756-8060-D3BB2FF6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5981700" cy="219075"/>
          </a:xfrm>
          <a:custGeom xmlns:a="http://schemas.openxmlformats.org/drawingml/2006/main">
            <a:pathLst>
              <a:path w="5981700" h="219075">
                <a:moveTo>
                  <a:pt x="0" y="28575"/>
                </a:moveTo>
                <a:lnTo>
                  <a:pt x="5934075" y="0"/>
                </a:lnTo>
                <a:lnTo>
                  <a:pt x="598170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近期工程优化：控件、任务与长期工作区">
            <a:extLst xmlns:a="http://schemas.openxmlformats.org/drawingml/2006/main">
              <a:ext uri="{FF2B5EF4-FFF2-40B4-BE49-F238E27FC236}">
                <a16:creationId xmlns:a16="http://schemas.microsoft.com/office/drawing/2014/main" id="{45AD0267-BC56-4DAE-A688-F6618AA0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近期工程优化：控件、任务与长期工作区</a:t>
            </a:r>
          </a:p>
        </p:txBody>
      </p:sp>
      <p:sp>
        <p:nvSpPr>
          <p:cNvPr id="6" name="原生仓颉服务；查询与导出统一校验；链接与控件回归">
            <a:extLst xmlns:a="http://schemas.openxmlformats.org/drawingml/2006/main">
              <a:ext uri="{FF2B5EF4-FFF2-40B4-BE49-F238E27FC236}">
                <a16:creationId xmlns:a16="http://schemas.microsoft.com/office/drawing/2014/main" id="{3948ECDF-DC2F-4A0B-8FFE-CF70F939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原生仓颉服务；查询与导出统一校验；链接与控件回归</a:t>
            </a:r>
          </a:p>
        </p:txBody>
      </p:sp>
      <p:sp>
        <p:nvSpPr>
          <p:cNvPr id="7" name="控件与条件">
            <a:extLst xmlns:a="http://schemas.openxmlformats.org/drawingml/2006/main">
              <a:ext uri="{FF2B5EF4-FFF2-40B4-BE49-F238E27FC236}">
                <a16:creationId xmlns:a16="http://schemas.microsoft.com/office/drawing/2014/main" id="{318B0A9A-3BA8-49A4-B218-19DB4EA1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057400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控件与条件</a:t>
            </a:r>
          </a:p>
        </p:txBody>
      </p:sp>
      <p:sp>
        <p:nvSpPr>
          <p:cNvPr id="8" name="任务状态与进度">
            <a:extLst xmlns:a="http://schemas.openxmlformats.org/drawingml/2006/main">
              <a:ext uri="{FF2B5EF4-FFF2-40B4-BE49-F238E27FC236}">
                <a16:creationId xmlns:a16="http://schemas.microsoft.com/office/drawing/2014/main" id="{8EFBD443-6A35-4FEE-B1D1-58C394AD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57400"/>
            <a:ext cx="4752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32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任务状态与进度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DA9F9A-35FE-4EC4-B059-69EB602A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81275"/>
            <a:ext cx="2714625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95F19F-A314-49CB-9780-7E4B128197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b3893488045ce"/>
          <a:srcRect xmlns:a="http://schemas.openxmlformats.org/drawingml/2006/main" l="20000" t="1500" r="60500" b="75500"/>
          <a:stretch xmlns:a="http://schemas.openxmlformats.org/drawingml/2006/main"/>
        </p:blipFill>
        <p:spPr>
          <a:xfrm xmlns:a="http://schemas.openxmlformats.org/drawingml/2006/main">
            <a:off x="790575" y="2628900"/>
            <a:ext cx="2619375" cy="1990725"/>
          </a:xfrm>
          <a:prstGeom xmlns:a="http://schemas.openxmlformats.org/drawingml/2006/main" prst="rect">
            <a:avLst/>
          </a:prstGeom>
        </p:spPr>
      </p:pic>
      <p:sp>
        <p:nvSpPr>
          <p:cNvPr id="11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4AC72C42-65E9-4A15-BA30-9E2848A5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81275"/>
            <a:ext cx="2714625" cy="2085975"/>
          </a:xfrm>
          <a:custGeom xmlns:a="http://schemas.openxmlformats.org/drawingml/2006/main">
            <a:pathLst>
              <a:path w="2714625" h="2085975">
                <a:moveTo>
                  <a:pt x="38100" y="28575"/>
                </a:moveTo>
                <a:cubicBezTo>
                  <a:pt x="760095" y="0"/>
                  <a:pt x="1845945" y="57150"/>
                  <a:pt x="2686050" y="19050"/>
                </a:cubicBezTo>
                <a:cubicBezTo>
                  <a:pt x="2724150" y="584073"/>
                  <a:pt x="2676525" y="1564481"/>
                  <a:pt x="2705100" y="2057400"/>
                </a:cubicBezTo>
                <a:cubicBezTo>
                  <a:pt x="1791653" y="2095500"/>
                  <a:pt x="787241" y="2047875"/>
                  <a:pt x="19050" y="2076450"/>
                </a:cubicBezTo>
                <a:cubicBezTo>
                  <a:pt x="47625" y="1460182"/>
                  <a:pt x="0" y="625793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C5D1B-D7CE-4EA6-97F2-920A6382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81275"/>
            <a:ext cx="2714625" cy="2085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实际项目选项&#10;SDK与平台条件联动&#10;禁用与忙碌反馈&#10;键盘选择和空态">
            <a:extLst xmlns:a="http://schemas.openxmlformats.org/drawingml/2006/main">
              <a:ext uri="{FF2B5EF4-FFF2-40B4-BE49-F238E27FC236}">
                <a16:creationId xmlns:a16="http://schemas.microsoft.com/office/drawing/2014/main" id="{1026F98E-7D3E-4097-B997-2F606110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628900"/>
            <a:ext cx="22479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实际项目选项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SDK与平台条件联动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禁用与忙碌反馈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键盘选择和空态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23D8E-3956-4764-9064-C229D8A5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81275"/>
            <a:ext cx="475297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3470BA-A98B-4D28-A860-66E08BA370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fcaa8bb6a4528"/>
          <a:srcRect xmlns:a="http://schemas.openxmlformats.org/drawingml/2006/main" l="5500" t="40000" r="4000" b="23500"/>
          <a:stretch xmlns:a="http://schemas.openxmlformats.org/drawingml/2006/main"/>
        </p:blipFill>
        <p:spPr>
          <a:xfrm xmlns:a="http://schemas.openxmlformats.org/drawingml/2006/main">
            <a:off x="6772275" y="2628900"/>
            <a:ext cx="4657725" cy="1609725"/>
          </a:xfrm>
          <a:prstGeom xmlns:a="http://schemas.openxmlformats.org/drawingml/2006/main" prst="rect">
            <a:avLst/>
          </a:prstGeom>
        </p:spPr>
      </p:pic>
      <p:sp>
        <p:nvSpPr>
          <p:cNvPr id="16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421E8C78-B5BE-468C-BCEF-5BD18853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81275"/>
            <a:ext cx="4752975" cy="1704975"/>
          </a:xfrm>
          <a:custGeom xmlns:a="http://schemas.openxmlformats.org/drawingml/2006/main">
            <a:pathLst>
              <a:path w="4752975" h="1704975">
                <a:moveTo>
                  <a:pt x="38100" y="28575"/>
                </a:moveTo>
                <a:cubicBezTo>
                  <a:pt x="1330833" y="0"/>
                  <a:pt x="3232023" y="57150"/>
                  <a:pt x="4724400" y="19050"/>
                </a:cubicBezTo>
                <a:cubicBezTo>
                  <a:pt x="4762500" y="477393"/>
                  <a:pt x="4714875" y="1278731"/>
                  <a:pt x="4743450" y="1676400"/>
                </a:cubicBezTo>
                <a:cubicBezTo>
                  <a:pt x="3136964" y="1714500"/>
                  <a:pt x="1378363" y="1666875"/>
                  <a:pt x="19050" y="1695450"/>
                </a:cubicBezTo>
                <a:cubicBezTo>
                  <a:pt x="47625" y="1193483"/>
                  <a:pt x="0" y="511492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1D6C6-E3BA-4BE7-AEDC-F85CE213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81275"/>
            <a:ext cx="4752975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实际运行画面（准备阶段）。&#10;无数量进度时显示状态条，&#10;结束后再展示返回结果。">
            <a:extLst xmlns:a="http://schemas.openxmlformats.org/drawingml/2006/main">
              <a:ext uri="{FF2B5EF4-FFF2-40B4-BE49-F238E27FC236}">
                <a16:creationId xmlns:a16="http://schemas.microsoft.com/office/drawing/2014/main" id="{48529BCB-90A6-4BF9-B36A-AF01117D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67225"/>
            <a:ext cx="46482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实际运行画面（准备阶段）。</a:t>
            </a:r>
          </a:p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无数量进度时显示状态条，</a:t>
            </a:r>
          </a:p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结束后再展示返回结果。</a:t>
            </a:r>
          </a:p>
        </p:txBody>
      </p:sp>
      <p:sp>
        <p:nvSpPr>
          <p:cNvPr id="19" name="马克笔下划线">
            <a:extLst xmlns:a="http://schemas.openxmlformats.org/drawingml/2006/main">
              <a:ext uri="{FF2B5EF4-FFF2-40B4-BE49-F238E27FC236}">
                <a16:creationId xmlns:a16="http://schemas.microsoft.com/office/drawing/2014/main" id="{DF0530AF-A1BB-4861-B810-C73D852A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687050" cy="76200"/>
          </a:xfrm>
          <a:custGeom xmlns:a="http://schemas.openxmlformats.org/drawingml/2006/main">
            <a:pathLst>
              <a:path w="10687050" h="76200">
                <a:moveTo>
                  <a:pt x="9525" y="38100"/>
                </a:moveTo>
                <a:cubicBezTo>
                  <a:pt x="2992374" y="0"/>
                  <a:pt x="6732842" y="76200"/>
                  <a:pt x="10677525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32385">
            <a:solidFill>
              <a:srgbClr val="2A302D"/>
            </a:solidFill>
            <a:prstDash val="solid"/>
          </a:ln>
        </p:spPr>
      </p:sp>
      <p:sp>
        <p:nvSpPr>
          <p:cNvPr id="20" name="23">
            <a:extLst xmlns:a="http://schemas.openxmlformats.org/drawingml/2006/main">
              <a:ext uri="{FF2B5EF4-FFF2-40B4-BE49-F238E27FC236}">
                <a16:creationId xmlns:a16="http://schemas.microsoft.com/office/drawing/2014/main" id="{21E6F1A0-5662-4F28-BC77-86DB23DA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23</a:t>
            </a:r>
          </a:p>
        </p:txBody>
      </p:sp>
      <p:sp>
        <p:nvSpPr>
          <p:cNvPr id="21" name="原生 HTTP 专项&#10;回归通过">
            <a:extLst xmlns:a="http://schemas.openxmlformats.org/drawingml/2006/main">
              <a:ext uri="{FF2B5EF4-FFF2-40B4-BE49-F238E27FC236}">
                <a16:creationId xmlns:a16="http://schemas.microsoft.com/office/drawing/2014/main" id="{FB6396F2-BB7E-4ABD-85A9-AC6C59ED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15050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原生 HTTP 专项</a:t>
            </a:r>
          </a:p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回归通过</a:t>
            </a:r>
          </a:p>
        </p:txBody>
      </p:sp>
      <p:sp>
        <p:nvSpPr>
          <p:cNvPr id="22" name="20">
            <a:extLst xmlns:a="http://schemas.openxmlformats.org/drawingml/2006/main">
              <a:ext uri="{FF2B5EF4-FFF2-40B4-BE49-F238E27FC236}">
                <a16:creationId xmlns:a16="http://schemas.microsoft.com/office/drawing/2014/main" id="{E74D7FDF-0900-426E-BCF9-83375FC3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05450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20</a:t>
            </a:r>
          </a:p>
        </p:txBody>
      </p:sp>
      <p:sp>
        <p:nvSpPr>
          <p:cNvPr id="23" name="页面场景&#10;及交互回归">
            <a:extLst xmlns:a="http://schemas.openxmlformats.org/drawingml/2006/main">
              <a:ext uri="{FF2B5EF4-FFF2-40B4-BE49-F238E27FC236}">
                <a16:creationId xmlns:a16="http://schemas.microsoft.com/office/drawing/2014/main" id="{D63AA29A-9458-483C-9FBC-70D84876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6115050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页面场景</a:t>
            </a:r>
          </a:p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及交互回归</a:t>
            </a:r>
          </a:p>
        </p:txBody>
      </p:sp>
      <p:sp>
        <p:nvSpPr>
          <p:cNvPr id="24" name="30">
            <a:extLst xmlns:a="http://schemas.openxmlformats.org/drawingml/2006/main">
              <a:ext uri="{FF2B5EF4-FFF2-40B4-BE49-F238E27FC236}">
                <a16:creationId xmlns:a16="http://schemas.microsoft.com/office/drawing/2014/main" id="{5763324A-79C9-4821-9344-E53DB595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05450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3525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30</a:t>
            </a:r>
          </a:p>
        </p:txBody>
      </p:sp>
      <p:sp>
        <p:nvSpPr>
          <p:cNvPr id="25" name="三档十页&#10;布局检查">
            <a:extLst xmlns:a="http://schemas.openxmlformats.org/drawingml/2006/main">
              <a:ext uri="{FF2B5EF4-FFF2-40B4-BE49-F238E27FC236}">
                <a16:creationId xmlns:a16="http://schemas.microsoft.com/office/drawing/2014/main" id="{6CA59C12-3475-454F-AAD1-3732CB48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115050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三档十页</a:t>
            </a:r>
          </a:p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布局检查</a:t>
            </a:r>
          </a:p>
        </p:txBody>
      </p:sp>
      <p:sp>
        <p:nvSpPr>
          <p:cNvPr id="26" name="739">
            <a:extLst xmlns:a="http://schemas.openxmlformats.org/drawingml/2006/main">
              <a:ext uri="{FF2B5EF4-FFF2-40B4-BE49-F238E27FC236}">
                <a16:creationId xmlns:a16="http://schemas.microsoft.com/office/drawing/2014/main" id="{ADE13D54-73C2-409D-B239-92280BBA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505450"/>
            <a:ext cx="2247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defRPr>
            </a:pPr>
            <a:r>
              <a:rPr sz="3525" b="0">
                <a:solidFill>
                  <a:srgbClr val="397B60"/>
                </a:solidFill>
                <a:latin typeface="Chalkboard SE"/>
                <a:ea typeface="Chalkboard SE"/>
                <a:cs typeface="Chalkboard SE"/>
              </a:rPr>
              <a:t>739</a:t>
            </a:r>
          </a:p>
        </p:txBody>
      </p:sp>
      <p:sp>
        <p:nvSpPr>
          <p:cNvPr id="27" name="历史记录完整保留&#10;任务默认堆上限1GB">
            <a:extLst xmlns:a="http://schemas.openxmlformats.org/drawingml/2006/main">
              <a:ext uri="{FF2B5EF4-FFF2-40B4-BE49-F238E27FC236}">
                <a16:creationId xmlns:a16="http://schemas.microsoft.com/office/drawing/2014/main" id="{CE9A58FA-049D-44CF-A15E-E296E4D9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6115050"/>
            <a:ext cx="2514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历史记录完整保留</a:t>
            </a:r>
          </a:p>
          <a:p xmlns:a="http://schemas.openxmlformats.org/drawingml/2006/main">
            <a:pPr algn="l">
              <a:def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任务默认堆上限1GB</a:t>
            </a:r>
          </a:p>
        </p:txBody>
      </p:sp>
    </p:spTree>
    <p:extLst>
      <p:ext uri="{BB962C8B-B14F-4D97-AF65-F5344CB8AC3E}">
        <p14:creationId xmlns:p14="http://schemas.microsoft.com/office/powerpoint/2010/main" val="20676475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C63D6-318B-4B12-A303-89EC6EAC3A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00c7482764e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63497FDF-2422-443A-AD92-A10CBB7D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3F7CF2D9-E3B6-46B4-AB00-3C68C1A9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10 / 10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5F8354B8-2F98-4FA1-ACB4-F2F7021E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3467100" cy="219075"/>
          </a:xfrm>
          <a:custGeom xmlns:a="http://schemas.openxmlformats.org/drawingml/2006/main">
            <a:pathLst>
              <a:path w="3467100" h="219075">
                <a:moveTo>
                  <a:pt x="0" y="28575"/>
                </a:moveTo>
                <a:lnTo>
                  <a:pt x="3419475" y="0"/>
                </a:lnTo>
                <a:lnTo>
                  <a:pt x="346710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交付、复现与持续维护">
            <a:extLst xmlns:a="http://schemas.openxmlformats.org/drawingml/2006/main">
              <a:ext uri="{FF2B5EF4-FFF2-40B4-BE49-F238E27FC236}">
                <a16:creationId xmlns:a16="http://schemas.microsoft.com/office/drawing/2014/main" id="{96B4ADAA-CEDD-4ED5-8664-F9B27668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交付、复现与持续维护</a:t>
            </a:r>
          </a:p>
        </p:txBody>
      </p:sp>
      <p:sp>
        <p:nvSpPr>
          <p:cNvPr id="6" name="交付的不只是页面，也有可检索文档、测试记录与可重建示例">
            <a:extLst xmlns:a="http://schemas.openxmlformats.org/drawingml/2006/main">
              <a:ext uri="{FF2B5EF4-FFF2-40B4-BE49-F238E27FC236}">
                <a16:creationId xmlns:a16="http://schemas.microsoft.com/office/drawing/2014/main" id="{8B0B17DA-566D-48A7-8292-496526F5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交付的不只是页面，也有可检索文档、测试记录与可重建示例</a:t>
            </a:r>
          </a:p>
        </p:txBody>
      </p:sp>
      <p:sp>
        <p:nvSpPr>
          <p:cNvPr id="7" name="维护者拿到什么？">
            <a:extLst xmlns:a="http://schemas.openxmlformats.org/drawingml/2006/main">
              <a:ext uri="{FF2B5EF4-FFF2-40B4-BE49-F238E27FC236}">
                <a16:creationId xmlns:a16="http://schemas.microsoft.com/office/drawing/2014/main" id="{573C57A6-09F0-4573-9D82-CC8FAB8E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085975"/>
            <a:ext cx="5105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维护者拿到什么？</a:t>
            </a:r>
          </a:p>
        </p:txBody>
      </p:sp>
      <p:sp>
        <p:nvSpPr>
          <p:cNvPr id="8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25CECB84-61D9-4B9C-A6D0-DA1ED306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28900"/>
            <a:ext cx="5143500" cy="2105025"/>
          </a:xfrm>
          <a:custGeom xmlns:a="http://schemas.openxmlformats.org/drawingml/2006/main">
            <a:pathLst>
              <a:path w="5143500" h="2105025">
                <a:moveTo>
                  <a:pt x="38100" y="28575"/>
                </a:moveTo>
                <a:cubicBezTo>
                  <a:pt x="1440180" y="0"/>
                  <a:pt x="3497580" y="57150"/>
                  <a:pt x="5114925" y="19050"/>
                </a:cubicBezTo>
                <a:cubicBezTo>
                  <a:pt x="5153025" y="589407"/>
                  <a:pt x="5105400" y="1578769"/>
                  <a:pt x="5133975" y="2076450"/>
                </a:cubicBezTo>
                <a:cubicBezTo>
                  <a:pt x="3394710" y="2114550"/>
                  <a:pt x="1491615" y="2066925"/>
                  <a:pt x="19050" y="2095500"/>
                </a:cubicBezTo>
                <a:cubicBezTo>
                  <a:pt x="47625" y="1473518"/>
                  <a:pt x="0" y="631508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FFFDF7"/>
          </a:solidFill>
          <a:ln xmlns:a="http://schemas.openxmlformats.org/drawingml/2006/main" w="23813">
            <a:solidFill>
              <a:srgbClr val="2A302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AD73F-AC9A-4C58-9B28-AF3A0F1B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28900"/>
            <a:ext cx="5143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示例 ZIP 包&#10;├─ examples/.../arithmetic.cj&#10;├─ src/...（">
            <a:extLst xmlns:a="http://schemas.openxmlformats.org/drawingml/2006/main">
              <a:ext uri="{FF2B5EF4-FFF2-40B4-BE49-F238E27FC236}">
                <a16:creationId xmlns:a16="http://schemas.microsoft.com/office/drawing/2014/main" id="{EE2DF796-5A11-4B0E-9336-C792B7E4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790825"/>
            <a:ext cx="4772025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defPPr>
            <a:lvl1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1pPr>
            <a:lvl2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2pPr>
            <a:lvl3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3pPr>
            <a:lvl4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4pPr>
            <a:lvl5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5pPr>
            <a:lvl6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6pPr>
            <a:lvl7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7pPr>
            <a:lvl8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8pPr>
            <a:lvl9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示例 ZIP 包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├─ examples/.../arithmetic.cj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├─ src/...（关联编译单元）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├─ manifest.json（环境与检查）</a:t>
            </a:r>
          </a:p>
          <a:p xmlns:a="http://schemas.openxmlformats.org/drawingml/2006/main">
            <a:pPr algn="l">
              <a:def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725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└─ build.sh / README.md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C4EEB-A754-44B2-9092-F54D9F25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85975"/>
            <a:ext cx="51530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F595A-6FC0-4E31-A299-A373EA5043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0a004b68c446c"/>
          <a:srcRect xmlns:a="http://schemas.openxmlformats.org/drawingml/2006/main" l="22500" t="36500" r="2500" b="39000"/>
          <a:stretch xmlns:a="http://schemas.openxmlformats.org/drawingml/2006/main"/>
        </p:blipFill>
        <p:spPr>
          <a:xfrm xmlns:a="http://schemas.openxmlformats.org/drawingml/2006/main">
            <a:off x="6372225" y="2133600"/>
            <a:ext cx="5057775" cy="2476500"/>
          </a:xfrm>
          <a:prstGeom xmlns:a="http://schemas.openxmlformats.org/drawingml/2006/main" prst="rect">
            <a:avLst/>
          </a:prstGeom>
        </p:spPr>
      </p:pic>
      <p:sp>
        <p:nvSpPr>
          <p:cNvPr id="13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8769077C-C71A-4F36-B6E4-82F43891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85975"/>
            <a:ext cx="5153025" cy="2571750"/>
          </a:xfrm>
          <a:custGeom xmlns:a="http://schemas.openxmlformats.org/drawingml/2006/main">
            <a:pathLst>
              <a:path w="5153025" h="2571750">
                <a:moveTo>
                  <a:pt x="38100" y="28575"/>
                </a:moveTo>
                <a:cubicBezTo>
                  <a:pt x="1442847" y="0"/>
                  <a:pt x="3504057" y="57150"/>
                  <a:pt x="5124450" y="19050"/>
                </a:cubicBezTo>
                <a:cubicBezTo>
                  <a:pt x="5162550" y="720090"/>
                  <a:pt x="5114925" y="1928813"/>
                  <a:pt x="5143500" y="2543175"/>
                </a:cubicBezTo>
                <a:cubicBezTo>
                  <a:pt x="3400997" y="2581275"/>
                  <a:pt x="1494377" y="2533650"/>
                  <a:pt x="19050" y="2562225"/>
                </a:cubicBezTo>
                <a:cubicBezTo>
                  <a:pt x="47625" y="1800225"/>
                  <a:pt x="0" y="771525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CD28F-D1EC-4653-91EB-066FE154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85975"/>
            <a:ext cx="51530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网页审阅并保存登记源码；&#10;保存须校验文件版本、路径并明确确认。">
            <a:extLst xmlns:a="http://schemas.openxmlformats.org/drawingml/2006/main">
              <a:ext uri="{FF2B5EF4-FFF2-40B4-BE49-F238E27FC236}">
                <a16:creationId xmlns:a16="http://schemas.microsoft.com/office/drawing/2014/main" id="{D40048FE-E22D-432B-BABF-D447D00D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819650"/>
            <a:ext cx="50768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网页审阅并保存登记源码；</a:t>
            </a:r>
          </a:p>
          <a:p xmlns:a="http://schemas.openxmlformats.org/drawingml/2006/main">
            <a:pPr algn="l">
              <a:def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保存须校验文件版本、路径并明确确认。</a:t>
            </a:r>
          </a:p>
        </p:txBody>
      </p:sp>
      <p:sp>
        <p:nvSpPr>
          <p:cNvPr id="16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97E0E780-575B-42CB-B2F8-F01C017A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5086350" cy="257175"/>
          </a:xfrm>
          <a:custGeom xmlns:a="http://schemas.openxmlformats.org/drawingml/2006/main">
            <a:pathLst>
              <a:path w="5086350" h="257175">
                <a:moveTo>
                  <a:pt x="0" y="28575"/>
                </a:moveTo>
                <a:lnTo>
                  <a:pt x="5038725" y="0"/>
                </a:lnTo>
                <a:lnTo>
                  <a:pt x="5086350" y="228600"/>
                </a:lnTo>
                <a:lnTo>
                  <a:pt x="38100" y="257175"/>
                </a:lnTo>
                <a:close/>
              </a:path>
            </a:pathLst>
          </a:custGeom>
          <a:solidFill xmlns:a="http://schemas.openxmlformats.org/drawingml/2006/main">
            <a:srgbClr val="DEE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固定功能源码：068a22a">
            <a:extLst xmlns:a="http://schemas.openxmlformats.org/drawingml/2006/main">
              <a:ext uri="{FF2B5EF4-FFF2-40B4-BE49-F238E27FC236}">
                <a16:creationId xmlns:a16="http://schemas.microsoft.com/office/drawing/2014/main" id="{13AFB36A-75D9-40DA-8190-BCCA3E4A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200650"/>
            <a:ext cx="50958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25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固定功能源码：068a22a</a:t>
            </a:r>
          </a:p>
        </p:txBody>
      </p:sp>
      <p:sp>
        <p:nvSpPr>
          <p:cNvPr id="18" name="按运行指南准备双SDK与兼容系统SDK，&#10;构建原生服务后从本机8765端口打开。">
            <a:extLst xmlns:a="http://schemas.openxmlformats.org/drawingml/2006/main">
              <a:ext uri="{FF2B5EF4-FFF2-40B4-BE49-F238E27FC236}">
                <a16:creationId xmlns:a16="http://schemas.microsoft.com/office/drawing/2014/main" id="{A71EEC03-3C7F-488D-8AD5-14BFAC97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57875"/>
            <a:ext cx="5105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按运行指南准备双SDK与兼容系统SDK，</a:t>
            </a:r>
          </a:p>
          <a:p xmlns:a="http://schemas.openxmlformats.org/drawingml/2006/main">
            <a:pPr algn="l">
              <a:def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构建原生服务后从本机8765端口打开。</a:t>
            </a:r>
          </a:p>
        </p:txBody>
      </p:sp>
      <p:sp>
        <p:nvSpPr>
          <p:cNvPr id="19" name="价值：接口、示例和版本结果共同维护。&#10;当前完整实测：macOS arm64。">
            <a:extLst xmlns:a="http://schemas.openxmlformats.org/drawingml/2006/main">
              <a:ext uri="{FF2B5EF4-FFF2-40B4-BE49-F238E27FC236}">
                <a16:creationId xmlns:a16="http://schemas.microsoft.com/office/drawing/2014/main" id="{66C455DB-529F-4389-903E-F3FFD054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43575"/>
            <a:ext cx="50768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价值：接口、示例和版本结果共同维护。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当前完整实测：macOS arm64。</a:t>
            </a:r>
          </a:p>
        </p:txBody>
      </p:sp>
      <p:sp>
        <p:nvSpPr>
          <p:cNvPr id="20" name="atomgit.com/c2892480843s/cj-docguard · docs/native">
            <a:extLst xmlns:a="http://schemas.openxmlformats.org/drawingml/2006/main">
              <a:ext uri="{FF2B5EF4-FFF2-40B4-BE49-F238E27FC236}">
                <a16:creationId xmlns:a16="http://schemas.microsoft.com/office/drawing/2014/main" id="{3BE9DB58-80B7-4BFD-9A52-2C0724D7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00825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defRPr>
            </a:pPr>
            <a:r>
              <a:rPr sz="1350" b="0">
                <a:solidFill>
                  <a:srgbClr val="626B67"/>
                </a:solidFill>
                <a:latin typeface="Chalkboard SE"/>
                <a:ea typeface="Chalkboard SE"/>
                <a:cs typeface="Chalkboard SE"/>
              </a:rPr>
              <a:t>atomgit.com/c2892480843s/cj-docguard · docs/native-workbench.md</a:t>
            </a:r>
          </a:p>
        </p:txBody>
      </p:sp>
      <p:sp>
        <p:nvSpPr>
          <p:cNvPr id="21" name="谢谢大家！">
            <a:extLst xmlns:a="http://schemas.openxmlformats.org/drawingml/2006/main">
              <a:ext uri="{FF2B5EF4-FFF2-40B4-BE49-F238E27FC236}">
                <a16:creationId xmlns:a16="http://schemas.microsoft.com/office/drawing/2014/main" id="{96D6CCE2-CCAC-47DE-84E6-ED036DB2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649605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谢谢大家！</a:t>
            </a:r>
          </a:p>
        </p:txBody>
      </p:sp>
    </p:spTree>
    <p:extLst>
      <p:ext uri="{BB962C8B-B14F-4D97-AF65-F5344CB8AC3E}">
        <p14:creationId xmlns:p14="http://schemas.microsoft.com/office/powerpoint/2010/main" val="634016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8FAB2-A46A-4015-9B04-70D1F4B623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1f6e03f8424b1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71104C5C-651E-4311-8580-013F1461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备查 1 / 4">
            <a:extLst xmlns:a="http://schemas.openxmlformats.org/drawingml/2006/main">
              <a:ext uri="{FF2B5EF4-FFF2-40B4-BE49-F238E27FC236}">
                <a16:creationId xmlns:a16="http://schemas.microsoft.com/office/drawing/2014/main" id="{9C647238-C2F8-45A5-BC42-9019E185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备查 1 / 4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108F06C8-2217-48CC-9EAB-A44D8218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4095750" cy="219075"/>
          </a:xfrm>
          <a:custGeom xmlns:a="http://schemas.openxmlformats.org/drawingml/2006/main">
            <a:pathLst>
              <a:path w="4095750" h="219075">
                <a:moveTo>
                  <a:pt x="0" y="28575"/>
                </a:moveTo>
                <a:lnTo>
                  <a:pt x="4048125" y="0"/>
                </a:lnTo>
                <a:lnTo>
                  <a:pt x="409575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备查：支持范围与实现边界">
            <a:extLst xmlns:a="http://schemas.openxmlformats.org/drawingml/2006/main">
              <a:ext uri="{FF2B5EF4-FFF2-40B4-BE49-F238E27FC236}">
                <a16:creationId xmlns:a16="http://schemas.microsoft.com/office/drawing/2014/main" id="{19D9491F-20BF-4B76-B80F-04FACFD5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备查：支持范围与实现边界</a:t>
            </a:r>
          </a:p>
        </p:txBody>
      </p:sp>
      <p:sp>
        <p:nvSpPr>
          <p:cNvPr id="6" name="按已实现、已测试的范围回答；不以样例数量代替覆盖率">
            <a:extLst xmlns:a="http://schemas.openxmlformats.org/drawingml/2006/main">
              <a:ext uri="{FF2B5EF4-FFF2-40B4-BE49-F238E27FC236}">
                <a16:creationId xmlns:a16="http://schemas.microsoft.com/office/drawing/2014/main" id="{79F9E4B1-8059-49DA-87A1-35E85B91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按已实现、已测试的范围回答；不以样例数量代替覆盖率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CB8CE-6318-4B4F-8402-2FB0FA5CFFF2}"/>
              </a:ext>
            </a:extLst>
          </p:cNvPr>
          <p:cNvGraphicFramePr/>
          <p:nvPr/>
        </p:nvGraphicFramePr>
        <p:xfrm>
          <a:off xmlns:a="http://schemas.openxmlformats.org/drawingml/2006/main" x="733425" y="2095500"/>
          <a:ext xmlns:a="http://schemas.openxmlformats.org/drawingml/2006/main" cx="10753725" cy="3952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981200"/>
                <a:gridCol w="4886325"/>
                <a:gridCol w="3886200"/>
              </a:tblGrid>
              <a:tr h="658813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范围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当前已实现 / 已实测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边界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658813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宿主与工具链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macOS arm64</a:t>
                      </a:r>
                    </a:p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Chalkboard SE"/>
                          <a:ea typeface="Chalkboard SE"/>
                          <a:cs typeface="Chalkboard SE"/>
                        </a:rPr>
                        <a:t>SDK 1.1.3 / 1.2.0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其他宿主需单独复验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58813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声明解析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std.ast 与已测试声明子集</a:t>
                      </a:r>
                    </a:p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保留参数、返回类型、来源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不宣称完整语义覆盖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58813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示例正确性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真实编译、运行及登记输出核对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不证明全部输入正确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58813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外部链接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离线未检查时保留未确认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不能当作远端可访问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58813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执行项目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维护者明确授权的可信本地项目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资源限制不是完整安全沙箱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8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E025C632-63B2-41F2-BB94-AA19A0FC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76450"/>
            <a:ext cx="10791825" cy="3990975"/>
          </a:xfrm>
          <a:custGeom xmlns:a="http://schemas.openxmlformats.org/drawingml/2006/main">
            <a:pathLst>
              <a:path w="10791825" h="3990975">
                <a:moveTo>
                  <a:pt x="38100" y="28575"/>
                </a:moveTo>
                <a:cubicBezTo>
                  <a:pt x="3021711" y="0"/>
                  <a:pt x="7338441" y="57150"/>
                  <a:pt x="10763250" y="19050"/>
                </a:cubicBezTo>
                <a:cubicBezTo>
                  <a:pt x="10801350" y="1117473"/>
                  <a:pt x="10753725" y="2993231"/>
                  <a:pt x="10782300" y="3962400"/>
                </a:cubicBezTo>
                <a:cubicBezTo>
                  <a:pt x="7122605" y="4000500"/>
                  <a:pt x="3129629" y="3952875"/>
                  <a:pt x="19050" y="3981450"/>
                </a:cubicBezTo>
                <a:cubicBezTo>
                  <a:pt x="47625" y="2793682"/>
                  <a:pt x="0" y="1197293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D9C72-32A7-440A-9DF3-A567160B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76450"/>
            <a:ext cx="10791825" cy="399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复杂语法、其他平台与更大项目，需要扩展样例并重新验证。">
            <a:extLst xmlns:a="http://schemas.openxmlformats.org/drawingml/2006/main">
              <a:ext uri="{FF2B5EF4-FFF2-40B4-BE49-F238E27FC236}">
                <a16:creationId xmlns:a16="http://schemas.microsoft.com/office/drawing/2014/main" id="{E5645A9D-DBD8-43F3-AD6D-C5D0EF14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96025"/>
            <a:ext cx="106775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复杂语法、其他平台与更大项目，需要扩展样例并重新验证。</a:t>
            </a:r>
          </a:p>
        </p:txBody>
      </p:sp>
    </p:spTree>
    <p:extLst>
      <p:ext uri="{BB962C8B-B14F-4D97-AF65-F5344CB8AC3E}">
        <p14:creationId xmlns:p14="http://schemas.microsoft.com/office/powerpoint/2010/main" val="11315546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845A2E-FE7F-47BA-AA7B-DAE0145F14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64758efa7f44d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118BE47A-E1A1-47A9-A0AB-F3727EE0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备查 2 / 4">
            <a:extLst xmlns:a="http://schemas.openxmlformats.org/drawingml/2006/main">
              <a:ext uri="{FF2B5EF4-FFF2-40B4-BE49-F238E27FC236}">
                <a16:creationId xmlns:a16="http://schemas.microsoft.com/office/drawing/2014/main" id="{089974AC-4354-40C3-826C-F63DBEA0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备查 2 / 4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6031A127-9B06-437F-A559-5BA67092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4095750" cy="219075"/>
          </a:xfrm>
          <a:custGeom xmlns:a="http://schemas.openxmlformats.org/drawingml/2006/main">
            <a:pathLst>
              <a:path w="4095750" h="219075">
                <a:moveTo>
                  <a:pt x="0" y="28575"/>
                </a:moveTo>
                <a:lnTo>
                  <a:pt x="4048125" y="0"/>
                </a:lnTo>
                <a:lnTo>
                  <a:pt x="4095750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备查：状态含义与输出核对">
            <a:extLst xmlns:a="http://schemas.openxmlformats.org/drawingml/2006/main">
              <a:ext uri="{FF2B5EF4-FFF2-40B4-BE49-F238E27FC236}">
                <a16:creationId xmlns:a16="http://schemas.microsoft.com/office/drawing/2014/main" id="{D2B91EB7-119A-4C16-8A42-87775C23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备查：状态含义与输出核对</a:t>
            </a:r>
          </a:p>
        </p:txBody>
      </p:sp>
      <p:sp>
        <p:nvSpPr>
          <p:cNvPr id="6" name="仅编译、运行通过、需重测与历史记录分别保留">
            <a:extLst xmlns:a="http://schemas.openxmlformats.org/drawingml/2006/main">
              <a:ext uri="{FF2B5EF4-FFF2-40B4-BE49-F238E27FC236}">
                <a16:creationId xmlns:a16="http://schemas.microsoft.com/office/drawing/2014/main" id="{6E544828-3F90-40A0-A369-5205286C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仅编译、运行通过、需重测与历史记录分别保留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F4604-4306-44A1-B053-C36CAB4149E9}"/>
              </a:ext>
            </a:extLst>
          </p:cNvPr>
          <p:cNvGraphicFramePr/>
          <p:nvPr/>
        </p:nvGraphicFramePr>
        <p:xfrm>
          <a:off xmlns:a="http://schemas.openxmlformats.org/drawingml/2006/main" x="733425" y="2114550"/>
          <a:ext xmlns:a="http://schemas.openxmlformats.org/drawingml/2006/main" cx="6029325" cy="34671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533525"/>
                <a:gridCol w="4495800"/>
              </a:tblGrid>
              <a:tr h="6934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8638C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判断条件 / 解释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T w="11430">
                      <a:solidFill>
                        <a:srgbClr val="A6AA9A"/>
                      </a:solidFill>
                      <a:prstDash val="solid"/>
                    </a:lnT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6E8A7"/>
                    </a:solidFill>
                  </a:tcPr>
                </a:tc>
              </a:tr>
              <a:tr h="6934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运行通过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实际运行且登记输出检查通过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934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仅编译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编译完成，未验证运行行为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934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需重测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源码、配置或工具链等输入变化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  <a:tr h="693420"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历史记录</a:t>
                      </a:r>
                    </a:p>
                  </a:txBody>
                  <a:tcPr marL="91440" marR="91440" marT="45720" marB="45720" anchor="ctr">
                    <a:lnL w="11430">
                      <a:solidFill>
                        <a:srgbClr val="A6AA9A"/>
                      </a:solidFill>
                      <a:prstDash val="solid"/>
                    </a:lnL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  <a:tc>
                  <a:txBody>
                    <a:bodyPr wrap="square" lIns="161925" tIns="57150" rIns="114300" bIns="5715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A302D"/>
                          </a:solidFill>
                          <a:latin typeface="Ma Shan Zheng"/>
                          <a:ea typeface="Ma Shan Zheng"/>
                          <a:cs typeface="Ma Shan Zheng"/>
                        </a:rPr>
                        <a:t>保留过去尝试，不直接当作当前可用</a:t>
                      </a:r>
                    </a:p>
                  </a:txBody>
                  <a:tcPr marL="91440" marR="91440" marT="45720" marB="45720" anchor="ctr">
                    <a:lnR w="11430">
                      <a:solidFill>
                        <a:srgbClr val="A6AA9A"/>
                      </a:solidFill>
                      <a:prstDash val="solid"/>
                    </a:lnR>
                    <a:lnB w="11430">
                      <a:solidFill>
                        <a:srgbClr val="A6AA9A"/>
                      </a:solidFill>
                      <a:prstDash val="solid"/>
                    </a:lnB>
                    <a:solidFill>
                      <a:srgbClr val="FFFDF3">
                        <a:alpha val="9098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8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C8244087-35AE-4972-93C7-B091C73C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6067425" cy="3505200"/>
          </a:xfrm>
          <a:custGeom xmlns:a="http://schemas.openxmlformats.org/drawingml/2006/main">
            <a:pathLst>
              <a:path w="6067425" h="3505200">
                <a:moveTo>
                  <a:pt x="38100" y="28575"/>
                </a:moveTo>
                <a:cubicBezTo>
                  <a:pt x="1698879" y="0"/>
                  <a:pt x="4125849" y="57150"/>
                  <a:pt x="6038850" y="19050"/>
                </a:cubicBezTo>
                <a:cubicBezTo>
                  <a:pt x="6076950" y="981456"/>
                  <a:pt x="6029325" y="2628900"/>
                  <a:pt x="6057900" y="3476625"/>
                </a:cubicBezTo>
                <a:cubicBezTo>
                  <a:pt x="4004501" y="3514725"/>
                  <a:pt x="1759553" y="3467100"/>
                  <a:pt x="19050" y="3495675"/>
                </a:cubicBezTo>
                <a:cubicBezTo>
                  <a:pt x="47625" y="2453640"/>
                  <a:pt x="0" y="1051560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2A302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EF4F7-C8DE-47E5-B1D3-06962A1A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6067425" cy="35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arithmetic · SDK 1.1.3">
            <a:extLst xmlns:a="http://schemas.openxmlformats.org/drawingml/2006/main">
              <a:ext uri="{FF2B5EF4-FFF2-40B4-BE49-F238E27FC236}">
                <a16:creationId xmlns:a16="http://schemas.microsoft.com/office/drawing/2014/main" id="{18A2D210-91A8-49C8-BAC1-EB565CD2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124075"/>
            <a:ext cx="436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defPPr>
            <a:lvl1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1pPr>
            <a:lvl2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2pPr>
            <a:lvl3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3pPr>
            <a:lvl4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4pPr>
            <a:lvl5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5pPr>
            <a:lvl6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6pPr>
            <a:lvl7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7pPr>
            <a:lvl8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8pPr>
            <a:lvl9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defRPr>
            </a:pPr>
            <a:r>
              <a:rPr sz="2100" b="0">
                <a:solidFill>
                  <a:srgbClr val="28638C"/>
                </a:solidFill>
                <a:latin typeface="Chalkboard SE"/>
                <a:ea typeface="Chalkboard SE"/>
                <a:cs typeface="Chalkboard SE"/>
              </a:rPr>
              <a:t>arithmetic · SDK 1.1.3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72D7E-7517-495E-BEE5-F766BB28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19375"/>
            <a:ext cx="4362450" cy="2352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E8CCB-6F56-4B02-8672-49D2FED434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05a9e22a24863"/>
          <a:srcRect xmlns:a="http://schemas.openxmlformats.org/drawingml/2006/main" l="14500" t="17000" r="14500" b="17000"/>
          <a:stretch xmlns:a="http://schemas.openxmlformats.org/drawingml/2006/main"/>
        </p:blipFill>
        <p:spPr>
          <a:xfrm xmlns:a="http://schemas.openxmlformats.org/drawingml/2006/main">
            <a:off x="7162800" y="2667000"/>
            <a:ext cx="4267200" cy="2257425"/>
          </a:xfrm>
          <a:prstGeom xmlns:a="http://schemas.openxmlformats.org/drawingml/2006/main" prst="rect">
            <a:avLst/>
          </a:prstGeom>
        </p:spPr>
      </p:pic>
      <p:sp>
        <p:nvSpPr>
          <p:cNvPr id="13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4C9B2E2E-4F87-4C25-822A-6D9895D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19375"/>
            <a:ext cx="4362450" cy="2352675"/>
          </a:xfrm>
          <a:custGeom xmlns:a="http://schemas.openxmlformats.org/drawingml/2006/main">
            <a:pathLst>
              <a:path w="4362450" h="2352675">
                <a:moveTo>
                  <a:pt x="38100" y="28575"/>
                </a:moveTo>
                <a:cubicBezTo>
                  <a:pt x="1221486" y="0"/>
                  <a:pt x="2966466" y="57150"/>
                  <a:pt x="4333875" y="19050"/>
                </a:cubicBezTo>
                <a:cubicBezTo>
                  <a:pt x="4371975" y="658749"/>
                  <a:pt x="4324350" y="1764506"/>
                  <a:pt x="4352925" y="2324100"/>
                </a:cubicBezTo>
                <a:cubicBezTo>
                  <a:pt x="2879217" y="2362200"/>
                  <a:pt x="1265111" y="2314575"/>
                  <a:pt x="19050" y="2343150"/>
                </a:cubicBezTo>
                <a:cubicBezTo>
                  <a:pt x="47625" y="1646872"/>
                  <a:pt x="0" y="705803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7DC9A-2E6D-4576-89DE-1D8D256A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19375"/>
            <a:ext cx="4362450" cy="2352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退出码：期望0，实际0&#10;stdout：均为 &quot;42\n&quot;&#10;检查结果单独显示通过">
            <a:extLst xmlns:a="http://schemas.openxmlformats.org/drawingml/2006/main">
              <a:ext uri="{FF2B5EF4-FFF2-40B4-BE49-F238E27FC236}">
                <a16:creationId xmlns:a16="http://schemas.microsoft.com/office/drawing/2014/main" id="{23AA1923-3F62-4899-BE07-8E25F744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00650"/>
            <a:ext cx="42862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退出码：期望0，实际0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stdout：均为 "42\n"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检查结果单独显示通过</a:t>
            </a:r>
          </a:p>
        </p:txBody>
      </p:sp>
      <p:sp>
        <p:nvSpPr>
          <p:cNvPr id="16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21915238-0E0F-4710-BCD5-21A258E6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6124575" cy="257175"/>
          </a:xfrm>
          <a:custGeom xmlns:a="http://schemas.openxmlformats.org/drawingml/2006/main">
            <a:pathLst>
              <a:path w="6124575" h="257175">
                <a:moveTo>
                  <a:pt x="0" y="28575"/>
                </a:moveTo>
                <a:lnTo>
                  <a:pt x="6076950" y="0"/>
                </a:lnTo>
                <a:lnTo>
                  <a:pt x="6124575" y="228600"/>
                </a:lnTo>
                <a:lnTo>
                  <a:pt x="38100" y="2571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26 / 28 = 92.9%：记录占比，不是项目正确率。">
            <a:extLst xmlns:a="http://schemas.openxmlformats.org/drawingml/2006/main">
              <a:ext uri="{FF2B5EF4-FFF2-40B4-BE49-F238E27FC236}">
                <a16:creationId xmlns:a16="http://schemas.microsoft.com/office/drawing/2014/main" id="{C834ADD9-7982-4801-996D-AD234976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07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26 / 28 = 92.9%：记录占比，不是项目正确率。</a:t>
            </a:r>
          </a:p>
        </p:txBody>
      </p:sp>
    </p:spTree>
    <p:extLst>
      <p:ext uri="{BB962C8B-B14F-4D97-AF65-F5344CB8AC3E}">
        <p14:creationId xmlns:p14="http://schemas.microsoft.com/office/powerpoint/2010/main" val="18484529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3E533-F319-442A-A6D5-18192D8B52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336a117474a7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660DBF12-AA6F-4B84-B2DD-3B50D544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备查 3 / 4">
            <a:extLst xmlns:a="http://schemas.openxmlformats.org/drawingml/2006/main">
              <a:ext uri="{FF2B5EF4-FFF2-40B4-BE49-F238E27FC236}">
                <a16:creationId xmlns:a16="http://schemas.microsoft.com/office/drawing/2014/main" id="{0F982CBE-45DF-4C2C-BC0A-D0B4AA97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备查 3 / 4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7A933CC1-1AD1-4C9B-BC81-F3871AFF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3781425" cy="219075"/>
          </a:xfrm>
          <a:custGeom xmlns:a="http://schemas.openxmlformats.org/drawingml/2006/main">
            <a:pathLst>
              <a:path w="3781425" h="219075">
                <a:moveTo>
                  <a:pt x="0" y="28575"/>
                </a:moveTo>
                <a:lnTo>
                  <a:pt x="3733800" y="0"/>
                </a:lnTo>
                <a:lnTo>
                  <a:pt x="3781425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备查：从源码启动工作台">
            <a:extLst xmlns:a="http://schemas.openxmlformats.org/drawingml/2006/main">
              <a:ext uri="{FF2B5EF4-FFF2-40B4-BE49-F238E27FC236}">
                <a16:creationId xmlns:a16="http://schemas.microsoft.com/office/drawing/2014/main" id="{9D186FAF-0C4A-4526-90AF-276CF259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备查：从源码启动工作台</a:t>
            </a:r>
          </a:p>
        </p:txBody>
      </p:sp>
      <p:sp>
        <p:nvSpPr>
          <p:cNvPr id="6" name="先准备兼容工具链，再构建服务；首次没有报告是正常状态">
            <a:extLst xmlns:a="http://schemas.openxmlformats.org/drawingml/2006/main">
              <a:ext uri="{FF2B5EF4-FFF2-40B4-BE49-F238E27FC236}">
                <a16:creationId xmlns:a16="http://schemas.microsoft.com/office/drawing/2014/main" id="{0E57674F-74F8-49C8-85CA-2B457E1D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先准备兼容工具链，再构建服务；首次没有报告是正常状态</a:t>
            </a:r>
          </a:p>
        </p:txBody>
      </p:sp>
      <p:sp>
        <p:nvSpPr>
          <p:cNvPr id="7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6E6BD4F8-CC4F-4FC2-BF43-023C7A1F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33600"/>
            <a:ext cx="7200900" cy="2905125"/>
          </a:xfrm>
          <a:custGeom xmlns:a="http://schemas.openxmlformats.org/drawingml/2006/main">
            <a:pathLst>
              <a:path w="7200900" h="2905125">
                <a:moveTo>
                  <a:pt x="38100" y="28575"/>
                </a:moveTo>
                <a:cubicBezTo>
                  <a:pt x="2016252" y="0"/>
                  <a:pt x="4896612" y="57150"/>
                  <a:pt x="7172325" y="19050"/>
                </a:cubicBezTo>
                <a:cubicBezTo>
                  <a:pt x="7210425" y="813435"/>
                  <a:pt x="7162800" y="2178844"/>
                  <a:pt x="7191375" y="2876550"/>
                </a:cubicBezTo>
                <a:cubicBezTo>
                  <a:pt x="4752594" y="2914650"/>
                  <a:pt x="2088261" y="2867025"/>
                  <a:pt x="19050" y="2895600"/>
                </a:cubicBezTo>
                <a:cubicBezTo>
                  <a:pt x="47625" y="2033588"/>
                  <a:pt x="0" y="871538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FFFDF7"/>
          </a:solidFill>
          <a:ln xmlns:a="http://schemas.openxmlformats.org/drawingml/2006/main" w="23813">
            <a:solidFill>
              <a:srgbClr val="2A302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E81F0-F92A-4FE9-B7EC-FF358211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33600"/>
            <a:ext cx="720090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export CJ_DOCGUARD_SDK_1_1_3=/absolute/path/sdk-1.">
            <a:extLst xmlns:a="http://schemas.openxmlformats.org/drawingml/2006/main">
              <a:ext uri="{FF2B5EF4-FFF2-40B4-BE49-F238E27FC236}">
                <a16:creationId xmlns:a16="http://schemas.microsoft.com/office/drawing/2014/main" id="{D548A138-A3BB-41A9-911D-957109B6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68008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defPPr>
            <a:lvl1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1pPr>
            <a:lvl2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2pPr>
            <a:lvl3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3pPr>
            <a:lvl4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4pPr>
            <a:lvl5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5pPr>
            <a:lvl6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6pPr>
            <a:lvl7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7pPr>
            <a:lvl8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8pPr>
            <a:lvl9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export CJ_DOCGUARD_SDK_1_1_3=/absolute/path/sdk-1.1.3/cangjie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export CJ_DOCGUARD_SDK_1_2_0=/absolute/path/sdk-1.2.0/cangjie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git clone https://atomgit.com/c2892480843s/cj-docguard.git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cd cj-docguard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git checkout 068a22a8a4d1987ac0aac837da22b39c8224417f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bash scripts/build_workbench.sh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bash scripts/workbench.sh --port 8765</a:t>
            </a:r>
          </a:p>
        </p:txBody>
      </p:sp>
      <p:sp>
        <p:nvSpPr>
          <p:cNvPr id="10" name="运行前检查">
            <a:extLst xmlns:a="http://schemas.openxmlformats.org/drawingml/2006/main">
              <a:ext uri="{FF2B5EF4-FFF2-40B4-BE49-F238E27FC236}">
                <a16:creationId xmlns:a16="http://schemas.microsoft.com/office/drawing/2014/main" id="{A94899F5-833B-4EE5-AD28-237B030B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431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4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运行前检查</a:t>
            </a:r>
          </a:p>
        </p:txBody>
      </p:sp>
      <p:sp>
        <p:nvSpPr>
          <p:cNvPr id="11" name="git / bash / cc / ar / zip&#10;仓颉1.1.3与1.2.0&#10;兼容的 Apple">
            <a:extLst xmlns:a="http://schemas.openxmlformats.org/drawingml/2006/main">
              <a:ext uri="{FF2B5EF4-FFF2-40B4-BE49-F238E27FC236}">
                <a16:creationId xmlns:a16="http://schemas.microsoft.com/office/drawing/2014/main" id="{9D050442-8EF1-459D-BE89-0E2FC1F8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24150"/>
            <a:ext cx="3105150" cy="2124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git / bash / cc / ar / zip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仓颉1.1.3与1.2.0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兼容的 Apple 系统 SDK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示例路径需替换为本机目录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按指南诊断缺失依赖</a:t>
            </a:r>
          </a:p>
        </p:txBody>
      </p:sp>
      <p:sp>
        <p:nvSpPr>
          <p:cNvPr id="12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6C7308EE-762F-4788-BA2F-F1574A1A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581650"/>
            <a:ext cx="9096375" cy="304800"/>
          </a:xfrm>
          <a:custGeom xmlns:a="http://schemas.openxmlformats.org/drawingml/2006/main">
            <a:pathLst>
              <a:path w="9096375" h="304800">
                <a:moveTo>
                  <a:pt x="0" y="28575"/>
                </a:moveTo>
                <a:lnTo>
                  <a:pt x="9048750" y="0"/>
                </a:lnTo>
                <a:lnTo>
                  <a:pt x="9096375" y="276225"/>
                </a:lnTo>
                <a:lnTo>
                  <a:pt x="38100" y="304800"/>
                </a:lnTo>
                <a:close/>
              </a:path>
            </a:pathLst>
          </a:custGeom>
          <a:solidFill xmlns:a="http://schemas.openxmlformats.org/drawingml/2006/main">
            <a:srgbClr val="DEED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打开 http://127.0.0.1:8765/">
            <a:extLst xmlns:a="http://schemas.openxmlformats.org/drawingml/2006/main">
              <a:ext uri="{FF2B5EF4-FFF2-40B4-BE49-F238E27FC236}">
                <a16:creationId xmlns:a16="http://schemas.microsoft.com/office/drawing/2014/main" id="{3DFEED76-AF36-442D-9F06-CD615A48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10629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397B60"/>
                </a:solidFill>
                <a:latin typeface="Ma Shan Zheng"/>
                <a:ea typeface="Ma Shan Zheng"/>
                <a:cs typeface="Ma Shan Zheng"/>
              </a:rPr>
              <a:t>打开 http://127.0.0.1:8765/</a:t>
            </a:r>
          </a:p>
        </p:txBody>
      </p:sp>
      <p:sp>
        <p:nvSpPr>
          <p:cNvPr id="14" name="环境诊断 → 生成文档 → 运行测试 → 检查链接。&#10;服务仅绑定本机；其他宿主或工具链变化需要完整复">
            <a:extLst xmlns:a="http://schemas.openxmlformats.org/drawingml/2006/main">
              <a:ext uri="{FF2B5EF4-FFF2-40B4-BE49-F238E27FC236}">
                <a16:creationId xmlns:a16="http://schemas.microsoft.com/office/drawing/2014/main" id="{DF917742-B7F4-4154-A1A9-EB42C4D7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15050"/>
            <a:ext cx="10629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环境诊断 → 生成文档 → 运行测试 → 检查链接。</a:t>
            </a:r>
          </a:p>
          <a:p xmlns:a="http://schemas.openxmlformats.org/drawingml/2006/main">
            <a:pPr algn="l">
              <a:def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9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服务仅绑定本机；其他宿主或工具链变化需要完整复验。</a:t>
            </a:r>
          </a:p>
        </p:txBody>
      </p:sp>
    </p:spTree>
    <p:extLst>
      <p:ext uri="{BB962C8B-B14F-4D97-AF65-F5344CB8AC3E}">
        <p14:creationId xmlns:p14="http://schemas.microsoft.com/office/powerpoint/2010/main" val="10867678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6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7B183-6D7B-4281-B5F2-2F5FEB79F7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d49fa34c1467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J-DocGuard / 决赛笔记">
            <a:extLst xmlns:a="http://schemas.openxmlformats.org/drawingml/2006/main">
              <a:ext uri="{FF2B5EF4-FFF2-40B4-BE49-F238E27FC236}">
                <a16:creationId xmlns:a16="http://schemas.microsoft.com/office/drawing/2014/main" id="{9E4310B5-5717-4A5F-BE4E-77FEFF3E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CJ-DocGuard / 决赛笔记</a:t>
            </a:r>
          </a:p>
        </p:txBody>
      </p:sp>
      <p:sp>
        <p:nvSpPr>
          <p:cNvPr id="3" name="备查 4 / 4">
            <a:extLst xmlns:a="http://schemas.openxmlformats.org/drawingml/2006/main">
              <a:ext uri="{FF2B5EF4-FFF2-40B4-BE49-F238E27FC236}">
                <a16:creationId xmlns:a16="http://schemas.microsoft.com/office/drawing/2014/main" id="{2E5B34C6-1D7A-426A-8AA7-126DCBEA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67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65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备查 4 / 4</a:t>
            </a:r>
          </a:p>
        </p:txBody>
      </p:sp>
      <p:sp>
        <p:nvSpPr>
          <p:cNvPr id="4" name="荧光笔高亮">
            <a:extLst xmlns:a="http://schemas.openxmlformats.org/drawingml/2006/main">
              <a:ext uri="{FF2B5EF4-FFF2-40B4-BE49-F238E27FC236}">
                <a16:creationId xmlns:a16="http://schemas.microsoft.com/office/drawing/2014/main" id="{F5B4153B-9B5D-4B8C-A799-B8EAF665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38225"/>
            <a:ext cx="5667375" cy="219075"/>
          </a:xfrm>
          <a:custGeom xmlns:a="http://schemas.openxmlformats.org/drawingml/2006/main">
            <a:pathLst>
              <a:path w="5667375" h="219075">
                <a:moveTo>
                  <a:pt x="0" y="28575"/>
                </a:moveTo>
                <a:lnTo>
                  <a:pt x="5619750" y="0"/>
                </a:lnTo>
                <a:lnTo>
                  <a:pt x="5667375" y="190500"/>
                </a:lnTo>
                <a:lnTo>
                  <a:pt x="38100" y="219075"/>
                </a:lnTo>
                <a:close/>
              </a:path>
            </a:pathLst>
          </a:custGeom>
          <a:solidFill xmlns:a="http://schemas.openxmlformats.org/drawingml/2006/main">
            <a:srgbClr val="FFF0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备查：一份配置连接文档、示例和环境">
            <a:extLst xmlns:a="http://schemas.openxmlformats.org/drawingml/2006/main">
              <a:ext uri="{FF2B5EF4-FFF2-40B4-BE49-F238E27FC236}">
                <a16:creationId xmlns:a16="http://schemas.microsoft.com/office/drawing/2014/main" id="{4EF8770E-3A86-44D2-99DE-A7879336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3150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备查：一份配置连接文档、示例和环境</a:t>
            </a:r>
          </a:p>
        </p:txBody>
      </p:sp>
      <p:sp>
        <p:nvSpPr>
          <p:cNvPr id="6" name="登记的符号、运行方式与SDK，决定文档关联和查询维度">
            <a:extLst xmlns:a="http://schemas.openxmlformats.org/drawingml/2006/main">
              <a:ext uri="{FF2B5EF4-FFF2-40B4-BE49-F238E27FC236}">
                <a16:creationId xmlns:a16="http://schemas.microsoft.com/office/drawing/2014/main" id="{0BEEA445-AC9B-4773-B75C-6A0D3183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390650"/>
            <a:ext cx="10810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75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登记的符号、运行方式与SDK，决定文档关联和查询维度</a:t>
            </a:r>
          </a:p>
        </p:txBody>
      </p:sp>
      <p:sp>
        <p:nvSpPr>
          <p:cNvPr id="7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7B02EDE7-259F-48E0-A0D0-49DEBE80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5657850" cy="3810000"/>
          </a:xfrm>
          <a:custGeom xmlns:a="http://schemas.openxmlformats.org/drawingml/2006/main">
            <a:pathLst>
              <a:path w="5657850" h="3810000">
                <a:moveTo>
                  <a:pt x="38100" y="28575"/>
                </a:moveTo>
                <a:cubicBezTo>
                  <a:pt x="1584198" y="0"/>
                  <a:pt x="3847338" y="57150"/>
                  <a:pt x="5629275" y="19050"/>
                </a:cubicBezTo>
                <a:cubicBezTo>
                  <a:pt x="5667375" y="1066800"/>
                  <a:pt x="5619750" y="2857500"/>
                  <a:pt x="5648325" y="3781425"/>
                </a:cubicBezTo>
                <a:cubicBezTo>
                  <a:pt x="3734181" y="3819525"/>
                  <a:pt x="1640777" y="3771900"/>
                  <a:pt x="19050" y="3800475"/>
                </a:cubicBezTo>
                <a:cubicBezTo>
                  <a:pt x="47625" y="2667000"/>
                  <a:pt x="0" y="1143000"/>
                  <a:pt x="38100" y="28575"/>
                </a:cubicBezTo>
                <a:close/>
              </a:path>
            </a:pathLst>
          </a:custGeom>
          <a:solidFill xmlns:a="http://schemas.openxmlformats.org/drawingml/2006/main">
            <a:srgbClr val="FFFDF7"/>
          </a:solidFill>
          <a:ln xmlns:a="http://schemas.openxmlformats.org/drawingml/2006/main" w="23813">
            <a:solidFill>
              <a:srgbClr val="2A302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5D3F5-70F0-4395-AE7D-A049C9E9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565785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登记片段：docguard.toml">
            <a:extLst xmlns:a="http://schemas.openxmlformats.org/drawingml/2006/main">
              <a:ext uri="{FF2B5EF4-FFF2-40B4-BE49-F238E27FC236}">
                <a16:creationId xmlns:a16="http://schemas.microsoft.com/office/drawing/2014/main" id="{B6B39804-C410-47A8-A0E8-A89E9D71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527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10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登记片段：docguard.toml</a:t>
            </a:r>
          </a:p>
        </p:txBody>
      </p:sp>
      <p:sp>
        <p:nvSpPr>
          <p:cNvPr id="10" name="[[sdks]]&#10;version = &quot;1.2.0&quot;&#10;&#10;[[examples]]&#10;id = &quot;ari">
            <a:extLst xmlns:a="http://schemas.openxmlformats.org/drawingml/2006/main">
              <a:ext uri="{FF2B5EF4-FFF2-40B4-BE49-F238E27FC236}">
                <a16:creationId xmlns:a16="http://schemas.microsoft.com/office/drawing/2014/main" id="{D228E90E-EA6E-438A-B064-4CD4D4B3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5276850" cy="2962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defPPr>
            <a:lvl1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1pPr>
            <a:lvl2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2pPr>
            <a:lvl3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3pPr>
            <a:lvl4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4pPr>
            <a:lvl5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5pPr>
            <a:lvl6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6pPr>
            <a:lvl7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7pPr>
            <a:lvl8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8pPr>
            <a:lvl9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[[sdks]]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version = "1.2.0"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[[examples]]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id = "arithmetic"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file = "programs/arithmetic.cj"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symbol = "add"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mode = "run"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stdout = "42\n"</a:t>
            </a:r>
          </a:p>
          <a:p xmlns:a="http://schemas.openxmlformats.org/drawingml/2006/main">
            <a:pPr algn="l">
              <a:def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650" b="0">
                <a:solidFill>
                  <a:srgbClr val="2A302D"/>
                </a:solidFill>
                <a:latin typeface="Source Han Sans SC"/>
                <a:ea typeface="Source Han Sans SC"/>
                <a:cs typeface="Source Han Sans SC"/>
              </a:rPr>
              <a:t>expected_exit = 0</a:t>
            </a:r>
          </a:p>
        </p:txBody>
      </p:sp>
      <p:sp>
        <p:nvSpPr>
          <p:cNvPr id="11" name="网页选项来自实际配置与记录">
            <a:extLst xmlns:a="http://schemas.openxmlformats.org/drawingml/2006/main">
              <a:ext uri="{FF2B5EF4-FFF2-40B4-BE49-F238E27FC236}">
                <a16:creationId xmlns:a16="http://schemas.microsoft.com/office/drawing/2014/main" id="{732CC2DE-3E8B-4227-A8D3-592BDF2D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95500"/>
            <a:ext cx="46577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defRPr>
            </a:pPr>
            <a:r>
              <a:rPr sz="2250" b="0">
                <a:solidFill>
                  <a:srgbClr val="28638C"/>
                </a:solidFill>
                <a:latin typeface="Ma Shan Zheng"/>
                <a:ea typeface="Ma Shan Zheng"/>
                <a:cs typeface="Ma Shan Zheng"/>
              </a:rPr>
              <a:t>网页选项来自实际配置与记录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8FDCD-5B8E-4521-8BAD-235F8FB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4638675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630B63-BFA9-4AAB-B05E-BC6ADD13A8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32707561342ad"/>
          <a:srcRect xmlns:a="http://schemas.openxmlformats.org/drawingml/2006/main" l="22500" t="23500" r="2500" b="36000"/>
          <a:stretch xmlns:a="http://schemas.openxmlformats.org/drawingml/2006/main"/>
        </p:blipFill>
        <p:spPr>
          <a:xfrm xmlns:a="http://schemas.openxmlformats.org/drawingml/2006/main">
            <a:off x="6886575" y="2695575"/>
            <a:ext cx="4543425" cy="2305050"/>
          </a:xfrm>
          <a:prstGeom xmlns:a="http://schemas.openxmlformats.org/drawingml/2006/main" prst="rect">
            <a:avLst/>
          </a:prstGeom>
        </p:spPr>
      </p:pic>
      <p:sp>
        <p:nvSpPr>
          <p:cNvPr id="14" name="手绘纸面边框">
            <a:extLst xmlns:a="http://schemas.openxmlformats.org/drawingml/2006/main">
              <a:ext uri="{FF2B5EF4-FFF2-40B4-BE49-F238E27FC236}">
                <a16:creationId xmlns:a16="http://schemas.microsoft.com/office/drawing/2014/main" id="{1D691549-3B38-45B0-BA7F-FC4859FD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4638675" cy="2400300"/>
          </a:xfrm>
          <a:custGeom xmlns:a="http://schemas.openxmlformats.org/drawingml/2006/main">
            <a:pathLst>
              <a:path w="4638675" h="2400300">
                <a:moveTo>
                  <a:pt x="38100" y="28575"/>
                </a:moveTo>
                <a:cubicBezTo>
                  <a:pt x="1298829" y="0"/>
                  <a:pt x="3154299" y="57150"/>
                  <a:pt x="4610100" y="19050"/>
                </a:cubicBezTo>
                <a:cubicBezTo>
                  <a:pt x="4648200" y="672084"/>
                  <a:pt x="4600575" y="1800225"/>
                  <a:pt x="4629150" y="2371725"/>
                </a:cubicBezTo>
                <a:cubicBezTo>
                  <a:pt x="3061526" y="2409825"/>
                  <a:pt x="1345216" y="2362200"/>
                  <a:pt x="19050" y="2390775"/>
                </a:cubicBezTo>
                <a:cubicBezTo>
                  <a:pt x="47625" y="1680210"/>
                  <a:pt x="0" y="720090"/>
                  <a:pt x="38100" y="285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A302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8F78F-8D7D-4AE4-A0D9-E929EB78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4638675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SDK / 平台 / 示例条件联动&#10;最终有效性仍由本地服务判断&#10;界面选择不会绕过当前结果校验">
            <a:extLst xmlns:a="http://schemas.openxmlformats.org/drawingml/2006/main">
              <a:ext uri="{FF2B5EF4-FFF2-40B4-BE49-F238E27FC236}">
                <a16:creationId xmlns:a16="http://schemas.microsoft.com/office/drawing/2014/main" id="{3FD638B0-77FB-4E80-BC8A-3840A96C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5238750"/>
            <a:ext cx="4543425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SDK / 平台 / 示例条件联动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最终有效性仍由本地服务判断</a:t>
            </a:r>
          </a:p>
          <a:p xmlns:a="http://schemas.openxmlformats.org/drawingml/2006/main">
            <a:pPr algn="l">
              <a:def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defRPr>
            </a:pPr>
            <a:r>
              <a:rPr sz="2025" b="0">
                <a:solidFill>
                  <a:srgbClr val="2A302D"/>
                </a:solidFill>
                <a:latin typeface="Ma Shan Zheng"/>
                <a:ea typeface="Ma Shan Zheng"/>
                <a:cs typeface="Ma Shan Zheng"/>
              </a:rPr>
              <a:t>界面选择不会绕过当前结果校验</a:t>
            </a:r>
          </a:p>
        </p:txBody>
      </p:sp>
      <p:sp>
        <p:nvSpPr>
          <p:cNvPr id="17" name="完整项目字段见 examples/healthy/docguard.toml；片段仅说明示例与环境如">
            <a:extLst xmlns:a="http://schemas.openxmlformats.org/drawingml/2006/main">
              <a:ext uri="{FF2B5EF4-FFF2-40B4-BE49-F238E27FC236}">
                <a16:creationId xmlns:a16="http://schemas.microsoft.com/office/drawing/2014/main" id="{ECACF85E-2304-4CEF-957B-F085FEF1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334125"/>
            <a:ext cx="10639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defPPr>
            <a:lvl1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1pPr>
            <a:lvl2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2pPr>
            <a:lvl3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3pPr>
            <a:lvl4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4pPr>
            <a:lvl5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5pPr>
            <a:lvl6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6pPr>
            <a:lvl7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7pPr>
            <a:lvl8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8pPr>
            <a:lvl9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defRPr>
            </a:pPr>
            <a:r>
              <a:rPr sz="1800" b="0">
                <a:solidFill>
                  <a:srgbClr val="626B67"/>
                </a:solidFill>
                <a:latin typeface="Ma Shan Zheng"/>
                <a:ea typeface="Ma Shan Zheng"/>
                <a:cs typeface="Ma Shan Zheng"/>
              </a:rPr>
              <a:t>完整项目字段见 examples/healthy/docguard.toml；片段仅说明示例与环境如何登记。</a:t>
            </a:r>
          </a:p>
        </p:txBody>
      </p:sp>
    </p:spTree>
    <p:extLst>
      <p:ext uri="{BB962C8B-B14F-4D97-AF65-F5344CB8AC3E}">
        <p14:creationId xmlns:p14="http://schemas.microsoft.com/office/powerpoint/2010/main" val="1145923796"/>
      </p:ext>
    </p:extLst>
  </p:cSld>
</p:sld>
</file>

<file path=ppt/theme/theme1.xml><?xml version="1.0" encoding="utf-8"?>
<a:theme xmlns:a="http://schemas.openxmlformats.org/drawingml/2006/main" name="ChatGPT">
  <a:themeElements>
    <a:clrScheme name="Notebook Marker">
      <a:dk1>
        <a:srgbClr val="000000"/>
      </a:dk1>
      <a:lt1>
        <a:srgbClr val="FFFFFF"/>
      </a:lt1>
      <a:dk2>
        <a:srgbClr val="2A302D"/>
      </a:dk2>
      <a:lt2>
        <a:srgbClr val="FAF6EB"/>
      </a:lt2>
      <a:accent1>
        <a:srgbClr val="28638C"/>
      </a:accent1>
      <a:accent2>
        <a:srgbClr val="397B60"/>
      </a:accent2>
      <a:accent3>
        <a:srgbClr val="D89E38"/>
      </a:accent3>
      <a:accent4>
        <a:srgbClr val="AA554B"/>
      </a:accent4>
      <a:accent5>
        <a:srgbClr val="8D9D86"/>
      </a:accent5>
      <a:accent6>
        <a:srgbClr val="77654F"/>
      </a:accent6>
      <a:hlink>
        <a:srgbClr val="28638C"/>
      </a:hlink>
      <a:folHlink>
        <a:srgbClr val="397B60"/>
      </a:folHlink>
    </a:clrScheme>
    <a:fontScheme name="">
      <a:majorFont>
        <a:latin typeface="Ma Shan Zheng"/>
        <a:ea typeface=""/>
        <a:cs typeface=""/>
      </a:majorFont>
      <a:minorFont>
        <a:latin typeface="Ma Shan Zheng"/>
        <a:ea typeface=""/>
        <a:cs typeface=""/>
      </a:minorFont>
    </a:fontScheme>
    <a:fmtScheme name="Notebook Marker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2026-10-29T14:13:16.1180000Z</dcterms:created>
  <dcterms:modified xsi:type="dcterms:W3CDTF">2026-10-29T14:13:16.1180000Z</dcterms:modified>
</coreProperties>
</file>