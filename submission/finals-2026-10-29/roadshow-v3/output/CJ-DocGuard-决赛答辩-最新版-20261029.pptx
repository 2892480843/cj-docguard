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ca8d0e05144ac0" /><Relationship Type="http://schemas.openxmlformats.org/officeDocument/2006/relationships/extended-properties" Target="/docProps/app.xml" Id="Ra70bed7b52334dab" /><Relationship Type="http://schemas.openxmlformats.org/officeDocument/2006/relationships/officeDocument" Target="/ppt/presentation.xml" Id="R87002c14258d4f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57d3073c0b4e9a"/>
  </p:sldMasterIdLst>
  <p:notesMasterIdLst>
    <p:notesMasterId xmlns:r="http://schemas.openxmlformats.org/officeDocument/2006/relationships" r:id="R6f4b22c9e9bc4bff"/>
  </p:notesMasterIdLst>
  <p:sldIdLst>
    <p:sldId xmlns:r="http://schemas.openxmlformats.org/officeDocument/2006/relationships" id="256" r:id="R6b2b20740c524dfb"/>
    <p:sldId xmlns:r="http://schemas.openxmlformats.org/officeDocument/2006/relationships" id="257" r:id="Rc8fbd12bd93f4fc2"/>
    <p:sldId xmlns:r="http://schemas.openxmlformats.org/officeDocument/2006/relationships" id="258" r:id="Rc759f5293ec44d84"/>
    <p:sldId xmlns:r="http://schemas.openxmlformats.org/officeDocument/2006/relationships" id="259" r:id="R07e158f4ce8a4ca6"/>
    <p:sldId xmlns:r="http://schemas.openxmlformats.org/officeDocument/2006/relationships" id="260" r:id="R7ad8f02425d74f02"/>
    <p:sldId xmlns:r="http://schemas.openxmlformats.org/officeDocument/2006/relationships" id="261" r:id="R1f5e4ff2cae24e1a"/>
    <p:sldId xmlns:r="http://schemas.openxmlformats.org/officeDocument/2006/relationships" id="262" r:id="R9d47e02c4bb04b60"/>
    <p:sldId xmlns:r="http://schemas.openxmlformats.org/officeDocument/2006/relationships" id="263" r:id="R7c08556ea25d4bd3"/>
    <p:sldId xmlns:r="http://schemas.openxmlformats.org/officeDocument/2006/relationships" id="264" r:id="R364ca7dc9b8e4276"/>
    <p:sldId xmlns:r="http://schemas.openxmlformats.org/officeDocument/2006/relationships" id="265" r:id="R21f7e09c317d44e7"/>
    <p:sldId xmlns:r="http://schemas.openxmlformats.org/officeDocument/2006/relationships" id="266" r:id="R20d34a19ac444ffa"/>
    <p:sldId xmlns:r="http://schemas.openxmlformats.org/officeDocument/2006/relationships" id="267" r:id="R883d7eefbf014275"/>
    <p:sldId xmlns:r="http://schemas.openxmlformats.org/officeDocument/2006/relationships" id="268" r:id="R9d4b69a14cfa4e20"/>
    <p:sldId xmlns:r="http://schemas.openxmlformats.org/officeDocument/2006/relationships" id="269" r:id="Re03486d92ef24e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4c6e1829634ed9" /><Relationship Type="http://schemas.openxmlformats.org/officeDocument/2006/relationships/slideMaster" Target="/ppt/slideMasters/slideMaster1.xml" Id="Ra257d3073c0b4e9a" /><Relationship Type="http://schemas.openxmlformats.org/officeDocument/2006/relationships/notesMaster" Target="/ppt/notesMasters/notesMaster1.xml" Id="R6f4b22c9e9bc4bff" /><Relationship Type="http://schemas.openxmlformats.org/officeDocument/2006/relationships/presProps" Target="/ppt/presProps.xml" Id="R9ede26c4376440f8" /><Relationship Type="http://schemas.openxmlformats.org/officeDocument/2006/relationships/tableStyles" Target="/ppt/tableStyles.xml" Id="R01d8a07a464b4b1c" /><Relationship Type="http://schemas.openxmlformats.org/officeDocument/2006/relationships/slide" Target="/ppt/slides/slide1.xml" Id="R6b2b20740c524dfb" /><Relationship Type="http://schemas.openxmlformats.org/officeDocument/2006/relationships/slide" Target="/ppt/slides/slide2.xml" Id="Rc8fbd12bd93f4fc2" /><Relationship Type="http://schemas.openxmlformats.org/officeDocument/2006/relationships/slide" Target="/ppt/slides/slide3.xml" Id="Rc759f5293ec44d84" /><Relationship Type="http://schemas.openxmlformats.org/officeDocument/2006/relationships/slide" Target="/ppt/slides/slide4.xml" Id="R07e158f4ce8a4ca6" /><Relationship Type="http://schemas.openxmlformats.org/officeDocument/2006/relationships/slide" Target="/ppt/slides/slide5.xml" Id="R7ad8f02425d74f02" /><Relationship Type="http://schemas.openxmlformats.org/officeDocument/2006/relationships/slide" Target="/ppt/slides/slide6.xml" Id="R1f5e4ff2cae24e1a" /><Relationship Type="http://schemas.openxmlformats.org/officeDocument/2006/relationships/slide" Target="/ppt/slides/slide7.xml" Id="R9d47e02c4bb04b60" /><Relationship Type="http://schemas.openxmlformats.org/officeDocument/2006/relationships/slide" Target="/ppt/slides/slide8.xml" Id="R7c08556ea25d4bd3" /><Relationship Type="http://schemas.openxmlformats.org/officeDocument/2006/relationships/slide" Target="/ppt/slides/slide9.xml" Id="R364ca7dc9b8e4276" /><Relationship Type="http://schemas.openxmlformats.org/officeDocument/2006/relationships/slide" Target="/ppt/slides/slide10.xml" Id="R21f7e09c317d44e7" /><Relationship Type="http://schemas.openxmlformats.org/officeDocument/2006/relationships/slide" Target="/ppt/slides/slide11.xml" Id="R20d34a19ac444ffa" /><Relationship Type="http://schemas.openxmlformats.org/officeDocument/2006/relationships/slide" Target="/ppt/slides/slide12.xml" Id="R883d7eefbf014275" /><Relationship Type="http://schemas.openxmlformats.org/officeDocument/2006/relationships/slide" Target="/ppt/slides/slide13.xml" Id="R9d4b69a14cfa4e20" /><Relationship Type="http://schemas.openxmlformats.org/officeDocument/2006/relationships/slide" Target="/ppt/slides/slide14.xml" Id="Re03486d92ef24e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9b998739de4d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DocGuard Dashboard">
      <a:dk1>
        <a:srgbClr val="000000"/>
      </a:dk1>
      <a:lt1>
        <a:srgbClr val="FFFFFF"/>
      </a:lt1>
      <a:dk2>
        <a:srgbClr val="111827"/>
      </a:dk2>
      <a:lt2>
        <a:srgbClr val="E5E7EB"/>
      </a:lt2>
      <a:accent1>
        <a:srgbClr val="6063EB"/>
      </a:accent1>
      <a:accent2>
        <a:srgbClr val="10B981"/>
      </a:accent2>
      <a:accent3>
        <a:srgbClr val="F59E0B"/>
      </a:accent3>
      <a:accent4>
        <a:srgbClr val="B91C1C"/>
      </a:accent4>
      <a:accent5>
        <a:srgbClr val="94A3B8"/>
      </a:accent5>
      <a:accent6>
        <a:srgbClr val="475569"/>
      </a:accent6>
      <a:hlink>
        <a:srgbClr val="6063EB"/>
      </a:hlink>
      <a:folHlink>
        <a:srgbClr val="4F46E5"/>
      </a:folHlink>
    </a:clrScheme>
    <a:fontScheme name="">
      <a:majorFont>
        <a:latin typeface="Source Han Sans SC"/>
        <a:ea typeface=""/>
        <a:cs typeface=""/>
      </a:majorFont>
      <a:minorFont>
        <a:latin typeface="Source Han Sans SC"/>
        <a:ea typeface=""/>
        <a:cs typeface=""/>
      </a:minorFont>
    </a:fontScheme>
    <a:fmtScheme name="DocGuard Dashbo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5ad151c1954192" /><Relationship Type="http://schemas.openxmlformats.org/officeDocument/2006/relationships/notesMaster" Target="/ppt/notesMasters/notesMaster1.xml" Id="Rc3ec69a96c3f40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9c82d9ce724459" /><Relationship Type="http://schemas.openxmlformats.org/officeDocument/2006/relationships/notesMaster" Target="/ppt/notesMasters/notesMaster1.xml" Id="R3ae94bbf244542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75af7d587e4ee7" /><Relationship Type="http://schemas.openxmlformats.org/officeDocument/2006/relationships/notesMaster" Target="/ppt/notesMasters/notesMaster1.xml" Id="R10c19eda76d44a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1f19759fce4130" /><Relationship Type="http://schemas.openxmlformats.org/officeDocument/2006/relationships/notesMaster" Target="/ppt/notesMasters/notesMaster1.xml" Id="Re8c38dc6b74049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88cc6077704b21" /><Relationship Type="http://schemas.openxmlformats.org/officeDocument/2006/relationships/notesMaster" Target="/ppt/notesMasters/notesMaster1.xml" Id="R48c61733a0a942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c5449cf78f44d5" /><Relationship Type="http://schemas.openxmlformats.org/officeDocument/2006/relationships/notesMaster" Target="/ppt/notesMasters/notesMaster1.xml" Id="R73495e50417049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38586cd4db455f" /><Relationship Type="http://schemas.openxmlformats.org/officeDocument/2006/relationships/notesMaster" Target="/ppt/notesMasters/notesMaster1.xml" Id="Rdd4caf79997a4b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b87a00683f42af" /><Relationship Type="http://schemas.openxmlformats.org/officeDocument/2006/relationships/notesMaster" Target="/ppt/notesMasters/notesMaster1.xml" Id="Rdc0c4fa0b74446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355f4436ee4d65" /><Relationship Type="http://schemas.openxmlformats.org/officeDocument/2006/relationships/notesMaster" Target="/ppt/notesMasters/notesMaster1.xml" Id="R879199295e2145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0b004c670d40de" /><Relationship Type="http://schemas.openxmlformats.org/officeDocument/2006/relationships/notesMaster" Target="/ppt/notesMasters/notesMaster1.xml" Id="Rc7a4b02a64024c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2d6db3696e4b57" /><Relationship Type="http://schemas.openxmlformats.org/officeDocument/2006/relationships/notesMaster" Target="/ppt/notesMasters/notesMaster1.xml" Id="R004e0d7c853445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47fdde67fb48ae" /><Relationship Type="http://schemas.openxmlformats.org/officeDocument/2006/relationships/notesMaster" Target="/ppt/notesMasters/notesMaster1.xml" Id="R960ce126a4854c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5aacba884c47c8" /><Relationship Type="http://schemas.openxmlformats.org/officeDocument/2006/relationships/notesMaster" Target="/ppt/notesMasters/notesMaster1.xml" Id="R1a937a04d5f94c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e0b2b13c534d69" /><Relationship Type="http://schemas.openxmlformats.org/officeDocument/2006/relationships/notesMaster" Target="/ppt/notesMasters/notesMaster1.xml" Id="R191ab1e1980744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【主讲时段】0:00–0:20，目标20秒（含操作）。</a:t>
            </a:r>
          </a:p>
          <a:p xmlns:a="http://schemas.openxmlformats.org/drawingml/2006/main">
            <a:r>
              <a:t>【讲述】各位评委好，我的作品是 CJ-DocGuard，面向仓颉项目级 API 文档生成及测试。它把接口说明、登记示例、开发工具包版本和检查结果放到同一个本地工作台中，供库维护者查询、测试和导出。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【动作】停留封面，介绍作品目标。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【来源】docs/prd-original.md；用户提供的赛题表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【主讲时段】0:20–0:55，目标35秒（含操作）。</a:t>
            </a:r>
          </a:p>
          <a:p xmlns:a="http://schemas.openxmlformats.org/drawingml/2006/main">
            <a:r>
              <a:t>【讲述】作品对应赛题的三项交付。第一，提取公共声明，生成包含参数、返回类型和关联示例的结构化文档。第二，使用真实仓颉工具链编译和运行登记示例，再检查输出。第三，分别记录不同开发工具包和平台的结果，同时检查文档中的目标文件与锚点。三项能力都能从网页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【动作】按表格从需求指向入口及产物。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【来源】docs/finals-requirement-evidence-2026-10-29.md；src/extractor.cj；src/engine.cj；src/links.cj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【主讲时段】0:55–1:40，目标45秒（含操作）。</a:t>
            </a:r>
          </a:p>
          <a:p xmlns:a="http://schemas.openxmlformats.org/drawingml/2006/main">
            <a:r>
              <a:t>【讲述】这里是最新版的实际页面。搜索 add 后，页面显示函数声明、两个整数参数、返回类型和关联示例，并能打开当前源码。当前工作区提取了四十七个公共接口，登记十四个示例。接口数量描述提取结果；一个接口出现在文档中，并不代表它的所有行为都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【动作】指向 add 声明、参数、返回类型与关联示例；不逐个念导航。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【来源】本轮 assets/api.png；build/finals-ppt-v3/facts.json；src/extractor.cj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【主讲时段】1:40–3:00，目标80秒（含操作）。</a:t>
            </a:r>
          </a:p>
          <a:p xmlns:a="http://schemas.openxmlformats.org/drawingml/2006/main">
            <a:r>
              <a:t>【讲述】现在切到网页。先检索接口，再查看对应的测试矩阵。接着选择有效示例查询，指定 SDK 一点二点零和当前平台，查询 arithmetic。完成后导出同一示例的 ZIP 包。查询和导出都会检查当前输入；这里调用的是本地仓颉服务。全量矩阵已在准备阶段运行，现场不把已有记录说成刚刚重新编译的结果。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【动作】0–15秒检索add；15–30秒查看矩阵并区分仅编译；30–55秒查询SDK1.2.0/arithmetic；55–75秒导出同一示例；75–80秒返回PPT。等待超过8秒切到本页截图。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【来源】docs/ui/2026-10-29-controls/native-workflow.json；本轮 assets/export.png；web/app.js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【主讲时段】3:00–3:45，目标45秒（含操作）。</a:t>
            </a:r>
          </a:p>
          <a:p xmlns:a="http://schemas.openxmlformats.org/drawingml/2006/main">
            <a:r>
              <a:t>【讲述】实现上，浏览器使用 HTML、CSS 和 JavaScript。本地 HTTP 服务、声明提取、配置处理、测试编排和当前结果判断使用仓颉。两版 SDK 调用的都是真实编译器和运行库。C 负责子进程监督，Bash 负责构建启动；Python 用于测试和辅助工具，不承担正式网页服务。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【动作】沿架构图从浏览器讲到仓颉服务、核心及SDK；明确语言分工。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【来源】workbench_native/；src/；src/extractor.cj 的 std.ast 导入；scripts/runner.c；scripts/native_env.sh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【主讲时段】3:45–4:30，目标45秒（含操作）。</a:t>
            </a:r>
          </a:p>
          <a:p xmlns:a="http://schemas.openxmlformats.org/drawingml/2006/main">
            <a:r>
              <a:t>【讲述】本版当前矩阵有二十八条独立记录。SDK 一点一点三和一点二点零，各有十三条运行通过、一条仅编译，合计二十六条运行通过、两条仅编译。运行通过要求程序成功执行且登记输出检查通过。仅编译没有验证运行行为，因此单独展示。这组数字描述当前样例，不作为全部仓颉项目的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【动作】指向两版SDK柱形图，再核对表格中13+1=14。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【来源】docs/ui/2026-10-29-controls/native-workflow.json；本轮 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【主讲时段】4:30–5:15，目标45秒（含操作）。</a:t>
            </a:r>
          </a:p>
          <a:p xmlns:a="http://schemas.openxmlformats.org/drawingml/2006/main">
            <a:r>
              <a:t>【讲述】结果不仅关联示例名称，还关联源码、配置、工具链和平台。输入变化后，旧记录需要重新测试。最新一次检查失败时，也不能退回较早的成功记录。查询与导出使用相同规则，历史记录继续保存，供追溯查看。这样可以避免把过去的成功直接当作当前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【动作】说明输入匹配、真实执行和输出检查；用源码变化与最新失败两个分支解释。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【来源】src/evidence.cj；src/engine.cj；src/export.cj；tests/native_evidence.cj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【主讲时段】5:15–5:55，目标40秒（含操作）。</a:t>
            </a:r>
          </a:p>
          <a:p xmlns:a="http://schemas.openxmlformats.org/drawingml/2006/main">
            <a:r>
              <a:t>【讲述】链接检查不仅统计数量，还给出来源、行号、原始目标和原因。本轮重新检查的专项样例中，预置的缺失文件和不存在锚点都被定位到 README 的对应行。严格检查返回一，表示它确实发现了这些问题。离线未检查的外部链接保持未确认，不显示为通过。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【动作】指向README第13、14行，区分预置问题被检测和工具自身失败。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【来源】本轮 links-check.stdout、facts.json 和 assets/links.png；src/links.cj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【主讲时段】5:55–6:35，目标40秒（含操作）。</a:t>
            </a:r>
          </a:p>
          <a:p xmlns:a="http://schemas.openxmlformats.org/drawingml/2006/main">
            <a:r>
              <a:t>【讲述】最新版进一步补齐了工作台操作。下拉选项对应实际配置和记录，查询条件随工具切换；任务状态区分排队、运行和结束，未提供数量时不编造进度百分比。大量历史记录触发的任务内存问题也已处理。最新二十三项原生服务回归通过，三档尺寸共三十次页面检查通过，七百三十九条历史记录继续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【动作】按操作、状态、历史三组讲当前实现；不作阶段数据对比。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【来源】docs/ui/2026-10-29-controls/native-tests.txt；layout-checks.json；native-workflow.json；workbench_native/jobs.cj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【主讲时段】6:35–7:00，目标25秒（含操作）。</a:t>
            </a:r>
          </a:p>
          <a:p xmlns:a="http://schemas.openxmlformats.org/drawingml/2006/main">
            <a:r>
              <a:t>【讲述】评委可以从公开仓库获取固定版本，按指南配置两版仓颉工具包和兼容系统 SDK，再构建并启动工作台。当前完整实测环境是 macOS arm64。作品交付的是可操作、可重复检查的文档和测试流程。谢谢各位评委。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【动作】展示源码068a22a和指南入口；结束主讲，按追问选择备查页。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【来源】README.md；docs/judge-quickstart.md；源码068a22a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【讲述】本页按追问展开：当前完整实测为macOS arm64和两版SDK；解析面向支持的声明子集；执行面向可信本地项目；离线外链保留未确认。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【动作】仅问答时打开。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【来源】docs/requirements-status.md；docs/native-workbench.md；src/extractor.cj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【讲述】运行通过表示执行与登记输出检查通过；仅编译没有运行行为结论；需重测表示输入变化；历史记录供追溯，不直接作为当前可用结果。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【动作】按评委提问解释相应状态，不逐行全讲。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【来源】src/evidence.cj；web/views.js；src/engine.cj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【讲述】复现时先按评委指南登记两版SDK及兼容系统SDK。获取固定提交后，运行构建脚本，再启动8765端口。平台或工具链变化后，需要重新运行检查。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【动作】按指南说明命令和前提。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【来源】docs/judge-quickstart.md；scripts/build_workbench.sh；scripts/workbench.sh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【讲述】这里展示当前链接专项检查的实际网页。缺失文件和缺失锚点均能定位到来源行，未经联网检查的外部链接保持未确认。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【动作】根据提问说明 README.md 第13和14行的失败原因。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【来源】examples/link-checks/README.md；本轮严格链接检查与当前网页截图。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19196971749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dad97eb2e41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d81fdc5d245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7203b1a5748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d77e8009342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65b603c4140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041924-23D8-433D-9796-BFE0970E78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80937B-30D9-4EDA-91AE-838D1DEDE1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0062EB-71CE-4B2A-8AD9-A65AC7251F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02AD7B-AB15-4815-99EE-3D3829AF3C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77F949-87A7-4BF7-8D76-344FBEEE3B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42E1A6-8B7E-4121-960C-BE3FD5BC9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78535F-66C2-4E0B-8757-13F08DEEEF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CC5611-7BBF-47EA-B8E8-141AF89971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EC0EFC-546F-4BC0-A911-668A0A62A9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D6E3B4-12E1-4957-8308-50421CF6EB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a0431963f147f6" /><Relationship Type="http://schemas.openxmlformats.org/officeDocument/2006/relationships/slideLayout" Target="/ppt/slideLayouts/slideLayout1.xml" Id="R4b5b4d1c28cf4c84" /><Relationship Type="http://schemas.openxmlformats.org/officeDocument/2006/relationships/slideLayout" Target="/ppt/slideLayouts/slideLayout2.xml" Id="R4013b11fe4c644fb" /><Relationship Type="http://schemas.openxmlformats.org/officeDocument/2006/relationships/slideLayout" Target="/ppt/slideLayouts/slideLayout3.xml" Id="R208a05e13ac74e0b" /><Relationship Type="http://schemas.openxmlformats.org/officeDocument/2006/relationships/slideLayout" Target="/ppt/slideLayouts/slideLayout4.xml" Id="R266c26fd195b4cd3" /><Relationship Type="http://schemas.openxmlformats.org/officeDocument/2006/relationships/slideLayout" Target="/ppt/slideLayouts/slideLayout5.xml" Id="R0be9a551b54f41a9" /><Relationship Type="http://schemas.openxmlformats.org/officeDocument/2006/relationships/slideLayout" Target="/ppt/slideLayouts/slideLayout6.xml" Id="R0bf76176c24944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5b4d1c28cf4c84"/>
    <p:sldLayoutId xmlns:r="http://schemas.openxmlformats.org/officeDocument/2006/relationships" id="2147483650" r:id="R4013b11fe4c644fb"/>
    <p:sldLayoutId xmlns:r="http://schemas.openxmlformats.org/officeDocument/2006/relationships" id="2147483651" r:id="R208a05e13ac74e0b"/>
    <p:sldLayoutId xmlns:r="http://schemas.openxmlformats.org/officeDocument/2006/relationships" id="2147483652" r:id="R266c26fd195b4cd3"/>
    <p:sldLayoutId xmlns:r="http://schemas.openxmlformats.org/officeDocument/2006/relationships" id="2147483653" r:id="R0be9a551b54f41a9"/>
    <p:sldLayoutId xmlns:r="http://schemas.openxmlformats.org/officeDocument/2006/relationships" id="2147483654" r:id="R0bf76176c24944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DocGuard Dashboard">
      <a:dk1>
        <a:srgbClr val="000000"/>
      </a:dk1>
      <a:lt1>
        <a:srgbClr val="FFFFFF"/>
      </a:lt1>
      <a:dk2>
        <a:srgbClr val="111827"/>
      </a:dk2>
      <a:lt2>
        <a:srgbClr val="E5E7EB"/>
      </a:lt2>
      <a:accent1>
        <a:srgbClr val="6063EB"/>
      </a:accent1>
      <a:accent2>
        <a:srgbClr val="10B981"/>
      </a:accent2>
      <a:accent3>
        <a:srgbClr val="F59E0B"/>
      </a:accent3>
      <a:accent4>
        <a:srgbClr val="B91C1C"/>
      </a:accent4>
      <a:accent5>
        <a:srgbClr val="94A3B8"/>
      </a:accent5>
      <a:accent6>
        <a:srgbClr val="475569"/>
      </a:accent6>
      <a:hlink>
        <a:srgbClr val="6063EB"/>
      </a:hlink>
      <a:folHlink>
        <a:srgbClr val="4F46E5"/>
      </a:folHlink>
    </a:clrScheme>
    <a:fontScheme name="">
      <a:majorFont>
        <a:latin typeface="Source Han Sans SC"/>
        <a:ea typeface=""/>
        <a:cs typeface=""/>
      </a:majorFont>
      <a:minorFont>
        <a:latin typeface="Source Han Sans SC"/>
        <a:ea typeface=""/>
        <a:cs typeface=""/>
      </a:minorFont>
    </a:fontScheme>
    <a:fmtScheme name="DocGuard Dashbo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b88187ae484866" /><Relationship Type="http://schemas.openxmlformats.org/officeDocument/2006/relationships/notesSlide" Target="/ppt/notesSlides/notesSlide1.xml" Id="Rd12e35407d1a4f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9d63ea92846b4" /><Relationship Type="http://schemas.openxmlformats.org/officeDocument/2006/relationships/notesSlide" Target="/ppt/notesSlides/notesSlide2.xml" Id="Rb6bf685b9c204f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8f1ca55b084637" /><Relationship Type="http://schemas.openxmlformats.org/officeDocument/2006/relationships/image" Target="/ppt/media/image.jpeg" Id="Rd777ec67e890446c" /><Relationship Type="http://schemas.openxmlformats.org/officeDocument/2006/relationships/notesSlide" Target="/ppt/notesSlides/notesSlide3.xml" Id="R24445876f13d45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5127921df4430a" /><Relationship Type="http://schemas.openxmlformats.org/officeDocument/2006/relationships/image" Target="/ppt/media/image2.jpeg" Id="R350266c22d3e4488" /><Relationship Type="http://schemas.openxmlformats.org/officeDocument/2006/relationships/notesSlide" Target="/ppt/notesSlides/notesSlide4.xml" Id="R02e1a268926b41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2f71b8101440e" /><Relationship Type="http://schemas.openxmlformats.org/officeDocument/2006/relationships/notesSlide" Target="/ppt/notesSlides/notesSlide5.xml" Id="Rfb3ab105f48745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091960efe4703" /><Relationship Type="http://schemas.openxmlformats.org/officeDocument/2006/relationships/chart" Target="/ppt/slides/charts/chart1.xml" Id="R0d59ba4bad18445a" /><Relationship Type="http://schemas.openxmlformats.org/officeDocument/2006/relationships/notesSlide" Target="/ppt/notesSlides/notesSlide6.xml" Id="R9c258191006849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98a0fa8ae42a2" /><Relationship Type="http://schemas.openxmlformats.org/officeDocument/2006/relationships/notesSlide" Target="/ppt/notesSlides/notesSlide7.xml" Id="R690ed23c8f0a4c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a5d30dc5cc410e" /><Relationship Type="http://schemas.openxmlformats.org/officeDocument/2006/relationships/notesSlide" Target="/ppt/notesSlides/notesSlide8.xml" Id="R85d059b925524c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133059c054909" /><Relationship Type="http://schemas.openxmlformats.org/officeDocument/2006/relationships/notesSlide" Target="/ppt/notesSlides/notesSlide9.xml" Id="R63e1ba0f8b794b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0985cce632420b" /><Relationship Type="http://schemas.openxmlformats.org/officeDocument/2006/relationships/notesSlide" Target="/ppt/notesSlides/notesSlide10.xml" Id="R3012b90c4e5d47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d7f6856a0490f" /><Relationship Type="http://schemas.openxmlformats.org/officeDocument/2006/relationships/notesSlide" Target="/ppt/notesSlides/notesSlide11.xml" Id="R80f8a297fe4f4a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510b2aa94431b" /><Relationship Type="http://schemas.openxmlformats.org/officeDocument/2006/relationships/notesSlide" Target="/ppt/notesSlides/notesSlide12.xml" Id="R91bfedfc50c149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be6d31f93d4127" /><Relationship Type="http://schemas.openxmlformats.org/officeDocument/2006/relationships/notesSlide" Target="/ppt/notesSlides/notesSlide13.xml" Id="Rd2929283fd144f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a9ae61d14461e" /><Relationship Type="http://schemas.openxmlformats.org/officeDocument/2006/relationships/image" Target="/ppt/media/image3.jpeg" Id="Rab6196dfedfa4762" /><Relationship Type="http://schemas.openxmlformats.org/officeDocument/2006/relationships/notesSlide" Target="/ppt/notesSlides/notesSlide14.xml" Id="R5a3c788a917e468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运行通过</c:v>
          </c:tx>
          <c:spPr>
            <a:solidFill xmlns:a="http://schemas.openxmlformats.org/drawingml/2006/main">
              <a:srgbClr val="10B98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SDK 1.2.0</c:v>
                </c:pt>
                <c:pt idx="1">
                  <c:v>SDK 1.1.3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ser>
          <c:idx val="1"/>
          <c:order val="1"/>
          <c:tx>
            <c:v>仅编译</c:v>
          </c:tx>
          <c:spPr>
            <a:solidFill xmlns:a="http://schemas.openxmlformats.org/drawingml/2006/main">
              <a:srgbClr val="F59E0B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SDK 1.2.0</c:v>
                </c:pt>
                <c:pt idx="1">
                  <c:v>SDK 1.1.3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052E23"/>
                  </a:solidFill>
                  <a:latin typeface="Source Han Sans SC"/>
                  <a:ea typeface="Source Han Sans SC"/>
                  <a:cs typeface="Source Han Sans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DF0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9FAFB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647084"/>
              </a:solidFill>
              <a:latin typeface="Source Han Sans SC"/>
              <a:ea typeface="Source Han Sans SC"/>
              <a:cs typeface="Source Han Sans SC"/>
            </a:defRPr>
          </a:pPr>
        </a:p>
      </c:txPr>
    </c:legend>
    <c:plotVisOnly val="1"/>
  </c:chart>
  <c:spPr>
    <a:solidFill xmlns:a="http://schemas.openxmlformats.org/drawingml/2006/main">
      <a:srgbClr val="F9FAFB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72EB-B495-4808-8835-DCBC8507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4BD875B2-1E03-44C5-97CA-ECF2E30A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721F3859-B49F-4A55-ACF4-77EFBE9C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C012D706-D3D9-48C1-B40A-1A7031F1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941F2-B8D5-4164-90B9-25C908BA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895475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61C00A61-C506-478B-AB6C-4F6220C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7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11F00C18-861B-4B26-8A33-21F7205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951CF35E-1A15-4188-802C-E7050C51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9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C9F63204-9FCA-47CA-BD5B-6565EA53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F4040890-B512-49D3-98CB-CD412891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1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71E68049-7E13-4551-AB39-B11EBAFC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9D649538-6D98-4FC3-B0B4-12A727DC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3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4AE065DE-7825-4505-B3B8-850E6943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AF357E60-C101-4730-9E3B-D4753458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1BD1806B-5ED3-4FD5-9078-94112B3A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7FE6F22C-5827-456B-B394-FF7C525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C6286E3D-65A0-4C7C-8F2B-658AD79D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01 / 10">
            <a:extLst xmlns:a="http://schemas.openxmlformats.org/drawingml/2006/main">
              <a:ext uri="{FF2B5EF4-FFF2-40B4-BE49-F238E27FC236}">
                <a16:creationId xmlns:a16="http://schemas.microsoft.com/office/drawing/2014/main" id="{FC587130-C18A-4F97-9BD3-B1330F70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01 / 10</a:t>
            </a:r>
          </a:p>
        </p:txBody>
      </p:sp>
      <p:sp>
        <p:nvSpPr>
          <p:cNvPr id="19" name="决赛答辩">
            <a:extLst xmlns:a="http://schemas.openxmlformats.org/drawingml/2006/main">
              <a:ext uri="{FF2B5EF4-FFF2-40B4-BE49-F238E27FC236}">
                <a16:creationId xmlns:a16="http://schemas.microsoft.com/office/drawing/2014/main" id="{21B2FA24-9E38-45A7-96D1-4EBCCA51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7810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决赛答辩</a:t>
            </a:r>
          </a:p>
        </p:txBody>
      </p:sp>
      <p:sp>
        <p:nvSpPr>
          <p:cNvPr id="20" name="CJ-DocGuard">
            <a:extLst xmlns:a="http://schemas.openxmlformats.org/drawingml/2006/main">
              <a:ext uri="{FF2B5EF4-FFF2-40B4-BE49-F238E27FC236}">
                <a16:creationId xmlns:a16="http://schemas.microsoft.com/office/drawing/2014/main" id="{CDADBF91-8223-4E50-8D3F-468D622F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62100"/>
            <a:ext cx="904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8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21" name="仓颉项目级 API 文档生成及测试">
            <a:extLst xmlns:a="http://schemas.openxmlformats.org/drawingml/2006/main">
              <a:ext uri="{FF2B5EF4-FFF2-40B4-BE49-F238E27FC236}">
                <a16:creationId xmlns:a16="http://schemas.microsoft.com/office/drawing/2014/main" id="{7B8FE725-1AFF-4EBB-A065-02A9C593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71750"/>
            <a:ext cx="912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仓颉项目级 API 文档生成及测试</a:t>
            </a:r>
          </a:p>
        </p:txBody>
      </p:sp>
      <p:sp>
        <p:nvSpPr>
          <p:cNvPr id="22" name="在本地工作台中生成文档、运行示例，&#10;检查开发工具包版本和索引链接。">
            <a:extLst xmlns:a="http://schemas.openxmlformats.org/drawingml/2006/main">
              <a:ext uri="{FF2B5EF4-FFF2-40B4-BE49-F238E27FC236}">
                <a16:creationId xmlns:a16="http://schemas.microsoft.com/office/drawing/2014/main" id="{157AA1F8-BC61-4579-A4B4-9D7CB158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在本地工作台中生成文档、运行示例，</a:t>
            </a:r>
          </a:p>
          <a:p xmlns:a="http://schemas.openxmlformats.org/drawingml/2006/main">
            <a:pPr algn="l">
              <a:def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检查开发工具包版本和索引链接。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363AF-3150-483F-BE61-060EC543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05350"/>
            <a:ext cx="91440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47">
            <a:extLst xmlns:a="http://schemas.openxmlformats.org/drawingml/2006/main">
              <a:ext uri="{FF2B5EF4-FFF2-40B4-BE49-F238E27FC236}">
                <a16:creationId xmlns:a16="http://schemas.microsoft.com/office/drawing/2014/main" id="{0213781F-7654-4DD1-926A-A08F3385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958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47</a:t>
            </a:r>
          </a:p>
        </p:txBody>
      </p:sp>
      <p:sp>
        <p:nvSpPr>
          <p:cNvPr id="25" name="公共接口">
            <a:extLst xmlns:a="http://schemas.openxmlformats.org/drawingml/2006/main">
              <a:ext uri="{FF2B5EF4-FFF2-40B4-BE49-F238E27FC236}">
                <a16:creationId xmlns:a16="http://schemas.microsoft.com/office/drawing/2014/main" id="{06B74C55-01BB-4A22-AAC0-01052BB9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482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公共接口</a:t>
            </a:r>
          </a:p>
        </p:txBody>
      </p:sp>
      <p:sp>
        <p:nvSpPr>
          <p:cNvPr id="26" name="14">
            <a:extLst xmlns:a="http://schemas.openxmlformats.org/drawingml/2006/main">
              <a:ext uri="{FF2B5EF4-FFF2-40B4-BE49-F238E27FC236}">
                <a16:creationId xmlns:a16="http://schemas.microsoft.com/office/drawing/2014/main" id="{122F92FE-BB21-4295-BCCD-93A5B67D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895850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14</a:t>
            </a:r>
          </a:p>
        </p:txBody>
      </p:sp>
      <p:sp>
        <p:nvSpPr>
          <p:cNvPr id="27" name="登记示例">
            <a:extLst xmlns:a="http://schemas.openxmlformats.org/drawingml/2006/main">
              <a:ext uri="{FF2B5EF4-FFF2-40B4-BE49-F238E27FC236}">
                <a16:creationId xmlns:a16="http://schemas.microsoft.com/office/drawing/2014/main" id="{52FCC6AE-DD52-4CED-AC56-60B98CA9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482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登记示例</a:t>
            </a:r>
          </a:p>
        </p:txBody>
      </p:sp>
      <p:sp>
        <p:nvSpPr>
          <p:cNvPr id="28" name="2">
            <a:extLst xmlns:a="http://schemas.openxmlformats.org/drawingml/2006/main">
              <a:ext uri="{FF2B5EF4-FFF2-40B4-BE49-F238E27FC236}">
                <a16:creationId xmlns:a16="http://schemas.microsoft.com/office/drawing/2014/main" id="{DF95C4F8-117E-457F-AE31-F9C3DBF8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958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2</a:t>
            </a:r>
          </a:p>
        </p:txBody>
      </p:sp>
      <p:sp>
        <p:nvSpPr>
          <p:cNvPr id="29" name="SDK 版本">
            <a:extLst xmlns:a="http://schemas.openxmlformats.org/drawingml/2006/main">
              <a:ext uri="{FF2B5EF4-FFF2-40B4-BE49-F238E27FC236}">
                <a16:creationId xmlns:a16="http://schemas.microsoft.com/office/drawing/2014/main" id="{371F559B-F0FA-48D4-ACB2-27A180BE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48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SDK 版本</a:t>
            </a:r>
          </a:p>
        </p:txBody>
      </p:sp>
      <p:sp>
        <p:nvSpPr>
          <p:cNvPr id="30" name="当前实测：macOS arm64 · 仓颉 1.1.3 / 1.2.0">
            <a:extLst xmlns:a="http://schemas.openxmlformats.org/drawingml/2006/main">
              <a:ext uri="{FF2B5EF4-FFF2-40B4-BE49-F238E27FC236}">
                <a16:creationId xmlns:a16="http://schemas.microsoft.com/office/drawing/2014/main" id="{E66FE330-18A3-4709-89B8-1617225D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06742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当前实测：macOS arm64 · 仓颉 1.1.3 / 1.2.0</a:t>
            </a:r>
          </a:p>
        </p:txBody>
      </p:sp>
    </p:spTree>
    <p:extLst>
      <p:ext uri="{BB962C8B-B14F-4D97-AF65-F5344CB8AC3E}">
        <p14:creationId xmlns:p14="http://schemas.microsoft.com/office/powerpoint/2010/main" val="612764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7C054-7109-450A-8802-4FE5A189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DB33B5DF-D761-4718-A1E1-23FB6F18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A40CB83E-1FD0-44EE-B23C-5F7EF0A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ADCAA949-30FC-4230-99F7-05F52916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78D31-107B-4691-8F1D-DB40176A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895475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4741CBDB-CD7A-4C27-8E94-4199BBC5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7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273A5C1D-8E1A-4741-B10F-FCBE1880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D51C9281-3727-4780-8B51-4CBC41E4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9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14D1DDB0-EF19-49FB-9718-2390FD94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2A4EF357-64DD-437A-82DF-2AB1B3C4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1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511251E3-24B1-4F8B-BEF6-FF5F91D6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107620F5-156D-4431-B565-6A0C3DB3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3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C76D9554-E14F-4A2A-9936-63EEE7B9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92E588C6-E0B1-4586-A6B1-B760B118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D6B1BEC0-0251-4A4F-BD6B-92D410F8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EC4224DC-B688-4A95-820C-318C8F9E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5B1BBF27-B073-4AFA-8619-AD0A8F75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三项交付对应一套工作流程">
            <a:extLst xmlns:a="http://schemas.openxmlformats.org/drawingml/2006/main">
              <a:ext uri="{FF2B5EF4-FFF2-40B4-BE49-F238E27FC236}">
                <a16:creationId xmlns:a16="http://schemas.microsoft.com/office/drawing/2014/main" id="{0EE4A9E4-D8BF-4FE8-9F97-9A0115D3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三项交付对应一套工作流程</a:t>
            </a:r>
          </a:p>
        </p:txBody>
      </p:sp>
      <p:sp>
        <p:nvSpPr>
          <p:cNvPr id="19" name="文档生成、示例正确性、版本关系与索引链接">
            <a:extLst xmlns:a="http://schemas.openxmlformats.org/drawingml/2006/main">
              <a:ext uri="{FF2B5EF4-FFF2-40B4-BE49-F238E27FC236}">
                <a16:creationId xmlns:a16="http://schemas.microsoft.com/office/drawing/2014/main" id="{F82595D7-5B89-4BE2-8537-0E492374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文档生成、示例正确性、版本关系与索引链接</a:t>
            </a:r>
          </a:p>
        </p:txBody>
      </p:sp>
      <p:sp>
        <p:nvSpPr>
          <p:cNvPr id="20" name="02 / 10">
            <a:extLst xmlns:a="http://schemas.openxmlformats.org/drawingml/2006/main">
              <a:ext uri="{FF2B5EF4-FFF2-40B4-BE49-F238E27FC236}">
                <a16:creationId xmlns:a16="http://schemas.microsoft.com/office/drawing/2014/main" id="{2E7BDB2C-735C-4553-B859-42377A6F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02 / 10</a:t>
            </a:r>
          </a:p>
        </p:txBody>
      </p:sp>
      <p:graphicFrame>
        <p:nvGraphicFrame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E7531-4B83-4AE7-AEFA-3D25626D90B6}"/>
              </a:ext>
            </a:extLst>
          </p:cNvPr>
          <p:cNvGraphicFramePr/>
          <p:nvPr/>
        </p:nvGraphicFramePr>
        <p:xfrm>
          <a:off xmlns:a="http://schemas.openxmlformats.org/drawingml/2006/main" x="2305050" y="2057400"/>
          <a:ext xmlns:a="http://schemas.openxmlformats.org/drawingml/2006/main" cx="9182100" cy="3219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05100"/>
                <a:gridCol w="2571750"/>
                <a:gridCol w="3905250"/>
              </a:tblGrid>
              <a:tr h="804863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赛题交付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网页入口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生成或检查的内容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</a:tr>
              <a:tr h="804863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结构化 API 文档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接口文档 / 源码编辑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声明、参数、返回类型</a:t>
                      </a:r>
                    </a:p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关联示例与源码位置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示例代码正确性测试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示例测试 / 任务中心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真实编译、运行</a:t>
                      </a:r>
                    </a:p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输出检查与执行记录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863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SDK 版本关系</a:t>
                      </a:r>
                    </a:p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与索引链接测试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SDK 测试矩阵</a:t>
                      </a:r>
                    </a:p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链接与问题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独立版本结果</a:t>
                      </a:r>
                    </a:p>
                    <a:p>
                      <a:r>
                        <a:rPr sz="1800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目标文件、锚点与来源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API：应用程序接口；SDK：仓颉编译器、运行库等开发工具。">
            <a:extLst xmlns:a="http://schemas.openxmlformats.org/drawingml/2006/main">
              <a:ext uri="{FF2B5EF4-FFF2-40B4-BE49-F238E27FC236}">
                <a16:creationId xmlns:a16="http://schemas.microsoft.com/office/drawing/2014/main" id="{E95065D5-559C-4717-97E6-EB38FCFC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657850"/>
            <a:ext cx="918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API：应用程序接口；SDK：仓颉编译器、运行库等开发工具。</a:t>
            </a:r>
          </a:p>
        </p:txBody>
      </p:sp>
    </p:spTree>
    <p:extLst>
      <p:ext uri="{BB962C8B-B14F-4D97-AF65-F5344CB8AC3E}">
        <p14:creationId xmlns:p14="http://schemas.microsoft.com/office/powerpoint/2010/main" val="2011686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43CD7F-6E4A-481A-BA81-0FAA9F8B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8BD627F4-4C30-4B6B-9E07-E715BA3A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029D504D-7FF7-4EE5-8EC7-A0C2B4F5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58F33891-ABB3-414C-89A7-AE8A59C5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A80EA259-B5E6-4B3A-88E2-8CAA8C22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F8C62E56-23FB-4EC1-AF87-0ED196BE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470EF-94EE-45C4-8A61-F8BEEBB3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33650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9C976C96-9FC3-4AA2-B745-12E98998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9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E7118376-528C-4939-AD55-5D2E50EB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8D008232-3C6B-4F61-A86B-3755D9C0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1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5D831911-1628-4047-9B21-05F894E9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688F7618-CF4D-49F9-B39C-702F9E85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3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CCE604AD-3777-4E7B-BBCE-E4F8CDD1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AEFFC205-516D-46FE-AF64-918040E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403A6806-A9B7-4F49-BB82-1160023B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F927969C-937A-49DA-B591-52F5046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207CA507-98B4-4A80-9DA1-4224EAD4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接口说明与示例可以一起检索">
            <a:extLst xmlns:a="http://schemas.openxmlformats.org/drawingml/2006/main">
              <a:ext uri="{FF2B5EF4-FFF2-40B4-BE49-F238E27FC236}">
                <a16:creationId xmlns:a16="http://schemas.microsoft.com/office/drawing/2014/main" id="{B0757941-3778-4D13-99EC-DA1A5389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接口说明与示例可以一起检索</a:t>
            </a:r>
          </a:p>
        </p:txBody>
      </p:sp>
      <p:sp>
        <p:nvSpPr>
          <p:cNvPr id="19" name="声明、参数、返回类型和源码关联">
            <a:extLst xmlns:a="http://schemas.openxmlformats.org/drawingml/2006/main">
              <a:ext uri="{FF2B5EF4-FFF2-40B4-BE49-F238E27FC236}">
                <a16:creationId xmlns:a16="http://schemas.microsoft.com/office/drawing/2014/main" id="{D7B0D6FC-94E1-4730-907B-D9298124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声明、参数、返回类型和源码关联</a:t>
            </a:r>
          </a:p>
        </p:txBody>
      </p:sp>
      <p:sp>
        <p:nvSpPr>
          <p:cNvPr id="20" name="03 / 10">
            <a:extLst xmlns:a="http://schemas.openxmlformats.org/drawingml/2006/main">
              <a:ext uri="{FF2B5EF4-FFF2-40B4-BE49-F238E27FC236}">
                <a16:creationId xmlns:a16="http://schemas.microsoft.com/office/drawing/2014/main" id="{2CF27220-1BA8-472D-A5DB-B2707AA2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03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7A1A6-748C-424F-BB75-613A3215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42481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add">
            <a:extLst xmlns:a="http://schemas.openxmlformats.org/drawingml/2006/main">
              <a:ext uri="{FF2B5EF4-FFF2-40B4-BE49-F238E27FC236}">
                <a16:creationId xmlns:a16="http://schemas.microsoft.com/office/drawing/2014/main" id="{978D471D-EB7E-4825-B2C7-E86F9145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812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add</a:t>
            </a:r>
          </a:p>
        </p:txBody>
      </p:sp>
      <p:sp>
        <p:nvSpPr>
          <p:cNvPr id="23" name="public func add(&#10;  a: Int64, b: Int6">
            <a:extLst xmlns:a="http://schemas.openxmlformats.org/drawingml/2006/main">
              <a:ext uri="{FF2B5EF4-FFF2-40B4-BE49-F238E27FC236}">
                <a16:creationId xmlns:a16="http://schemas.microsoft.com/office/drawing/2014/main" id="{A3DFCBF8-B798-4599-8A75-FD900D4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57475"/>
            <a:ext cx="3810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public func add(</a:t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  a: Int64, b: Int64</a:t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): Int64</a:t>
            </a:r>
          </a:p>
        </p:txBody>
      </p:sp>
      <p:sp>
        <p:nvSpPr>
          <p:cNvPr id="24" name="参数">
            <a:extLst xmlns:a="http://schemas.openxmlformats.org/drawingml/2006/main">
              <a:ext uri="{FF2B5EF4-FFF2-40B4-BE49-F238E27FC236}">
                <a16:creationId xmlns:a16="http://schemas.microsoft.com/office/drawing/2014/main" id="{AF482F6F-EE32-4ED2-97AD-FFE04889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624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参数</a:t>
            </a:r>
          </a:p>
        </p:txBody>
      </p:sp>
      <p:sp>
        <p:nvSpPr>
          <p:cNvPr id="25" name="a、b：Int64">
            <a:extLst xmlns:a="http://schemas.openxmlformats.org/drawingml/2006/main">
              <a:ext uri="{FF2B5EF4-FFF2-40B4-BE49-F238E27FC236}">
                <a16:creationId xmlns:a16="http://schemas.microsoft.com/office/drawing/2014/main" id="{B52FB1AD-8C45-4D91-9225-B4642E06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624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a、b：Int64</a:t>
            </a:r>
          </a:p>
        </p:txBody>
      </p:sp>
      <p:sp>
        <p:nvSpPr>
          <p:cNvPr id="26" name="返回">
            <a:extLst xmlns:a="http://schemas.openxmlformats.org/drawingml/2006/main">
              <a:ext uri="{FF2B5EF4-FFF2-40B4-BE49-F238E27FC236}">
                <a16:creationId xmlns:a16="http://schemas.microsoft.com/office/drawing/2014/main" id="{4F7DA9DA-901C-4E92-818E-08B5DF18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33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返回</a:t>
            </a:r>
          </a:p>
        </p:txBody>
      </p:sp>
      <p:sp>
        <p:nvSpPr>
          <p:cNvPr id="27" name="Int64">
            <a:extLst xmlns:a="http://schemas.openxmlformats.org/drawingml/2006/main">
              <a:ext uri="{FF2B5EF4-FFF2-40B4-BE49-F238E27FC236}">
                <a16:creationId xmlns:a16="http://schemas.microsoft.com/office/drawing/2014/main" id="{4A82B5E7-E66C-4D76-9CFF-C704774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339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Int64</a:t>
            </a:r>
          </a:p>
        </p:txBody>
      </p:sp>
      <p:sp>
        <p:nvSpPr>
          <p:cNvPr id="28" name="关联示例">
            <a:extLst xmlns:a="http://schemas.openxmlformats.org/drawingml/2006/main">
              <a:ext uri="{FF2B5EF4-FFF2-40B4-BE49-F238E27FC236}">
                <a16:creationId xmlns:a16="http://schemas.microsoft.com/office/drawing/2014/main" id="{0C9066DF-A2AC-425A-9223-071C89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05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关联示例</a:t>
            </a:r>
          </a:p>
        </p:txBody>
      </p:sp>
      <p:sp>
        <p:nvSpPr>
          <p:cNvPr id="29" name="arithmetic&#10;snippet-wrapper">
            <a:extLst xmlns:a="http://schemas.openxmlformats.org/drawingml/2006/main">
              <a:ext uri="{FF2B5EF4-FFF2-40B4-BE49-F238E27FC236}">
                <a16:creationId xmlns:a16="http://schemas.microsoft.com/office/drawing/2014/main" id="{3B36C10C-4A88-4490-95E0-0F42D20F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24500"/>
            <a:ext cx="4171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arithmetic</a:t>
            </a:r>
          </a:p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snippet-wrapper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BD0960-D928-4EF7-BB05-2E227979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695825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01597B-F01E-4925-8B79-578E48B0CA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7ec67e890446c"/>
          <a:srcRect xmlns:a="http://schemas.openxmlformats.org/drawingml/2006/main" l="41400" t="33000" r="0" b="8000"/>
          <a:stretch xmlns:a="http://schemas.openxmlformats.org/drawingml/2006/main"/>
        </p:blipFill>
        <p:spPr>
          <a:xfrm xmlns:a="http://schemas.openxmlformats.org/drawingml/2006/main">
            <a:off x="6924675" y="2114550"/>
            <a:ext cx="4457700" cy="395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95FD5-9F80-41F6-932E-D9DCCC8650FA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086850" y="2519363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DC1"/>
            </a:solidFill>
            <a:prstDash val="solid"/>
            <a:tailEnd type="triangl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887D75-9BEE-4F38-B589-FFDBB93DADEA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743700" y="2519363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DC1"/>
            </a:solidFill>
            <a:prstDash val="soli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31129D-9492-401D-BCE5-7D3F960A5230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400550" y="2519363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DC1"/>
            </a:solidFill>
            <a:prstDash val="solid"/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752FD8-F2A5-443E-B0A4-DADD419C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0AFD5AF4-048C-4D89-81F0-9E3C998A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385F0A3B-7C63-4645-A722-26A076FF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DCEE80D8-41B9-4A07-8E44-C37C0309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E285AF55-1A39-467E-AA35-D572B54C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BC13213E-4094-473C-9323-CAA5B253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C8A78-634B-46AC-BC0B-37C0C1D2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533650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5F56677E-10F0-43C8-9B4D-23ADA6E2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9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95A2F9BF-1180-451C-883A-1C309D19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608AC5A4-46D8-419B-B15D-25CD518D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1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97326127-48F3-4B1B-8543-31489F4B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7A028D01-20EE-44D0-AF3B-4FCA9953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3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CA5B0AFC-D430-4114-A843-97392008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A8DF1839-C00E-4C5A-8C50-2000C388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5C2288CF-BF93-4E5D-8404-8A737A8C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21EA8830-4E60-4EA8-A235-C3D202DF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11125A18-881C-43A3-AF60-DC9C62EF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网页可完成查询与示例包导出">
            <a:extLst xmlns:a="http://schemas.openxmlformats.org/drawingml/2006/main">
              <a:ext uri="{FF2B5EF4-FFF2-40B4-BE49-F238E27FC236}">
                <a16:creationId xmlns:a16="http://schemas.microsoft.com/office/drawing/2014/main" id="{23492772-C9DA-4827-8E7F-A7A62A7D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网页可完成查询与示例包导出</a:t>
            </a:r>
          </a:p>
        </p:txBody>
      </p:sp>
      <p:sp>
        <p:nvSpPr>
          <p:cNvPr id="19" name="现场操作：检索 → 查看记录 → 指定环境查询 → 导出 ZIP">
            <a:extLst xmlns:a="http://schemas.openxmlformats.org/drawingml/2006/main">
              <a:ext uri="{FF2B5EF4-FFF2-40B4-BE49-F238E27FC236}">
                <a16:creationId xmlns:a16="http://schemas.microsoft.com/office/drawing/2014/main" id="{6227AED2-2D82-4CF5-8609-2EAC80F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现场操作：检索 → 查看记录 → 指定环境查询 → 导出 ZIP</a:t>
            </a:r>
          </a:p>
        </p:txBody>
      </p:sp>
      <p:sp>
        <p:nvSpPr>
          <p:cNvPr id="20" name="04 / 10">
            <a:extLst xmlns:a="http://schemas.openxmlformats.org/drawingml/2006/main">
              <a:ext uri="{FF2B5EF4-FFF2-40B4-BE49-F238E27FC236}">
                <a16:creationId xmlns:a16="http://schemas.microsoft.com/office/drawing/2014/main" id="{6A2FC6D1-2AA1-43A4-8CA7-A88078AE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04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8DD61-E173-430D-B296-907D8AF3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28825"/>
            <a:ext cx="209550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检索接口">
            <a:extLst xmlns:a="http://schemas.openxmlformats.org/drawingml/2006/main">
              <a:ext uri="{FF2B5EF4-FFF2-40B4-BE49-F238E27FC236}">
                <a16:creationId xmlns:a16="http://schemas.microsoft.com/office/drawing/2014/main" id="{B3C34570-6E80-4D2D-9853-A93A4DBD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200275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检索接口</a:t>
            </a:r>
          </a:p>
        </p:txBody>
      </p:sp>
      <p:sp>
        <p:nvSpPr>
          <p:cNvPr id="23" name="声明与示例">
            <a:extLst xmlns:a="http://schemas.openxmlformats.org/drawingml/2006/main">
              <a:ext uri="{FF2B5EF4-FFF2-40B4-BE49-F238E27FC236}">
                <a16:creationId xmlns:a16="http://schemas.microsoft.com/office/drawing/2014/main" id="{979DACF3-4BC9-48EA-99E3-F3E77ABA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289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声明与示例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93661-2165-43C0-808D-298F1861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28825"/>
            <a:ext cx="209550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查看矩阵">
            <a:extLst xmlns:a="http://schemas.openxmlformats.org/drawingml/2006/main">
              <a:ext uri="{FF2B5EF4-FFF2-40B4-BE49-F238E27FC236}">
                <a16:creationId xmlns:a16="http://schemas.microsoft.com/office/drawing/2014/main" id="{01003910-1ADF-4CD7-B810-FDFD8771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0275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查看矩阵</a:t>
            </a:r>
          </a:p>
        </p:txBody>
      </p:sp>
      <p:sp>
        <p:nvSpPr>
          <p:cNvPr id="26" name="区分结果状态">
            <a:extLst xmlns:a="http://schemas.openxmlformats.org/drawingml/2006/main">
              <a:ext uri="{FF2B5EF4-FFF2-40B4-BE49-F238E27FC236}">
                <a16:creationId xmlns:a16="http://schemas.microsoft.com/office/drawing/2014/main" id="{8E5261E8-FE75-446D-8C64-A5E08ECE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289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区分结果状态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B3AC93-F3B0-4A96-BA43-7333B6A1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28825"/>
            <a:ext cx="209550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查询记录">
            <a:extLst xmlns:a="http://schemas.openxmlformats.org/drawingml/2006/main">
              <a:ext uri="{FF2B5EF4-FFF2-40B4-BE49-F238E27FC236}">
                <a16:creationId xmlns:a16="http://schemas.microsoft.com/office/drawing/2014/main" id="{38915B9A-7E17-4D98-92E6-E6DA6F8C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00275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查询记录</a:t>
            </a:r>
          </a:p>
        </p:txBody>
      </p:sp>
      <p:sp>
        <p:nvSpPr>
          <p:cNvPr id="29" name="指定 SDK / 平台">
            <a:extLst xmlns:a="http://schemas.openxmlformats.org/drawingml/2006/main">
              <a:ext uri="{FF2B5EF4-FFF2-40B4-BE49-F238E27FC236}">
                <a16:creationId xmlns:a16="http://schemas.microsoft.com/office/drawing/2014/main" id="{0CD4CB52-F70A-419F-9B74-0E0DD770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289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指定 SDK / 平台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F69829-CC5D-4E21-B8A0-78E954D5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28825"/>
            <a:ext cx="2095500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导出示例">
            <a:extLst xmlns:a="http://schemas.openxmlformats.org/drawingml/2006/main">
              <a:ext uri="{FF2B5EF4-FFF2-40B4-BE49-F238E27FC236}">
                <a16:creationId xmlns:a16="http://schemas.microsoft.com/office/drawing/2014/main" id="{DB2BC8F0-0813-4D5E-BDA7-CA3EABE8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00275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导出示例</a:t>
            </a:r>
          </a:p>
        </p:txBody>
      </p:sp>
      <p:sp>
        <p:nvSpPr>
          <p:cNvPr id="32" name="本地检查后下载">
            <a:extLst xmlns:a="http://schemas.openxmlformats.org/drawingml/2006/main">
              <a:ext uri="{FF2B5EF4-FFF2-40B4-BE49-F238E27FC236}">
                <a16:creationId xmlns:a16="http://schemas.microsoft.com/office/drawing/2014/main" id="{392DAA35-89BA-4724-87B5-48FFFB39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289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本地检查后下载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B5F00C-A3A5-4350-BE43-30C79A661D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266c22d3e4488"/>
          <a:srcRect xmlns:a="http://schemas.openxmlformats.org/drawingml/2006/main" l="14000" t="23500" r="14000" b="23500"/>
          <a:stretch xmlns:a="http://schemas.openxmlformats.org/drawingml/2006/main"/>
        </p:blipFill>
        <p:spPr>
          <a:xfrm xmlns:a="http://schemas.openxmlformats.org/drawingml/2006/main">
            <a:off x="2305050" y="3438525"/>
            <a:ext cx="5819775" cy="2409825"/>
          </a:xfrm>
          <a:prstGeom xmlns:a="http://schemas.openxmlformats.org/drawingml/2006/main" prst="rect">
            <a:avLst/>
          </a:prstGeom>
        </p:spPr>
      </p:pic>
      <p:sp>
        <p:nvSpPr>
          <p:cNvPr id="37" name="当前实际导出">
            <a:extLst xmlns:a="http://schemas.openxmlformats.org/drawingml/2006/main">
              <a:ext uri="{FF2B5EF4-FFF2-40B4-BE49-F238E27FC236}">
                <a16:creationId xmlns:a16="http://schemas.microsoft.com/office/drawing/2014/main" id="{B933C633-65FB-4647-BB9F-D7A6E665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052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当前实际导出</a:t>
            </a:r>
          </a:p>
        </p:txBody>
      </p:sp>
      <p:sp>
        <p:nvSpPr>
          <p:cNvPr id="38" name="arithmetic&#10;SDK 1.2.0&#10;Darwin-arm64">
            <a:extLst xmlns:a="http://schemas.openxmlformats.org/drawingml/2006/main">
              <a:ext uri="{FF2B5EF4-FFF2-40B4-BE49-F238E27FC236}">
                <a16:creationId xmlns:a16="http://schemas.microsoft.com/office/drawing/2014/main" id="{B28CBF76-67AA-4851-AB88-144605AD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57650"/>
            <a:ext cx="304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arithmetic</a:t>
            </a:r>
          </a:p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SDK 1.2.0</a:t>
            </a:r>
          </a:p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Darwin-arm64</a:t>
            </a:r>
          </a:p>
        </p:txBody>
      </p:sp>
      <p:sp>
        <p:nvSpPr>
          <p:cNvPr id="39" name="ZIP 下载已生成">
            <a:extLst xmlns:a="http://schemas.openxmlformats.org/drawingml/2006/main">
              <a:ext uri="{FF2B5EF4-FFF2-40B4-BE49-F238E27FC236}">
                <a16:creationId xmlns:a16="http://schemas.microsoft.com/office/drawing/2014/main" id="{256F13F2-BD6B-4A39-946F-3489E42B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514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rPr>
              <a:t>ZIP 下载已生成</a:t>
            </a:r>
          </a:p>
        </p:txBody>
      </p:sp>
      <p:sp>
        <p:nvSpPr>
          <p:cNvPr id="40" name="全量矩阵在准备阶段运行；现场查询和导出单独说明任务状态。">
            <a:extLst xmlns:a="http://schemas.openxmlformats.org/drawingml/2006/main">
              <a:ext uri="{FF2B5EF4-FFF2-40B4-BE49-F238E27FC236}">
                <a16:creationId xmlns:a16="http://schemas.microsoft.com/office/drawing/2014/main" id="{F095B8E8-ED6F-4FE7-9C9C-5C3B8148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05525"/>
            <a:ext cx="923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全量矩阵在准备阶段运行；现场查询和导出单独说明任务状态。</a:t>
            </a:r>
          </a:p>
        </p:txBody>
      </p:sp>
    </p:spTree>
    <p:extLst>
      <p:ext uri="{BB962C8B-B14F-4D97-AF65-F5344CB8AC3E}">
        <p14:creationId xmlns:p14="http://schemas.microsoft.com/office/powerpoint/2010/main" val="484189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FA4700-AC35-4A5F-9631-D638F20E5DC2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763125" y="360045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DC1"/>
            </a:solidFill>
            <a:prstDash val="solid"/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18675D-2ABA-430C-A2C6-8DDC55C8EFE5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543800" y="2852738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DC1"/>
            </a:solidFill>
            <a:prstDash val="solid"/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3E4779-490C-49BC-BCD3-CA7DAAE47FAA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629150" y="2852738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DC1"/>
            </a:solidFill>
            <a:prstDash val="solid"/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1A19D4-BD43-461A-8D0B-4D011332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7BEFFB0D-132D-4025-9584-0F4AAB39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3686313B-3B43-409C-9FED-A69F075C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A3A0B154-09DC-472A-9794-E98C3753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7142B8F-80A5-489E-91A7-A0684BD2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7A7EC9BA-7A72-4211-A4BD-ABBAA9BF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8C38C4EB-E2B4-4443-A927-67DF7D3C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8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E1BC708F-1A11-4F41-BD18-AEC3F35A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0879B-A2BD-4A8E-9A1E-CD8A8E02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171825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55B234E6-EBA6-4E60-B3EA-114D24DF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1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4BAD3289-9960-430F-BAE4-1E3387CB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DC06BC83-13B4-424E-92A6-A9B93C7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3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689C2980-F0B8-44D9-8517-AB1ED110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817E28B5-7C13-4B4B-B39C-1DCFCFC6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8844E6AB-CD07-4544-920A-A894780E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B1C2739A-29BD-4CA9-9A5D-D98B934E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7997E745-E271-4489-AB53-2562F535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仓颉承担本地服务与核心处理">
            <a:extLst xmlns:a="http://schemas.openxmlformats.org/drawingml/2006/main">
              <a:ext uri="{FF2B5EF4-FFF2-40B4-BE49-F238E27FC236}">
                <a16:creationId xmlns:a16="http://schemas.microsoft.com/office/drawing/2014/main" id="{8BD69CD0-2139-4EF1-B53D-EAEA3135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仓颉承担本地服务与核心处理</a:t>
            </a:r>
          </a:p>
        </p:txBody>
      </p:sp>
      <p:sp>
        <p:nvSpPr>
          <p:cNvPr id="19" name="标准网页连接原生编译和运行流程">
            <a:extLst xmlns:a="http://schemas.openxmlformats.org/drawingml/2006/main">
              <a:ext uri="{FF2B5EF4-FFF2-40B4-BE49-F238E27FC236}">
                <a16:creationId xmlns:a16="http://schemas.microsoft.com/office/drawing/2014/main" id="{47F3FCB1-2EC4-416F-AFDE-E31B7D75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标准网页连接原生编译和运行流程</a:t>
            </a:r>
          </a:p>
        </p:txBody>
      </p:sp>
      <p:sp>
        <p:nvSpPr>
          <p:cNvPr id="20" name="05 / 10">
            <a:extLst xmlns:a="http://schemas.openxmlformats.org/drawingml/2006/main">
              <a:ext uri="{FF2B5EF4-FFF2-40B4-BE49-F238E27FC236}">
                <a16:creationId xmlns:a16="http://schemas.microsoft.com/office/drawing/2014/main" id="{79309352-CEC0-4CAD-BDA6-4CFADB8F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05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BB31A-354D-45F9-B230-A2F2BEF3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05025"/>
            <a:ext cx="232410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浏览器页面">
            <a:extLst xmlns:a="http://schemas.openxmlformats.org/drawingml/2006/main">
              <a:ext uri="{FF2B5EF4-FFF2-40B4-BE49-F238E27FC236}">
                <a16:creationId xmlns:a16="http://schemas.microsoft.com/office/drawing/2014/main" id="{F8B9D5DB-7B16-4A63-ABA9-8CEEA337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050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浏览器页面</a:t>
            </a:r>
          </a:p>
        </p:txBody>
      </p:sp>
      <p:sp>
        <p:nvSpPr>
          <p:cNvPr id="23" name="HTML / CSS&#10;JavaScript">
            <a:extLst xmlns:a="http://schemas.openxmlformats.org/drawingml/2006/main">
              <a:ext uri="{FF2B5EF4-FFF2-40B4-BE49-F238E27FC236}">
                <a16:creationId xmlns:a16="http://schemas.microsoft.com/office/drawing/2014/main" id="{A05F7905-C0A5-4153-9F90-C2202BB1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225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HTML / CSS</a:t>
            </a:r>
          </a:p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JavaScript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A834D-8454-4317-BCC1-0CC648A7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05025"/>
            <a:ext cx="241935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仓颉本地服务">
            <a:extLst xmlns:a="http://schemas.openxmlformats.org/drawingml/2006/main">
              <a:ext uri="{FF2B5EF4-FFF2-40B4-BE49-F238E27FC236}">
                <a16:creationId xmlns:a16="http://schemas.microsoft.com/office/drawing/2014/main" id="{14572C40-1A80-4179-A6F4-A36AE201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05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仓颉本地服务</a:t>
            </a:r>
          </a:p>
        </p:txBody>
      </p:sp>
      <p:sp>
        <p:nvSpPr>
          <p:cNvPr id="26" name="HTTP 请求、任务&#10;项目与配置管理">
            <a:extLst xmlns:a="http://schemas.openxmlformats.org/drawingml/2006/main">
              <a:ext uri="{FF2B5EF4-FFF2-40B4-BE49-F238E27FC236}">
                <a16:creationId xmlns:a16="http://schemas.microsoft.com/office/drawing/2014/main" id="{A0156A9B-ACAA-4B91-91A9-E18F16CE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HTTP 请求、任务</a:t>
            </a:r>
          </a:p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项目与配置管理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722A1-1BB1-4252-8D46-18908A0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05025"/>
            <a:ext cx="344805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仓颉核心">
            <a:extLst xmlns:a="http://schemas.openxmlformats.org/drawingml/2006/main">
              <a:ext uri="{FF2B5EF4-FFF2-40B4-BE49-F238E27FC236}">
                <a16:creationId xmlns:a16="http://schemas.microsoft.com/office/drawing/2014/main" id="{3A7C4C78-592E-4A82-A547-8BCAD37D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仓颉核心</a:t>
            </a:r>
          </a:p>
        </p:txBody>
      </p:sp>
      <p:sp>
        <p:nvSpPr>
          <p:cNvPr id="29" name="声明提取、文档生成&#10;测试编排与结果判断">
            <a:extLst xmlns:a="http://schemas.openxmlformats.org/drawingml/2006/main">
              <a:ext uri="{FF2B5EF4-FFF2-40B4-BE49-F238E27FC236}">
                <a16:creationId xmlns:a16="http://schemas.microsoft.com/office/drawing/2014/main" id="{6155F7CB-FCE0-4695-905D-E0F7D657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3028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声明提取、文档生成</a:t>
            </a:r>
          </a:p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测试编排与结果判断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026E3-79F4-47F7-BAE4-FB20FE86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62425"/>
            <a:ext cx="3448050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3" name="真实仓颉工具链">
            <a:extLst xmlns:a="http://schemas.openxmlformats.org/drawingml/2006/main">
              <a:ext uri="{FF2B5EF4-FFF2-40B4-BE49-F238E27FC236}">
                <a16:creationId xmlns:a16="http://schemas.microsoft.com/office/drawing/2014/main" id="{51BB9C43-1ACC-4545-88B5-A2C52F0C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624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真实仓颉工具链</a:t>
            </a:r>
          </a:p>
        </p:txBody>
      </p:sp>
      <p:sp>
        <p:nvSpPr>
          <p:cNvPr id="34" name="SDK 1.1.3 / 1.2.0">
            <a:extLst xmlns:a="http://schemas.openxmlformats.org/drawingml/2006/main">
              <a:ext uri="{FF2B5EF4-FFF2-40B4-BE49-F238E27FC236}">
                <a16:creationId xmlns:a16="http://schemas.microsoft.com/office/drawing/2014/main" id="{B351E9BF-D877-4264-B037-A160A36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3028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SDK 1.1.3 / 1.2.0</a:t>
            </a:r>
          </a:p>
        </p:txBody>
      </p:sp>
      <p:sp>
        <p:nvSpPr>
          <p:cNvPr id="36" name="std.ast 提取公共声明">
            <a:extLst xmlns:a="http://schemas.openxmlformats.org/drawingml/2006/main">
              <a:ext uri="{FF2B5EF4-FFF2-40B4-BE49-F238E27FC236}">
                <a16:creationId xmlns:a16="http://schemas.microsoft.com/office/drawing/2014/main" id="{0BE34EF0-6BB9-4592-9CA7-1BE0824D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24325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std.ast 提取公共声明</a:t>
            </a:r>
          </a:p>
        </p:txBody>
      </p:sp>
      <p:sp>
        <p:nvSpPr>
          <p:cNvPr id="37" name="C：子进程监督与信号处理&#10;Bash：构建与启动&#10;Python：测试和只读">
            <a:extLst xmlns:a="http://schemas.openxmlformats.org/drawingml/2006/main">
              <a:ext uri="{FF2B5EF4-FFF2-40B4-BE49-F238E27FC236}">
                <a16:creationId xmlns:a16="http://schemas.microsoft.com/office/drawing/2014/main" id="{AFE7F82D-5DE7-4A93-B2E9-4BF0888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14875"/>
            <a:ext cx="5314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C：子进程监督与信号处理</a:t>
            </a:r>
          </a:p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Bash：构建与启动</a:t>
            </a:r>
          </a:p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Python：测试和只读协议适配等辅助</a:t>
            </a:r>
          </a:p>
        </p:txBody>
      </p:sp>
      <p:sp>
        <p:nvSpPr>
          <p:cNvPr id="38" name="网页服务及核心处理由仓颉承担，浏览器使用标准网页技术。">
            <a:extLst xmlns:a="http://schemas.openxmlformats.org/drawingml/2006/main">
              <a:ext uri="{FF2B5EF4-FFF2-40B4-BE49-F238E27FC236}">
                <a16:creationId xmlns:a16="http://schemas.microsoft.com/office/drawing/2014/main" id="{37C167BC-F081-400C-BE27-590A22DF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62675"/>
            <a:ext cx="918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网页服务及核心处理由仓颉承担，浏览器使用标准网页技术。</a:t>
            </a:r>
          </a:p>
        </p:txBody>
      </p:sp>
    </p:spTree>
    <p:extLst>
      <p:ext uri="{BB962C8B-B14F-4D97-AF65-F5344CB8AC3E}">
        <p14:creationId xmlns:p14="http://schemas.microsoft.com/office/powerpoint/2010/main" val="323080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CA6556-273F-4CD5-B9F4-FEDCE07C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F5637043-268A-4A40-A32A-496EC2F9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EB0E8665-0993-4810-9D79-9390808D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426BE796-6CA7-44EB-90B2-8C48DDA0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8A17E4E6-5170-4613-A00C-604FC0CE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531B40CA-96BF-45D2-8C89-ED955F9E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904D9695-6C70-46AD-B50F-71A9885E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8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4AA4715F-C88C-4C97-BCEF-F0ED0794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571D7068-56EA-4900-9998-1BC83524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0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65DB7E3D-FDF3-40FB-B767-91C5FBA1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20711-E25D-4F3B-A256-0A0C73CB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10000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F9F6282D-A134-4607-B072-7EE8B3A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3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6A24A01F-C539-48C6-84AC-B7CB2F20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11D02E5A-96AC-45A5-8643-43A97725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630439E8-3F49-47A5-8546-C9903803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B52C07EC-8635-4008-9D5F-ACC04CF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BD317AC2-147F-4B8A-8C99-AF7F8DF1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当前矩阵保留运行与仅编译的区别">
            <a:extLst xmlns:a="http://schemas.openxmlformats.org/drawingml/2006/main">
              <a:ext uri="{FF2B5EF4-FFF2-40B4-BE49-F238E27FC236}">
                <a16:creationId xmlns:a16="http://schemas.microsoft.com/office/drawing/2014/main" id="{FE327990-5A3F-4663-82F0-C5C07B0B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当前矩阵保留运行与仅编译的区别</a:t>
            </a:r>
          </a:p>
        </p:txBody>
      </p:sp>
      <p:sp>
        <p:nvSpPr>
          <p:cNvPr id="19" name="14 个登记示例 × 2 个 SDK，共 28 条记录">
            <a:extLst xmlns:a="http://schemas.openxmlformats.org/drawingml/2006/main">
              <a:ext uri="{FF2B5EF4-FFF2-40B4-BE49-F238E27FC236}">
                <a16:creationId xmlns:a16="http://schemas.microsoft.com/office/drawing/2014/main" id="{A8B22E0E-214F-4589-A505-C20DAA4A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14 个登记示例 × 2 个 SDK，共 28 条记录</a:t>
            </a:r>
          </a:p>
        </p:txBody>
      </p:sp>
      <p:sp>
        <p:nvSpPr>
          <p:cNvPr id="20" name="06 / 10">
            <a:extLst xmlns:a="http://schemas.openxmlformats.org/drawingml/2006/main">
              <a:ext uri="{FF2B5EF4-FFF2-40B4-BE49-F238E27FC236}">
                <a16:creationId xmlns:a16="http://schemas.microsoft.com/office/drawing/2014/main" id="{6D60CB47-4FB1-435C-AFCD-0561CB0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06 / 10</a:t>
            </a:r>
          </a:p>
        </p:txBody>
      </p:sp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B37DCEA5-3E21-4D85-88BD-DC270FD08A57}"/>
              </a:ext>
            </a:extLst>
          </p:cNvPr>
          <p:cNvGraphicFramePr/>
          <p:nvPr/>
        </p:nvGraphicFramePr>
        <p:xfrm>
          <a:off xmlns:a="http://schemas.openxmlformats.org/drawingml/2006/main" x="2305050" y="1952625"/>
          <a:ext xmlns:a="http://schemas.openxmlformats.org/drawingml/2006/main" cx="5924550" cy="2657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59ba4bad18445a"/>
          </a:graphicData>
        </a:graphic>
      </p:graphicFrame>
      <p:sp>
        <p:nvSpPr>
          <p:cNvPr id="22" name="26">
            <a:extLst xmlns:a="http://schemas.openxmlformats.org/drawingml/2006/main">
              <a:ext uri="{FF2B5EF4-FFF2-40B4-BE49-F238E27FC236}">
                <a16:creationId xmlns:a16="http://schemas.microsoft.com/office/drawing/2014/main" id="{02E7308E-1D78-42F3-9703-41E0AEC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288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rPr>
              <a:t>26</a:t>
            </a:r>
          </a:p>
        </p:txBody>
      </p:sp>
      <p:sp>
        <p:nvSpPr>
          <p:cNvPr id="23" name="条运行通过">
            <a:extLst xmlns:a="http://schemas.openxmlformats.org/drawingml/2006/main">
              <a:ext uri="{FF2B5EF4-FFF2-40B4-BE49-F238E27FC236}">
                <a16:creationId xmlns:a16="http://schemas.microsoft.com/office/drawing/2014/main" id="{68BFF40F-E8B0-467F-87CD-AAA85B96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479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条运行通过</a:t>
            </a:r>
          </a:p>
        </p:txBody>
      </p:sp>
      <p:sp>
        <p:nvSpPr>
          <p:cNvPr id="24" name="2">
            <a:extLst xmlns:a="http://schemas.openxmlformats.org/drawingml/2006/main">
              <a:ext uri="{FF2B5EF4-FFF2-40B4-BE49-F238E27FC236}">
                <a16:creationId xmlns:a16="http://schemas.microsoft.com/office/drawing/2014/main" id="{207F479E-EFD3-495E-91FB-C32A220D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956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rPr>
              <a:t>2</a:t>
            </a:r>
          </a:p>
        </p:txBody>
      </p:sp>
      <p:sp>
        <p:nvSpPr>
          <p:cNvPr id="25" name="条仅编译">
            <a:extLst xmlns:a="http://schemas.openxmlformats.org/drawingml/2006/main">
              <a:ext uri="{FF2B5EF4-FFF2-40B4-BE49-F238E27FC236}">
                <a16:creationId xmlns:a16="http://schemas.microsoft.com/office/drawing/2014/main" id="{DDDB1B00-AD2A-4048-AB64-1B3B5FC6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148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条仅编译</a:t>
            </a:r>
          </a:p>
        </p:txBody>
      </p:sp>
      <p:graphicFrame>
        <p:nvGraphicFrame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65C0AB-AF48-4575-BBD8-F1778C9E82F9}"/>
              </a:ext>
            </a:extLst>
          </p:cNvPr>
          <p:cNvGraphicFramePr/>
          <p:nvPr/>
        </p:nvGraphicFramePr>
        <p:xfrm>
          <a:off xmlns:a="http://schemas.openxmlformats.org/drawingml/2006/main" x="2305050" y="4752975"/>
          <a:ext xmlns:a="http://schemas.openxmlformats.org/drawingml/2006/main" cx="9182100" cy="1428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2209800"/>
                <a:gridCol w="2095500"/>
                <a:gridCol w="2209800"/>
              </a:tblGrid>
              <a:tr h="47625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SDK 版本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运行通过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仅编译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合计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</a:tr>
              <a:tr h="47625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1.1.3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1.2.0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仅编译不计入运行通过；数量描述当前样例，不等于全语言覆盖率。">
            <a:extLst xmlns:a="http://schemas.openxmlformats.org/drawingml/2006/main">
              <a:ext uri="{FF2B5EF4-FFF2-40B4-BE49-F238E27FC236}">
                <a16:creationId xmlns:a16="http://schemas.microsoft.com/office/drawing/2014/main" id="{6E4BF79E-7FD8-4AE7-AF23-2B668510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257925"/>
            <a:ext cx="918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仅编译不计入运行通过；数量描述当前样例，不等于全语言覆盖率。</a:t>
            </a:r>
          </a:p>
        </p:txBody>
      </p:sp>
    </p:spTree>
    <p:extLst>
      <p:ext uri="{BB962C8B-B14F-4D97-AF65-F5344CB8AC3E}">
        <p14:creationId xmlns:p14="http://schemas.microsoft.com/office/powerpoint/2010/main" val="8799089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A707C1-3C28-4DFE-8459-CA53DDBEC3C5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8058150" y="27384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DC1"/>
            </a:solidFill>
            <a:prstDash val="solid"/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9E57E3-7185-4A1C-B221-3EC0BF7C9EEF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972050" y="2738438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ADC1"/>
            </a:solidFill>
            <a:prstDash val="solid"/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B80A05-6490-4D7B-B490-0709E60D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12278DB2-216B-438F-9431-521DE17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EC4917CE-FBB5-414C-AD65-C543A91E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D853ABEA-8D7A-4128-8722-5994B4B5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57759B2-B789-4378-9DE2-70E9DA60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192DAE13-0ECB-4900-8989-DEB76B6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ABE35C5A-7739-412D-B6DA-3A5BA352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8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20D42FEC-169B-46C5-93DD-6182FEE0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A8DF6583-0A6B-407D-A9C2-C696B758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0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F2B08D47-FD28-47FD-920A-FDCABF11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46124-F078-4A5F-870E-9F8E390C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10000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733F6F2F-DF61-4C09-B342-C4A194FA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3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19878685-4E06-4D3E-A07F-E8661F8F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9BD99C93-128D-4737-8CF0-B53CCBDD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69C7D82B-B20A-4D5E-8B8D-7CE8A9FD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23F16FC2-75BB-45D3-B9D8-4B4AC5F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3E3C8508-386B-46D5-AA79-5662F724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输入变化后，旧结果需要重新测试">
            <a:extLst xmlns:a="http://schemas.openxmlformats.org/drawingml/2006/main">
              <a:ext uri="{FF2B5EF4-FFF2-40B4-BE49-F238E27FC236}">
                <a16:creationId xmlns:a16="http://schemas.microsoft.com/office/drawing/2014/main" id="{25601B87-9FC9-4A69-8D1D-35FE4696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输入变化后，旧结果需要重新测试</a:t>
            </a:r>
          </a:p>
        </p:txBody>
      </p:sp>
      <p:sp>
        <p:nvSpPr>
          <p:cNvPr id="19" name="查询和导出使用相同的当前结果规则">
            <a:extLst xmlns:a="http://schemas.openxmlformats.org/drawingml/2006/main">
              <a:ext uri="{FF2B5EF4-FFF2-40B4-BE49-F238E27FC236}">
                <a16:creationId xmlns:a16="http://schemas.microsoft.com/office/drawing/2014/main" id="{B38A73EC-F63A-46F6-B6CF-A53BAD4D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查询和导出使用相同的当前结果规则</a:t>
            </a:r>
          </a:p>
        </p:txBody>
      </p:sp>
      <p:sp>
        <p:nvSpPr>
          <p:cNvPr id="20" name="07 / 10">
            <a:extLst xmlns:a="http://schemas.openxmlformats.org/drawingml/2006/main">
              <a:ext uri="{FF2B5EF4-FFF2-40B4-BE49-F238E27FC236}">
                <a16:creationId xmlns:a16="http://schemas.microsoft.com/office/drawing/2014/main" id="{4396F58A-1047-438E-9972-75795210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07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27B28-554F-4633-9832-B70BAA60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38350"/>
            <a:ext cx="2667000" cy="140017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输入匹配">
            <a:extLst xmlns:a="http://schemas.openxmlformats.org/drawingml/2006/main">
              <a:ext uri="{FF2B5EF4-FFF2-40B4-BE49-F238E27FC236}">
                <a16:creationId xmlns:a16="http://schemas.microsoft.com/office/drawing/2014/main" id="{A50BA6AF-B4F1-4DFB-B864-12CE156E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383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输入匹配</a:t>
            </a:r>
          </a:p>
        </p:txBody>
      </p:sp>
      <p:sp>
        <p:nvSpPr>
          <p:cNvPr id="23" name="源码、配置&#10;SDK 与平台">
            <a:extLst xmlns:a="http://schemas.openxmlformats.org/drawingml/2006/main">
              <a:ext uri="{FF2B5EF4-FFF2-40B4-BE49-F238E27FC236}">
                <a16:creationId xmlns:a16="http://schemas.microsoft.com/office/drawing/2014/main" id="{6551D341-06F8-4C4A-B9A3-A4B2C194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95575"/>
            <a:ext cx="2247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源码、配置</a:t>
            </a:r>
          </a:p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SDK 与平台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69E14-9EEB-4468-B3FB-0D50F958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2667000" cy="140017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真实执行">
            <a:extLst xmlns:a="http://schemas.openxmlformats.org/drawingml/2006/main">
              <a:ext uri="{FF2B5EF4-FFF2-40B4-BE49-F238E27FC236}">
                <a16:creationId xmlns:a16="http://schemas.microsoft.com/office/drawing/2014/main" id="{DB7480C7-B893-4889-84F8-7B8C66F8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383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真实执行</a:t>
            </a:r>
          </a:p>
        </p:txBody>
      </p:sp>
      <p:sp>
        <p:nvSpPr>
          <p:cNvPr id="26" name="编译、运行&#10;登记输出检查">
            <a:extLst xmlns:a="http://schemas.openxmlformats.org/drawingml/2006/main">
              <a:ext uri="{FF2B5EF4-FFF2-40B4-BE49-F238E27FC236}">
                <a16:creationId xmlns:a16="http://schemas.microsoft.com/office/drawing/2014/main" id="{A6503635-5B89-418F-8346-80F51C12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95575"/>
            <a:ext cx="2247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编译、运行</a:t>
            </a:r>
          </a:p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登记输出检查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254DD-2AC7-445A-8853-E885DB76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3009900" cy="140017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当前结果">
            <a:extLst xmlns:a="http://schemas.openxmlformats.org/drawingml/2006/main">
              <a:ext uri="{FF2B5EF4-FFF2-40B4-BE49-F238E27FC236}">
                <a16:creationId xmlns:a16="http://schemas.microsoft.com/office/drawing/2014/main" id="{B795EBF6-6273-4787-AAA5-93568324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383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当前结果</a:t>
            </a:r>
          </a:p>
        </p:txBody>
      </p:sp>
      <p:sp>
        <p:nvSpPr>
          <p:cNvPr id="29" name="查询和导出&#10;使用同一规则">
            <a:extLst xmlns:a="http://schemas.openxmlformats.org/drawingml/2006/main">
              <a:ext uri="{FF2B5EF4-FFF2-40B4-BE49-F238E27FC236}">
                <a16:creationId xmlns:a16="http://schemas.microsoft.com/office/drawing/2014/main" id="{FA7F4847-FAF8-4F5D-A59C-79C5B9A5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95575"/>
            <a:ext cx="2590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查询和导出</a:t>
            </a:r>
          </a:p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使用同一规则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2ECDB-EE48-4D6D-9936-42837DAC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71925"/>
            <a:ext cx="4410075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3" name="源码变化 → 需重测">
            <a:extLst xmlns:a="http://schemas.openxmlformats.org/drawingml/2006/main">
              <a:ext uri="{FF2B5EF4-FFF2-40B4-BE49-F238E27FC236}">
                <a16:creationId xmlns:a16="http://schemas.microsoft.com/office/drawing/2014/main" id="{DA0B9DEA-2C68-4C8F-B4ED-577A6BA3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71950"/>
            <a:ext cx="3990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源码变化 → 需重测</a:t>
            </a:r>
          </a:p>
        </p:txBody>
      </p:sp>
      <p:sp>
        <p:nvSpPr>
          <p:cNvPr id="34" name="旧记录继续保留，&#10;重新测试后再判断当前结果。">
            <a:extLst xmlns:a="http://schemas.openxmlformats.org/drawingml/2006/main">
              <a:ext uri="{FF2B5EF4-FFF2-40B4-BE49-F238E27FC236}">
                <a16:creationId xmlns:a16="http://schemas.microsoft.com/office/drawing/2014/main" id="{B2CEBE2B-A079-440C-892E-999733EE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29150"/>
            <a:ext cx="39909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旧记录继续保留，</a:t>
            </a:r>
          </a:p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重新测试后再判断当前结果。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CD9E31-2AA3-4612-BF83-97F442B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971925"/>
            <a:ext cx="4524375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6" name="最新失败 → 不回退旧成功">
            <a:extLst xmlns:a="http://schemas.openxmlformats.org/drawingml/2006/main">
              <a:ext uri="{FF2B5EF4-FFF2-40B4-BE49-F238E27FC236}">
                <a16:creationId xmlns:a16="http://schemas.microsoft.com/office/drawing/2014/main" id="{4FA8F4C3-F3D1-4E31-AAAD-B42FB950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171950"/>
            <a:ext cx="4105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最新失败 → 不回退旧成功</a:t>
            </a:r>
          </a:p>
        </p:txBody>
      </p:sp>
      <p:sp>
        <p:nvSpPr>
          <p:cNvPr id="37" name="按相应环境的最新尝试判断，&#10;历史成功不会覆盖后续失败。">
            <a:extLst xmlns:a="http://schemas.openxmlformats.org/drawingml/2006/main">
              <a:ext uri="{FF2B5EF4-FFF2-40B4-BE49-F238E27FC236}">
                <a16:creationId xmlns:a16="http://schemas.microsoft.com/office/drawing/2014/main" id="{7221B912-1CAC-48CA-898A-6A0B319A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629150"/>
            <a:ext cx="4105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按相应环境的最新尝试判断，</a:t>
            </a:r>
          </a:p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历史成功不会覆盖后续失败。</a:t>
            </a:r>
          </a:p>
        </p:txBody>
      </p:sp>
      <p:sp>
        <p:nvSpPr>
          <p:cNvPr id="38" name="历史记录用于追溯；输出检查只覆盖登记的受测行为。">
            <a:extLst xmlns:a="http://schemas.openxmlformats.org/drawingml/2006/main">
              <a:ext uri="{FF2B5EF4-FFF2-40B4-BE49-F238E27FC236}">
                <a16:creationId xmlns:a16="http://schemas.microsoft.com/office/drawing/2014/main" id="{C0ECD251-7187-4F6C-9E04-B15E09BA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019800"/>
            <a:ext cx="918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历史记录用于追溯；输出检查只覆盖登记的受测行为。</a:t>
            </a:r>
          </a:p>
        </p:txBody>
      </p:sp>
    </p:spTree>
    <p:extLst>
      <p:ext uri="{BB962C8B-B14F-4D97-AF65-F5344CB8AC3E}">
        <p14:creationId xmlns:p14="http://schemas.microsoft.com/office/powerpoint/2010/main" val="868317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D54619-77B5-4C11-AA79-96601252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AFB093E2-46C3-4BAC-A81B-EFB4BCC2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E54887CD-B9E1-4076-9189-E055DD09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EFC37EA1-4B2B-425F-A92E-F5805E36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A46BEC5-9477-48DD-B733-A722F5E2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6CE66CA6-66C1-4534-9721-DAE79ADD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52B6E0EB-896E-41A4-91A6-22145E29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8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B3D4ECA3-CED3-4806-A827-D14163F9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574CCE51-2D75-493B-A1B2-E07C82B0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0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1251B3C6-1302-4CC4-A227-6E53B09A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304AC-3C17-4B52-9512-B7DC0612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10000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05E579FB-C636-4BE7-9498-3AF628F8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3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ED98E479-977E-4656-BAA0-33AB14BA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9330E5FE-0D88-4BC3-82B4-A165EB3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069DD9F4-4768-4FE3-A12B-7B6619FB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727EA787-2016-4C1B-8CFF-E5013635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C4A11EC2-F5EA-46E3-99A8-DB2745AE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链接问题可以定位到来源与原因">
            <a:extLst xmlns:a="http://schemas.openxmlformats.org/drawingml/2006/main">
              <a:ext uri="{FF2B5EF4-FFF2-40B4-BE49-F238E27FC236}">
                <a16:creationId xmlns:a16="http://schemas.microsoft.com/office/drawing/2014/main" id="{661A5894-2535-48BE-9C15-8633C1D7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链接问题可以定位到来源与原因</a:t>
            </a:r>
          </a:p>
        </p:txBody>
      </p:sp>
      <p:sp>
        <p:nvSpPr>
          <p:cNvPr id="19" name="专项样例预置缺失文件与缺失锚点，本轮已重新检查">
            <a:extLst xmlns:a="http://schemas.openxmlformats.org/drawingml/2006/main">
              <a:ext uri="{FF2B5EF4-FFF2-40B4-BE49-F238E27FC236}">
                <a16:creationId xmlns:a16="http://schemas.microsoft.com/office/drawing/2014/main" id="{135AFBDB-2B8D-4551-A609-8E98E195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专项样例预置缺失文件与缺失锚点，本轮已重新检查</a:t>
            </a:r>
          </a:p>
        </p:txBody>
      </p:sp>
      <p:sp>
        <p:nvSpPr>
          <p:cNvPr id="20" name="08 / 10">
            <a:extLst xmlns:a="http://schemas.openxmlformats.org/drawingml/2006/main">
              <a:ext uri="{FF2B5EF4-FFF2-40B4-BE49-F238E27FC236}">
                <a16:creationId xmlns:a16="http://schemas.microsoft.com/office/drawing/2014/main" id="{FAA7E9F8-575B-4277-B850-D73155C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08 / 10</a:t>
            </a:r>
          </a:p>
        </p:txBody>
      </p:sp>
      <p:graphicFrame>
        <p:nvGraphicFrame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E71B4-06A8-4F7A-9816-5B453FECF9E0}"/>
              </a:ext>
            </a:extLst>
          </p:cNvPr>
          <p:cNvGraphicFramePr/>
          <p:nvPr/>
        </p:nvGraphicFramePr>
        <p:xfrm>
          <a:off xmlns:a="http://schemas.openxmlformats.org/drawingml/2006/main" x="2305050" y="2085975"/>
          <a:ext xmlns:a="http://schemas.openxmlformats.org/drawingml/2006/main" cx="9182100" cy="22955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62150"/>
                <a:gridCol w="4333875"/>
                <a:gridCol w="2886075"/>
              </a:tblGrid>
              <a:tr h="765175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原始目标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检查结果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</a:tr>
              <a:tr h="765175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README.md:13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docs/intentionally-missing.md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目标文件不存在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5175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README.md:14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docs/target%20file.md</a:t>
                      </a:r>
                    </a:p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#escaped-ghost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目标标题或锚点不存在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23">
            <a:extLst xmlns:a="http://schemas.openxmlformats.org/drawingml/2006/main">
              <a:ext uri="{FF2B5EF4-FFF2-40B4-BE49-F238E27FC236}">
                <a16:creationId xmlns:a16="http://schemas.microsoft.com/office/drawing/2014/main" id="{4B0F5327-8722-4A80-B931-4F94E1E0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0125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500" b="1">
                <a:solidFill>
                  <a:srgbClr val="15803D"/>
                </a:solidFill>
                <a:latin typeface="Source Han Sans SC"/>
                <a:ea typeface="Source Han Sans SC"/>
                <a:cs typeface="Source Han Sans SC"/>
              </a:rPr>
              <a:t>23</a:t>
            </a:r>
          </a:p>
        </p:txBody>
      </p:sp>
      <p:sp>
        <p:nvSpPr>
          <p:cNvPr id="23" name="条本地链接通过">
            <a:extLst xmlns:a="http://schemas.openxmlformats.org/drawingml/2006/main">
              <a:ext uri="{FF2B5EF4-FFF2-40B4-BE49-F238E27FC236}">
                <a16:creationId xmlns:a16="http://schemas.microsoft.com/office/drawing/2014/main" id="{444192FA-5A28-443B-8EAA-28D51766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292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条本地链接通过</a:t>
            </a:r>
          </a:p>
        </p:txBody>
      </p:sp>
      <p:sp>
        <p:nvSpPr>
          <p:cNvPr id="24" name="2">
            <a:extLst xmlns:a="http://schemas.openxmlformats.org/drawingml/2006/main">
              <a:ext uri="{FF2B5EF4-FFF2-40B4-BE49-F238E27FC236}">
                <a16:creationId xmlns:a16="http://schemas.microsoft.com/office/drawing/2014/main" id="{7CB0AB0A-702F-4D76-9D8D-E779C7F0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10125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500" b="1">
                <a:solidFill>
                  <a:srgbClr val="B91C1C"/>
                </a:solidFill>
                <a:latin typeface="Source Han Sans SC"/>
                <a:ea typeface="Source Han Sans SC"/>
                <a:cs typeface="Source Han Sans SC"/>
              </a:rPr>
              <a:t>2</a:t>
            </a:r>
          </a:p>
        </p:txBody>
      </p:sp>
      <p:sp>
        <p:nvSpPr>
          <p:cNvPr id="25" name="处预置坏链被定位">
            <a:extLst xmlns:a="http://schemas.openxmlformats.org/drawingml/2006/main">
              <a:ext uri="{FF2B5EF4-FFF2-40B4-BE49-F238E27FC236}">
                <a16:creationId xmlns:a16="http://schemas.microsoft.com/office/drawing/2014/main" id="{FBEA7656-51EA-4EA6-B11B-7AF73BF6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292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处预置坏链被定位</a:t>
            </a:r>
          </a:p>
        </p:txBody>
      </p:sp>
      <p:sp>
        <p:nvSpPr>
          <p:cNvPr id="26" name="1">
            <a:extLst xmlns:a="http://schemas.openxmlformats.org/drawingml/2006/main">
              <a:ext uri="{FF2B5EF4-FFF2-40B4-BE49-F238E27FC236}">
                <a16:creationId xmlns:a16="http://schemas.microsoft.com/office/drawing/2014/main" id="{DAA6289C-9965-45D2-84AB-3E5AD8D5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10125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500" b="1">
                <a:solidFill>
                  <a:srgbClr val="A16207"/>
                </a:solidFill>
                <a:latin typeface="Source Han Sans SC"/>
                <a:ea typeface="Source Han Sans SC"/>
                <a:cs typeface="Source Han Sans SC"/>
              </a:rPr>
              <a:t>1</a:t>
            </a:r>
          </a:p>
        </p:txBody>
      </p:sp>
      <p:sp>
        <p:nvSpPr>
          <p:cNvPr id="27" name="条外链未确认">
            <a:extLst xmlns:a="http://schemas.openxmlformats.org/drawingml/2006/main">
              <a:ext uri="{FF2B5EF4-FFF2-40B4-BE49-F238E27FC236}">
                <a16:creationId xmlns:a16="http://schemas.microsoft.com/office/drawing/2014/main" id="{6F7DA6D0-A765-47A2-AB2C-2BC43CE3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6292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条外链未确认</a:t>
            </a:r>
          </a:p>
        </p:txBody>
      </p:sp>
      <p:sp>
        <p:nvSpPr>
          <p:cNvPr id="28" name="专项样例共26条链接；严格检查退出1表示正确发现问题。">
            <a:extLst xmlns:a="http://schemas.openxmlformats.org/drawingml/2006/main">
              <a:ext uri="{FF2B5EF4-FFF2-40B4-BE49-F238E27FC236}">
                <a16:creationId xmlns:a16="http://schemas.microsoft.com/office/drawing/2014/main" id="{37B358BA-62FF-43E1-ABE0-799C85AE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229350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专项样例共26条链接；严格检查退出1表示正确发现问题。</a:t>
            </a:r>
          </a:p>
        </p:txBody>
      </p:sp>
    </p:spTree>
    <p:extLst>
      <p:ext uri="{BB962C8B-B14F-4D97-AF65-F5344CB8AC3E}">
        <p14:creationId xmlns:p14="http://schemas.microsoft.com/office/powerpoint/2010/main" val="1498588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0B47C3-4CF6-460A-9E80-38F7E3A3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1E20F910-1550-49B1-BE33-F5324D04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FCD071B0-33AA-4A7D-81A5-2A541E46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D1A197F5-50C3-4663-A4C5-A36CE91D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5FDB2039-87EC-409E-8D5A-5E1F373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FBE38939-3B7C-4762-A38F-7E70278F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1C1FE0D-693F-41D9-9994-8E19BA96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8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4B51355E-3632-4287-9A02-F678CC2A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3882B4B6-3558-4B2A-A698-A551992E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0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AE60D893-2535-4616-806D-DE643ED5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4FC43-29BD-4FA8-87CC-8EF439AC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810000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ADFED035-9D73-4CA5-BA28-05156824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3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947EF32B-8A8C-48E7-A38F-080C751D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91D6DF8E-AF3C-48CD-9A92-5BD9D7A9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A5890267-37AB-4B68-9E65-6671A070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3E72AE2C-CA3A-4CDF-AC72-D39F6665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58DA53EC-C60B-45D7-8815-23CEA8B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决赛最新版完善了操作与任务反馈">
            <a:extLst xmlns:a="http://schemas.openxmlformats.org/drawingml/2006/main">
              <a:ext uri="{FF2B5EF4-FFF2-40B4-BE49-F238E27FC236}">
                <a16:creationId xmlns:a16="http://schemas.microsoft.com/office/drawing/2014/main" id="{2284A0DA-DA67-4D97-A50D-9B360112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决赛最新版完善了操作与任务反馈</a:t>
            </a:r>
          </a:p>
        </p:txBody>
      </p:sp>
      <p:sp>
        <p:nvSpPr>
          <p:cNvPr id="19" name="可选条件、实际进度与长期工作区">
            <a:extLst xmlns:a="http://schemas.openxmlformats.org/drawingml/2006/main">
              <a:ext uri="{FF2B5EF4-FFF2-40B4-BE49-F238E27FC236}">
                <a16:creationId xmlns:a16="http://schemas.microsoft.com/office/drawing/2014/main" id="{C756E296-03B6-452D-9A23-7E1BBAF0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可选条件、实际进度与长期工作区</a:t>
            </a:r>
          </a:p>
        </p:txBody>
      </p:sp>
      <p:sp>
        <p:nvSpPr>
          <p:cNvPr id="20" name="09 / 10">
            <a:extLst xmlns:a="http://schemas.openxmlformats.org/drawingml/2006/main">
              <a:ext uri="{FF2B5EF4-FFF2-40B4-BE49-F238E27FC236}">
                <a16:creationId xmlns:a16="http://schemas.microsoft.com/office/drawing/2014/main" id="{F5AC8CFB-30DE-4FC7-B9AE-0A47DF74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09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9DD58-5357-4DA7-A48C-17686D1C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28825"/>
            <a:ext cx="56769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可操作的网页控件">
            <a:extLst xmlns:a="http://schemas.openxmlformats.org/drawingml/2006/main">
              <a:ext uri="{FF2B5EF4-FFF2-40B4-BE49-F238E27FC236}">
                <a16:creationId xmlns:a16="http://schemas.microsoft.com/office/drawing/2014/main" id="{95CB0E15-7036-4EF8-B1C3-EBFDB634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288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可操作的网页控件</a:t>
            </a:r>
          </a:p>
        </p:txBody>
      </p:sp>
      <p:sp>
        <p:nvSpPr>
          <p:cNvPr id="23" name="真实选项与查询联动；&#10;源码、配置、任务和导出均有入口。">
            <a:extLst xmlns:a="http://schemas.openxmlformats.org/drawingml/2006/main">
              <a:ext uri="{FF2B5EF4-FFF2-40B4-BE49-F238E27FC236}">
                <a16:creationId xmlns:a16="http://schemas.microsoft.com/office/drawing/2014/main" id="{0C3AF262-8EC7-4B12-A053-E5A32406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86050"/>
            <a:ext cx="5257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真实选项与查询联动；</a:t>
            </a:r>
          </a:p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源码、配置、任务和导出均有入口。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19CF8-F10D-44EC-8048-4583CB19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28825"/>
            <a:ext cx="32575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任务状态清晰">
            <a:extLst xmlns:a="http://schemas.openxmlformats.org/drawingml/2006/main">
              <a:ext uri="{FF2B5EF4-FFF2-40B4-BE49-F238E27FC236}">
                <a16:creationId xmlns:a16="http://schemas.microsoft.com/office/drawing/2014/main" id="{F1803EE7-7392-4614-8011-C6D9E75D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任务状态清晰</a:t>
            </a:r>
          </a:p>
        </p:txBody>
      </p:sp>
      <p:sp>
        <p:nvSpPr>
          <p:cNvPr id="26" name="排队 / 运行 / 结束&#10;运行通过 / 仅编译">
            <a:extLst xmlns:a="http://schemas.openxmlformats.org/drawingml/2006/main">
              <a:ext uri="{FF2B5EF4-FFF2-40B4-BE49-F238E27FC236}">
                <a16:creationId xmlns:a16="http://schemas.microsoft.com/office/drawing/2014/main" id="{F9DFF9B5-21FB-4264-9AD8-0DEE6289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86050"/>
            <a:ext cx="2838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排队 / 运行 / 结束</a:t>
            </a:r>
          </a:p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运行通过 / 仅编译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912E1-EA14-4F22-90EF-1711037D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48125"/>
            <a:ext cx="3714750" cy="191452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23 项服务回归">
            <a:extLst xmlns:a="http://schemas.openxmlformats.org/drawingml/2006/main">
              <a:ext uri="{FF2B5EF4-FFF2-40B4-BE49-F238E27FC236}">
                <a16:creationId xmlns:a16="http://schemas.microsoft.com/office/drawing/2014/main" id="{098E1806-EDC7-44A8-9BAD-2CC533AA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48150"/>
            <a:ext cx="329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23 项服务回归</a:t>
            </a:r>
          </a:p>
        </p:txBody>
      </p:sp>
      <p:sp>
        <p:nvSpPr>
          <p:cNvPr id="29" name="本版原生 HTTP 回归通过&#10;另有三档十页布局检查">
            <a:extLst xmlns:a="http://schemas.openxmlformats.org/drawingml/2006/main">
              <a:ext uri="{FF2B5EF4-FFF2-40B4-BE49-F238E27FC236}">
                <a16:creationId xmlns:a16="http://schemas.microsoft.com/office/drawing/2014/main" id="{6640D31E-93B8-4E81-BF84-02B6D59F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05350"/>
            <a:ext cx="3295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本版原生 HTTP 回归通过</a:t>
            </a:r>
          </a:p>
          <a:p xmlns:a="http://schemas.openxmlformats.org/drawingml/2006/main">
            <a:pPr algn="l">
              <a:def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另有三档十页布局检查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BEF40C-A9AA-4985-9140-6D02D278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48125"/>
            <a:ext cx="5219700" cy="191452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739 条历史完整保留">
            <a:extLst xmlns:a="http://schemas.openxmlformats.org/drawingml/2006/main">
              <a:ext uri="{FF2B5EF4-FFF2-40B4-BE49-F238E27FC236}">
                <a16:creationId xmlns:a16="http://schemas.microsoft.com/office/drawing/2014/main" id="{30D03EAA-442D-484F-A9B1-B77FE7E2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739 条历史完整保留</a:t>
            </a:r>
          </a:p>
        </p:txBody>
      </p:sp>
      <p:sp>
        <p:nvSpPr>
          <p:cNvPr id="32" name="任务采用显式内存上限；&#10;当前双 SDK 任务已完成。">
            <a:extLst xmlns:a="http://schemas.openxmlformats.org/drawingml/2006/main">
              <a:ext uri="{FF2B5EF4-FFF2-40B4-BE49-F238E27FC236}">
                <a16:creationId xmlns:a16="http://schemas.microsoft.com/office/drawing/2014/main" id="{C186D4F6-85A6-4883-B5D4-DA75EEC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48006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任务采用显式内存上限；</a:t>
            </a:r>
          </a:p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当前双 SDK 任务已完成。</a:t>
            </a:r>
          </a:p>
        </p:txBody>
      </p:sp>
      <p:sp>
        <p:nvSpPr>
          <p:cNvPr id="33" name="数据对应当前源码068a22a；测试项数与页面检查次数分别记录。">
            <a:extLst xmlns:a="http://schemas.openxmlformats.org/drawingml/2006/main">
              <a:ext uri="{FF2B5EF4-FFF2-40B4-BE49-F238E27FC236}">
                <a16:creationId xmlns:a16="http://schemas.microsoft.com/office/drawing/2014/main" id="{7320D0FE-E245-4B04-8A56-76294AA3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229350"/>
            <a:ext cx="918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数据对应当前源码068a22a；测试项数与页面检查次数分别记录。</a:t>
            </a:r>
          </a:p>
        </p:txBody>
      </p:sp>
    </p:spTree>
    <p:extLst>
      <p:ext uri="{BB962C8B-B14F-4D97-AF65-F5344CB8AC3E}">
        <p14:creationId xmlns:p14="http://schemas.microsoft.com/office/powerpoint/2010/main" val="1701905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ABDE97-1F5F-4D9D-86DB-E3CA4F5A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D2AE79F3-5AFD-4D68-AB0A-4F440635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5FF718FA-9593-4BD7-AF17-A45E5347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DB699D03-83B6-43B4-AD4C-DF748CD8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C780BAD8-22E0-4328-90F2-139E02BD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F357832C-CD9D-4121-A96B-77C3082A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DA14DF8-3843-4301-9124-42AEC939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8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F5E0A4FE-0813-4A15-BCE1-516FFF1C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FBC47EC8-6AA7-4709-B44D-944C2DC6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0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467E49D9-DC04-4A88-8F8A-47BA316E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1CF8AA07-E11A-4B22-828D-06BDE7F1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2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BABC8199-AD8B-47A6-81E2-C1FA2A45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FF238-3F83-4CA4-A0A2-104F4D93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448175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01C5AB07-63A9-4717-AFA2-1EC3AE96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F5DB82A0-6694-43B9-B55F-1B4009D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EF2F1B17-7118-4039-8891-919AA11D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8E331EBB-1350-4D07-9558-81A87B4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源码与运行说明可供评委复查">
            <a:extLst xmlns:a="http://schemas.openxmlformats.org/drawingml/2006/main">
              <a:ext uri="{FF2B5EF4-FFF2-40B4-BE49-F238E27FC236}">
                <a16:creationId xmlns:a16="http://schemas.microsoft.com/office/drawing/2014/main" id="{8C6F78A0-C1CF-4592-B41F-9C80D245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源码与运行说明可供评委复查</a:t>
            </a:r>
          </a:p>
        </p:txBody>
      </p:sp>
      <p:sp>
        <p:nvSpPr>
          <p:cNvPr id="19" name="固定版本、明确前提、按说明启动">
            <a:extLst xmlns:a="http://schemas.openxmlformats.org/drawingml/2006/main">
              <a:ext uri="{FF2B5EF4-FFF2-40B4-BE49-F238E27FC236}">
                <a16:creationId xmlns:a16="http://schemas.microsoft.com/office/drawing/2014/main" id="{4FAA648F-A49A-49B7-B0AC-61BBF3C7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固定版本、明确前提、按说明启动</a:t>
            </a:r>
          </a:p>
        </p:txBody>
      </p:sp>
      <p:sp>
        <p:nvSpPr>
          <p:cNvPr id="20" name="10 / 10">
            <a:extLst xmlns:a="http://schemas.openxmlformats.org/drawingml/2006/main">
              <a:ext uri="{FF2B5EF4-FFF2-40B4-BE49-F238E27FC236}">
                <a16:creationId xmlns:a16="http://schemas.microsoft.com/office/drawing/2014/main" id="{187DD049-218D-4563-BD86-BE9E43F8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10 / 10</a:t>
            </a:r>
          </a:p>
        </p:txBody>
      </p:sp>
      <p:sp>
        <p:nvSpPr>
          <p:cNvPr id="21" name="按说明构建和启动工作台">
            <a:extLst xmlns:a="http://schemas.openxmlformats.org/drawingml/2006/main">
              <a:ext uri="{FF2B5EF4-FFF2-40B4-BE49-F238E27FC236}">
                <a16:creationId xmlns:a16="http://schemas.microsoft.com/office/drawing/2014/main" id="{80481CAE-5F61-4EB2-AD63-B69F4FF0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43125"/>
            <a:ext cx="918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按说明构建和启动工作台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6DF7F9-EA47-42EA-9BD2-3C44A1F3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71825"/>
            <a:ext cx="91821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源码版本  068a22a">
            <a:extLst xmlns:a="http://schemas.openxmlformats.org/drawingml/2006/main">
              <a:ext uri="{FF2B5EF4-FFF2-40B4-BE49-F238E27FC236}">
                <a16:creationId xmlns:a16="http://schemas.microsoft.com/office/drawing/2014/main" id="{2830FABD-24C4-4E8B-A199-D9029CEF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419475"/>
            <a:ext cx="847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5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源码版本  068a22a</a:t>
            </a:r>
          </a:p>
        </p:txBody>
      </p:sp>
      <p:sp>
        <p:nvSpPr>
          <p:cNvPr id="24" name="AtomGit：atomgit.com/c2892480843s/cj-">
            <a:extLst xmlns:a="http://schemas.openxmlformats.org/drawingml/2006/main">
              <a:ext uri="{FF2B5EF4-FFF2-40B4-BE49-F238E27FC236}">
                <a16:creationId xmlns:a16="http://schemas.microsoft.com/office/drawing/2014/main" id="{C9C450B8-8D75-401E-A518-230CE390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000500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AtomGit：atomgit.com/c2892480843s/cj-docguard</a:t>
            </a:r>
          </a:p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运行指南：docs/judge-quickstart.md</a:t>
            </a:r>
          </a:p>
        </p:txBody>
      </p:sp>
      <p:sp>
        <p:nvSpPr>
          <p:cNvPr id="25" name="先配置仓颉 1.1.3 / 1.2.0 与兼容系统 SDK">
            <a:extLst xmlns:a="http://schemas.openxmlformats.org/drawingml/2006/main">
              <a:ext uri="{FF2B5EF4-FFF2-40B4-BE49-F238E27FC236}">
                <a16:creationId xmlns:a16="http://schemas.microsoft.com/office/drawing/2014/main" id="{DD7AD6CC-C9D0-421E-A9C5-6214DFDC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95875"/>
            <a:ext cx="918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先配置仓颉 1.1.3 / 1.2.0 与兼容系统 SDK</a:t>
            </a:r>
          </a:p>
        </p:txBody>
      </p:sp>
      <p:sp>
        <p:nvSpPr>
          <p:cNvPr id="26" name="当前完整实测：macOS arm64">
            <a:extLst xmlns:a="http://schemas.openxmlformats.org/drawingml/2006/main">
              <a:ext uri="{FF2B5EF4-FFF2-40B4-BE49-F238E27FC236}">
                <a16:creationId xmlns:a16="http://schemas.microsoft.com/office/drawing/2014/main" id="{1853684D-883C-4E90-AA51-18F4A8AB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81650"/>
            <a:ext cx="918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当前完整实测：macOS arm64</a:t>
            </a:r>
          </a:p>
        </p:txBody>
      </p:sp>
      <p:sp>
        <p:nvSpPr>
          <p:cNvPr id="27" name="谢谢各位评委">
            <a:extLst xmlns:a="http://schemas.openxmlformats.org/drawingml/2006/main">
              <a:ext uri="{FF2B5EF4-FFF2-40B4-BE49-F238E27FC236}">
                <a16:creationId xmlns:a16="http://schemas.microsoft.com/office/drawing/2014/main" id="{A363F8D7-9F92-4023-9E45-105BA573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341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谢谢各位评委</a:t>
            </a:r>
          </a:p>
        </p:txBody>
      </p:sp>
    </p:spTree>
    <p:extLst>
      <p:ext uri="{BB962C8B-B14F-4D97-AF65-F5344CB8AC3E}">
        <p14:creationId xmlns:p14="http://schemas.microsoft.com/office/powerpoint/2010/main" val="18070642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01208-4EAD-45F3-8252-58799E36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E23772E3-DE58-4277-9C28-69EE0F6B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7429C036-E727-4683-8B50-067FCCC4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2DBEEA98-A6EA-46A6-B0EE-414320A7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21DFF32-019B-4E36-8EF8-2D0706CB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5B3C49F7-5794-4CAF-99E6-8C7089B0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483B877D-6AB8-4FD3-96E7-562FCF7C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8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6AA257CC-AEC0-4D8B-86B5-6D0A5D5E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19E4A4E5-C687-42EC-B880-34E5EBD3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0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E064576C-63F9-47F0-9347-897174BD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6354F873-F03B-4294-A7BF-5E39306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2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D5657405-445F-46BD-826C-47A63E41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10BD7-7B9C-4402-8ECE-7ED3C8EC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448175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53BD6D12-4A3F-4781-AD8F-857F7DC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AA00B3ED-06EA-44CA-9FC8-19004882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98964B2B-5F58-4EA4-B1D7-32E4E1EF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890257DB-43C8-4B79-946F-65FB0DFD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备查：当前支持范围">
            <a:extLst xmlns:a="http://schemas.openxmlformats.org/drawingml/2006/main">
              <a:ext uri="{FF2B5EF4-FFF2-40B4-BE49-F238E27FC236}">
                <a16:creationId xmlns:a16="http://schemas.microsoft.com/office/drawing/2014/main" id="{0866E864-7061-43F3-8393-EAD55CAF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备查：当前支持范围</a:t>
            </a:r>
          </a:p>
        </p:txBody>
      </p:sp>
      <p:sp>
        <p:nvSpPr>
          <p:cNvPr id="19" name="按已实现、已实测范围回答">
            <a:extLst xmlns:a="http://schemas.openxmlformats.org/drawingml/2006/main">
              <a:ext uri="{FF2B5EF4-FFF2-40B4-BE49-F238E27FC236}">
                <a16:creationId xmlns:a16="http://schemas.microsoft.com/office/drawing/2014/main" id="{D0335282-6A8B-4A0F-8F57-EAD03ED6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按已实现、已实测范围回答</a:t>
            </a:r>
          </a:p>
        </p:txBody>
      </p:sp>
      <p:sp>
        <p:nvSpPr>
          <p:cNvPr id="20" name="备查 1 / 4">
            <a:extLst xmlns:a="http://schemas.openxmlformats.org/drawingml/2006/main">
              <a:ext uri="{FF2B5EF4-FFF2-40B4-BE49-F238E27FC236}">
                <a16:creationId xmlns:a16="http://schemas.microsoft.com/office/drawing/2014/main" id="{691A07FE-F42F-44DE-BAD0-0A8946F9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备查 1 / 4</a:t>
            </a:r>
          </a:p>
        </p:txBody>
      </p:sp>
      <p:graphicFrame>
        <p:nvGraphicFrame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4C953-B416-499E-8FED-702A149687CF}"/>
              </a:ext>
            </a:extLst>
          </p:cNvPr>
          <p:cNvGraphicFramePr/>
          <p:nvPr/>
        </p:nvGraphicFramePr>
        <p:xfrm>
          <a:off xmlns:a="http://schemas.openxmlformats.org/drawingml/2006/main" x="2305050" y="2019300"/>
          <a:ext xmlns:a="http://schemas.openxmlformats.org/drawingml/2006/main" cx="9182100" cy="3924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57450"/>
                <a:gridCol w="6724650"/>
              </a:tblGrid>
              <a:tr h="65405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当前实现或结论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</a:tr>
              <a:tr h="65405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宿主与工具链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完整实测：macOS arm64；SDK 1.1.3 / 1.2.0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声明解析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std.ast 与已测试声明子集；不作全语义承诺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执行项目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维护者明确授权的可信本地项目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外部链接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离线未查保持未确认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安全边界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进程监督和资源限制不等于完整安全沙箱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2816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73B2F-C0C8-46E2-B6F9-369314E8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52A2E12D-27C1-4116-8A91-8ED0D13E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71B9B73E-C342-4AB1-B9EA-F63CF41C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26F1BF97-840D-46AE-A749-45901999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8F9EE8B-7458-4C01-9075-69E2437F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B5AE86D1-08F5-4F24-8616-0096F596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23D93CA-572C-4FA5-B415-598A707F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8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360EE880-5E62-41D4-94C8-010CD459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FADED39D-8650-455B-80BA-C6024BB1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0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9A68EC0E-2C78-48DF-8539-D1FE366B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9EA90674-1575-42C3-A279-2A337E8D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2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88FFD046-004B-4146-A986-50508D4A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C7045-3BB6-476C-B1C3-F14A4286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448175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3C9F2062-CE3B-45C6-BC6F-55DA275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A6902901-2C2F-4B9D-991E-503C685D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E83E45A7-D559-43D4-9E5D-BC01C98A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38B06CDB-96AC-49E8-98D8-FAD54DA5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备查：结果状态的含义">
            <a:extLst xmlns:a="http://schemas.openxmlformats.org/drawingml/2006/main">
              <a:ext uri="{FF2B5EF4-FFF2-40B4-BE49-F238E27FC236}">
                <a16:creationId xmlns:a16="http://schemas.microsoft.com/office/drawing/2014/main" id="{181F0AD3-8E3D-46B8-9683-772EE17A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备查：结果状态的含义</a:t>
            </a:r>
          </a:p>
        </p:txBody>
      </p:sp>
      <p:sp>
        <p:nvSpPr>
          <p:cNvPr id="19" name="每个状态对应明确条件">
            <a:extLst xmlns:a="http://schemas.openxmlformats.org/drawingml/2006/main">
              <a:ext uri="{FF2B5EF4-FFF2-40B4-BE49-F238E27FC236}">
                <a16:creationId xmlns:a16="http://schemas.microsoft.com/office/drawing/2014/main" id="{A6436D09-D340-4AE1-AAD1-D96FFD85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每个状态对应明确条件</a:t>
            </a:r>
          </a:p>
        </p:txBody>
      </p:sp>
      <p:sp>
        <p:nvSpPr>
          <p:cNvPr id="20" name="备查 2 / 4">
            <a:extLst xmlns:a="http://schemas.openxmlformats.org/drawingml/2006/main">
              <a:ext uri="{FF2B5EF4-FFF2-40B4-BE49-F238E27FC236}">
                <a16:creationId xmlns:a16="http://schemas.microsoft.com/office/drawing/2014/main" id="{C9A1B829-CEB8-43BA-A8EB-BC5F7D28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备查 2 / 4</a:t>
            </a:r>
          </a:p>
        </p:txBody>
      </p:sp>
      <p:graphicFrame>
        <p:nvGraphicFrame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DD074-4C26-45AA-8792-F2EEDF6574E3}"/>
              </a:ext>
            </a:extLst>
          </p:cNvPr>
          <p:cNvGraphicFramePr/>
          <p:nvPr/>
        </p:nvGraphicFramePr>
        <p:xfrm>
          <a:off xmlns:a="http://schemas.openxmlformats.org/drawingml/2006/main" x="2305050" y="2076450"/>
          <a:ext xmlns:a="http://schemas.openxmlformats.org/drawingml/2006/main" cx="9182100" cy="34575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38300"/>
                <a:gridCol w="4400550"/>
                <a:gridCol w="3143250"/>
              </a:tblGrid>
              <a:tr h="691515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4546A2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后续操作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T w="9525">
                      <a:solidFill>
                        <a:srgbClr val="E5E7EB"/>
                      </a:solidFill>
                      <a:prstDash val="solid"/>
                    </a:lnT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EEF0FF"/>
                    </a:solidFill>
                  </a:tcPr>
                </a:tc>
              </a:tr>
              <a:tr h="691515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运行通过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真实执行且登记输出检查通过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结合当前输入与环境使用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仅编译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编译完成，未验证运行行为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补充运行与输出检查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需重测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源码、配置或工具链等输入变化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重新生成文档并测试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1515"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历史记录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E7EB"/>
                      </a:solidFill>
                      <a:prstDash val="solid"/>
                    </a:lnL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保留过去尝试，供追溯查看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11827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不直接替代当前结果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E7EB"/>
                      </a:solidFill>
                      <a:prstDash val="solid"/>
                    </a:lnR>
                    <a:lnB w="9525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92.9% = 26 / 28，表示记录占比，不是项目正确率。">
            <a:extLst xmlns:a="http://schemas.openxmlformats.org/drawingml/2006/main">
              <a:ext uri="{FF2B5EF4-FFF2-40B4-BE49-F238E27FC236}">
                <a16:creationId xmlns:a16="http://schemas.microsoft.com/office/drawing/2014/main" id="{F97257D8-A815-4C9C-A2FE-67765A3D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905500"/>
            <a:ext cx="918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92.9% = 26 / 28，表示记录占比，不是项目正确率。</a:t>
            </a:r>
          </a:p>
        </p:txBody>
      </p:sp>
    </p:spTree>
    <p:extLst>
      <p:ext uri="{BB962C8B-B14F-4D97-AF65-F5344CB8AC3E}">
        <p14:creationId xmlns:p14="http://schemas.microsoft.com/office/powerpoint/2010/main" val="5711381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A3D02-1002-458C-9135-6593C071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390C8581-F918-4C9D-9455-A0C2681D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C730E648-8097-428D-99D7-845E8EBF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F73949EC-B995-4E71-872C-3D6FF3A1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E4B56EBE-3A42-4317-8727-85318604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992D0F45-7DE6-4DA7-951E-A83AD3E8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1EFBC4E8-176B-4D5D-8068-ED2F095C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8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8829179F-9147-47A1-B1BD-78644D39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B4BEDC72-CB75-4999-9088-F40A1991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0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A851F250-859F-4D9A-B9DE-45CC3303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87D1AC67-67D9-4431-85DC-86451CDB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2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102D7D3D-A0DB-4FF7-902E-17E94E10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1379D-8F4D-4F66-ABAD-6938B976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448175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AC8F5818-EE24-4DEC-A872-B7C7B230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4DF71A08-DF40-4D00-B4E5-444A0877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BE48C2A3-F443-4021-9FEA-9CD2BD0C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AEB77260-81C2-41BE-84F8-3B14621C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备查：评委复现入口">
            <a:extLst xmlns:a="http://schemas.openxmlformats.org/drawingml/2006/main">
              <a:ext uri="{FF2B5EF4-FFF2-40B4-BE49-F238E27FC236}">
                <a16:creationId xmlns:a16="http://schemas.microsoft.com/office/drawing/2014/main" id="{D9DD68FF-51A9-4CEE-A219-E797B6C7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备查：评委复现入口</a:t>
            </a:r>
          </a:p>
        </p:txBody>
      </p:sp>
      <p:sp>
        <p:nvSpPr>
          <p:cNvPr id="19" name="先配置工具链，再构建本地服务">
            <a:extLst xmlns:a="http://schemas.openxmlformats.org/drawingml/2006/main">
              <a:ext uri="{FF2B5EF4-FFF2-40B4-BE49-F238E27FC236}">
                <a16:creationId xmlns:a16="http://schemas.microsoft.com/office/drawing/2014/main" id="{83AA6D43-B15E-4142-9AB9-2255876F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先配置工具链，再构建本地服务</a:t>
            </a:r>
          </a:p>
        </p:txBody>
      </p:sp>
      <p:sp>
        <p:nvSpPr>
          <p:cNvPr id="20" name="备查 3 / 4">
            <a:extLst xmlns:a="http://schemas.openxmlformats.org/drawingml/2006/main">
              <a:ext uri="{FF2B5EF4-FFF2-40B4-BE49-F238E27FC236}">
                <a16:creationId xmlns:a16="http://schemas.microsoft.com/office/drawing/2014/main" id="{CE25FEDF-1979-4754-9FDE-1AC546D2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备查 3 /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673BD-CBB6-42EB-A123-40A7FAC8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76450"/>
            <a:ext cx="91821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git clone https://atomgit.com/c28924">
            <a:extLst xmlns:a="http://schemas.openxmlformats.org/drawingml/2006/main">
              <a:ext uri="{FF2B5EF4-FFF2-40B4-BE49-F238E27FC236}">
                <a16:creationId xmlns:a16="http://schemas.microsoft.com/office/drawing/2014/main" id="{9B13EF73-1B70-4E59-B947-49F6F86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33625"/>
            <a:ext cx="87820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git clone https://atomgit.com/c2892480843s/cj-docguard.git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cd cj-docguard &amp;&amp; git checkout 068a22a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bash scripts/build_workbench.sh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bash scripts/workbench.sh --port 8765</a:t>
            </a:r>
          </a:p>
        </p:txBody>
      </p:sp>
      <p:sp>
        <p:nvSpPr>
          <p:cNvPr id="23" name="打开 http://127.0.0.1:8765/">
            <a:extLst xmlns:a="http://schemas.openxmlformats.org/drawingml/2006/main">
              <a:ext uri="{FF2B5EF4-FFF2-40B4-BE49-F238E27FC236}">
                <a16:creationId xmlns:a16="http://schemas.microsoft.com/office/drawing/2014/main" id="{99506F77-5EDB-449D-BA92-3437373C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34000"/>
            <a:ext cx="918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6063EB"/>
                </a:solidFill>
                <a:latin typeface="Source Han Sans SC"/>
                <a:ea typeface="Source Han Sans SC"/>
                <a:cs typeface="Source Han Sans SC"/>
              </a:rPr>
              <a:t>打开 http://127.0.0.1:8765/</a:t>
            </a:r>
          </a:p>
        </p:txBody>
      </p:sp>
      <p:sp>
        <p:nvSpPr>
          <p:cNvPr id="24" name="前提：已登记两版仓颉 SDK 与兼容系统 SDK；完整步骤见评委指南。">
            <a:extLst xmlns:a="http://schemas.openxmlformats.org/drawingml/2006/main">
              <a:ext uri="{FF2B5EF4-FFF2-40B4-BE49-F238E27FC236}">
                <a16:creationId xmlns:a16="http://schemas.microsoft.com/office/drawing/2014/main" id="{5284BE7B-F3CB-4029-9BB9-29014F9B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972175"/>
            <a:ext cx="918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725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前提：已登记两版仓颉 SDK 与兼容系统 SDK；完整步骤见评委指南。</a:t>
            </a:r>
          </a:p>
        </p:txBody>
      </p:sp>
    </p:spTree>
    <p:extLst>
      <p:ext uri="{BB962C8B-B14F-4D97-AF65-F5344CB8AC3E}">
        <p14:creationId xmlns:p14="http://schemas.microsoft.com/office/powerpoint/2010/main" val="5310635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C2F8E-24CC-4669-A305-86161D61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J-DocGuard">
            <a:extLst xmlns:a="http://schemas.openxmlformats.org/drawingml/2006/main">
              <a:ext uri="{FF2B5EF4-FFF2-40B4-BE49-F238E27FC236}">
                <a16:creationId xmlns:a16="http://schemas.microsoft.com/office/drawing/2014/main" id="{F657AB9C-48E6-43C7-9930-3E076ED8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19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CJ-DocGuard</a:t>
            </a:r>
          </a:p>
        </p:txBody>
      </p:sp>
      <p:sp>
        <p:nvSpPr>
          <p:cNvPr id="3" name="仓颉文档工作台">
            <a:extLst xmlns:a="http://schemas.openxmlformats.org/drawingml/2006/main">
              <a:ext uri="{FF2B5EF4-FFF2-40B4-BE49-F238E27FC236}">
                <a16:creationId xmlns:a16="http://schemas.microsoft.com/office/drawing/2014/main" id="{51957CA6-C0AF-4777-8257-0BCBC87F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905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仓颉文档工作台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3B848349-0E13-48F8-AD56-E7E22CEB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95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内容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C2D94788-E246-4576-A997-2130EBD4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6" name="赛题与交付">
            <a:extLst xmlns:a="http://schemas.openxmlformats.org/drawingml/2006/main">
              <a:ext uri="{FF2B5EF4-FFF2-40B4-BE49-F238E27FC236}">
                <a16:creationId xmlns:a16="http://schemas.microsoft.com/office/drawing/2014/main" id="{7789C5C0-01DE-4086-8D4D-5D9CF8BD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赛题与交付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D3E581CF-A118-4B8A-AFF9-3B4520E8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8" name="网页操作">
            <a:extLst xmlns:a="http://schemas.openxmlformats.org/drawingml/2006/main">
              <a:ext uri="{FF2B5EF4-FFF2-40B4-BE49-F238E27FC236}">
                <a16:creationId xmlns:a16="http://schemas.microsoft.com/office/drawing/2014/main" id="{EB2113CA-0E7D-47BA-96BD-BB3AE28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网页操作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A89DD8B5-E5E2-4085-843A-289A3C78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6707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0" name="仓颉实现">
            <a:extLst xmlns:a="http://schemas.openxmlformats.org/drawingml/2006/main">
              <a:ext uri="{FF2B5EF4-FFF2-40B4-BE49-F238E27FC236}">
                <a16:creationId xmlns:a16="http://schemas.microsoft.com/office/drawing/2014/main" id="{A0141F53-CAFA-4639-8C1A-734ACE08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仓颉实现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9C277676-A023-4B35-BA0D-5EE7CD12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0525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4A3B8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2" name="当前测试">
            <a:extLst xmlns:a="http://schemas.openxmlformats.org/drawingml/2006/main">
              <a:ext uri="{FF2B5EF4-FFF2-40B4-BE49-F238E27FC236}">
                <a16:creationId xmlns:a16="http://schemas.microsoft.com/office/drawing/2014/main" id="{C75572CD-E3BE-4568-8E84-DBC8F119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B9C2D1"/>
                </a:solidFill>
                <a:latin typeface="Source Han Sans SC"/>
                <a:ea typeface="Source Han Sans SC"/>
                <a:cs typeface="Source Han Sans SC"/>
              </a:rPr>
              <a:t>当前测试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6324B-B9F9-48E8-9372-6E9B3632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448175"/>
            <a:ext cx="152400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>
              <a:alpha val="823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F17A63C8-1A7D-4C58-BFE4-E591682E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43425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B6B8FF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15" name="复现与边界">
            <a:extLst xmlns:a="http://schemas.openxmlformats.org/drawingml/2006/main">
              <a:ext uri="{FF2B5EF4-FFF2-40B4-BE49-F238E27FC236}">
                <a16:creationId xmlns:a16="http://schemas.microsoft.com/office/drawing/2014/main" id="{79F73F6A-86DD-4F4D-8E52-6936FA8D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1">
                <a:solidFill>
                  <a:srgbClr val="FFFFFF"/>
                </a:solidFill>
                <a:latin typeface="Source Han Sans SC"/>
                <a:ea typeface="Source Han Sans SC"/>
                <a:cs typeface="Source Han Sans SC"/>
              </a:rPr>
              <a:t>复现与边界</a:t>
            </a:r>
          </a:p>
        </p:txBody>
      </p:sp>
      <p:sp>
        <p:nvSpPr>
          <p:cNvPr id="16" name="源码版本">
            <a:extLst xmlns:a="http://schemas.openxmlformats.org/drawingml/2006/main">
              <a:ext uri="{FF2B5EF4-FFF2-40B4-BE49-F238E27FC236}">
                <a16:creationId xmlns:a16="http://schemas.microsoft.com/office/drawing/2014/main" id="{CE02D79C-15F8-4F4D-A1F0-17AEAF42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76925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97A2B6"/>
                </a:solidFill>
                <a:latin typeface="Source Han Sans SC"/>
                <a:ea typeface="Source Han Sans SC"/>
                <a:cs typeface="Source Han Sans SC"/>
              </a:rPr>
              <a:t>源码版本</a:t>
            </a:r>
          </a:p>
        </p:txBody>
      </p:sp>
      <p:sp>
        <p:nvSpPr>
          <p:cNvPr id="17" name="068a22a">
            <a:extLst xmlns:a="http://schemas.openxmlformats.org/drawingml/2006/main">
              <a:ext uri="{FF2B5EF4-FFF2-40B4-BE49-F238E27FC236}">
                <a16:creationId xmlns:a16="http://schemas.microsoft.com/office/drawing/2014/main" id="{451D902F-8EBE-4BCA-8F79-9DDF2B78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722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500" b="0">
                <a:solidFill>
                  <a:srgbClr val="DCE2EC"/>
                </a:solidFill>
                <a:latin typeface="Source Han Sans SC"/>
                <a:ea typeface="Source Han Sans SC"/>
                <a:cs typeface="Source Han Sans SC"/>
              </a:rPr>
              <a:t>068a22a</a:t>
            </a:r>
          </a:p>
        </p:txBody>
      </p:sp>
      <p:sp>
        <p:nvSpPr>
          <p:cNvPr id="18" name="备查：链接专项检查画面">
            <a:extLst xmlns:a="http://schemas.openxmlformats.org/drawingml/2006/main">
              <a:ext uri="{FF2B5EF4-FFF2-40B4-BE49-F238E27FC236}">
                <a16:creationId xmlns:a16="http://schemas.microsoft.com/office/drawing/2014/main" id="{FFA7F253-5FD8-4A6F-A317-B7E9DC71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150" b="1">
                <a:solidFill>
                  <a:srgbClr val="111827"/>
                </a:solidFill>
                <a:latin typeface="Source Han Sans SC"/>
                <a:ea typeface="Source Han Sans SC"/>
                <a:cs typeface="Source Han Sans SC"/>
              </a:rPr>
              <a:t>备查：链接专项检查画面</a:t>
            </a:r>
          </a:p>
        </p:txBody>
      </p:sp>
      <p:sp>
        <p:nvSpPr>
          <p:cNvPr id="19" name="默认保留来源、行号、原始目标和检查原因">
            <a:extLst xmlns:a="http://schemas.openxmlformats.org/drawingml/2006/main">
              <a:ext uri="{FF2B5EF4-FFF2-40B4-BE49-F238E27FC236}">
                <a16:creationId xmlns:a16="http://schemas.microsoft.com/office/drawing/2014/main" id="{393FEE66-FDCC-4E06-BCEC-C93CF192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295400"/>
            <a:ext cx="935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默认保留来源、行号、原始目标和检查原因</a:t>
            </a:r>
          </a:p>
        </p:txBody>
      </p:sp>
      <p:sp>
        <p:nvSpPr>
          <p:cNvPr id="20" name="备查 4 / 4">
            <a:extLst xmlns:a="http://schemas.openxmlformats.org/drawingml/2006/main">
              <a:ext uri="{FF2B5EF4-FFF2-40B4-BE49-F238E27FC236}">
                <a16:creationId xmlns:a16="http://schemas.microsoft.com/office/drawing/2014/main" id="{034ACBCB-8611-4BD1-9045-D218767A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0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备查 4 / 4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7D09B-DADE-418F-B69C-03B3DFDD0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196dfedfa4762"/>
          <a:srcRect xmlns:a="http://schemas.openxmlformats.org/drawingml/2006/main" l="20000" t="30000" r="0" b="15000"/>
          <a:stretch xmlns:a="http://schemas.openxmlformats.org/drawingml/2006/main"/>
        </p:blipFill>
        <p:spPr>
          <a:xfrm xmlns:a="http://schemas.openxmlformats.org/drawingml/2006/main">
            <a:off x="2305050" y="1952625"/>
            <a:ext cx="9182100" cy="4086225"/>
          </a:xfrm>
          <a:prstGeom xmlns:a="http://schemas.openxmlformats.org/drawingml/2006/main" prst="rect">
            <a:avLst/>
          </a:prstGeom>
        </p:spPr>
      </p:pic>
      <p:sp>
        <p:nvSpPr>
          <p:cNvPr id="22" name="预置坏链已定位；未联网检查的外链保持未确认。">
            <a:extLst xmlns:a="http://schemas.openxmlformats.org/drawingml/2006/main">
              <a:ext uri="{FF2B5EF4-FFF2-40B4-BE49-F238E27FC236}">
                <a16:creationId xmlns:a16="http://schemas.microsoft.com/office/drawing/2014/main" id="{F16CB626-3B19-49E8-AC52-FB6DE2BE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200775"/>
            <a:ext cx="9182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650" b="0">
                <a:solidFill>
                  <a:srgbClr val="647084"/>
                </a:solidFill>
                <a:latin typeface="Source Han Sans SC"/>
                <a:ea typeface="Source Han Sans SC"/>
                <a:cs typeface="Source Han Sans SC"/>
              </a:rPr>
              <a:t>预置坏链已定位；未联网检查的外链保持未确认。</a:t>
            </a:r>
          </a:p>
        </p:txBody>
      </p:sp>
    </p:spTree>
    <p:extLst>
      <p:ext uri="{BB962C8B-B14F-4D97-AF65-F5344CB8AC3E}">
        <p14:creationId xmlns:p14="http://schemas.microsoft.com/office/powerpoint/2010/main" val="1948509330"/>
      </p:ext>
    </p:extLst>
  </p:cSld>
</p:sld>
</file>

<file path=ppt/theme/theme1.xml><?xml version="1.0" encoding="utf-8"?>
<a:theme xmlns:a="http://schemas.openxmlformats.org/drawingml/2006/main" name="ChatGPT">
  <a:themeElements>
    <a:clrScheme name="DocGuard Dashboard">
      <a:dk1>
        <a:srgbClr val="000000"/>
      </a:dk1>
      <a:lt1>
        <a:srgbClr val="FFFFFF"/>
      </a:lt1>
      <a:dk2>
        <a:srgbClr val="111827"/>
      </a:dk2>
      <a:lt2>
        <a:srgbClr val="E5E7EB"/>
      </a:lt2>
      <a:accent1>
        <a:srgbClr val="6063EB"/>
      </a:accent1>
      <a:accent2>
        <a:srgbClr val="10B981"/>
      </a:accent2>
      <a:accent3>
        <a:srgbClr val="F59E0B"/>
      </a:accent3>
      <a:accent4>
        <a:srgbClr val="B91C1C"/>
      </a:accent4>
      <a:accent5>
        <a:srgbClr val="94A3B8"/>
      </a:accent5>
      <a:accent6>
        <a:srgbClr val="475569"/>
      </a:accent6>
      <a:hlink>
        <a:srgbClr val="6063EB"/>
      </a:hlink>
      <a:folHlink>
        <a:srgbClr val="4F46E5"/>
      </a:folHlink>
    </a:clrScheme>
    <a:fontScheme name="">
      <a:majorFont>
        <a:latin typeface="Source Han Sans SC"/>
        <a:ea typeface=""/>
        <a:cs typeface=""/>
      </a:majorFont>
      <a:minorFont>
        <a:latin typeface="Source Han Sans SC"/>
        <a:ea typeface=""/>
        <a:cs typeface=""/>
      </a:minorFont>
    </a:fontScheme>
    <a:fmtScheme name="DocGuard Dashbo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2026-10-29T10:40:22.5320000Z</dcterms:created>
  <dcterms:modified xsi:type="dcterms:W3CDTF">2026-10-29T10:40:22.5320000Z</dcterms:modified>
</coreProperties>
</file>