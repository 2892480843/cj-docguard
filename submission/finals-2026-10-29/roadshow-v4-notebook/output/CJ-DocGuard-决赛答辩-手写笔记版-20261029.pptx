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c7c55bb7ac49b6" /><Relationship Type="http://schemas.openxmlformats.org/officeDocument/2006/relationships/extended-properties" Target="/docProps/app.xml" Id="Rac4890dd7cf54218" /><Relationship Type="http://schemas.openxmlformats.org/officeDocument/2006/relationships/officeDocument" Target="/ppt/presentation.xml" Id="R2d8ee3deb76f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b478f14db84603"/>
  </p:sldMasterIdLst>
  <p:notesMasterIdLst>
    <p:notesMasterId xmlns:r="http://schemas.openxmlformats.org/officeDocument/2006/relationships" r:id="Rd78ce9d788764ceb"/>
  </p:notesMasterIdLst>
  <p:sldIdLst>
    <p:sldId xmlns:r="http://schemas.openxmlformats.org/officeDocument/2006/relationships" id="256" r:id="Rc61241a2dc84413a"/>
    <p:sldId xmlns:r="http://schemas.openxmlformats.org/officeDocument/2006/relationships" id="257" r:id="R0d9af2020f2e4f7c"/>
    <p:sldId xmlns:r="http://schemas.openxmlformats.org/officeDocument/2006/relationships" id="258" r:id="R474d38d4ee974bc8"/>
    <p:sldId xmlns:r="http://schemas.openxmlformats.org/officeDocument/2006/relationships" id="259" r:id="R11f979ef45e04f21"/>
    <p:sldId xmlns:r="http://schemas.openxmlformats.org/officeDocument/2006/relationships" id="260" r:id="R858390faf2dd4f4a"/>
    <p:sldId xmlns:r="http://schemas.openxmlformats.org/officeDocument/2006/relationships" id="261" r:id="R9d3fcfbcead74823"/>
    <p:sldId xmlns:r="http://schemas.openxmlformats.org/officeDocument/2006/relationships" id="262" r:id="R9f477de74a454139"/>
    <p:sldId xmlns:r="http://schemas.openxmlformats.org/officeDocument/2006/relationships" id="263" r:id="Rc199eeae244b46c2"/>
    <p:sldId xmlns:r="http://schemas.openxmlformats.org/officeDocument/2006/relationships" id="264" r:id="R785f9dc52a064bbe"/>
    <p:sldId xmlns:r="http://schemas.openxmlformats.org/officeDocument/2006/relationships" id="265" r:id="R0e8446cfe037498f"/>
    <p:sldId xmlns:r="http://schemas.openxmlformats.org/officeDocument/2006/relationships" id="266" r:id="Raa27d938da4042c3"/>
    <p:sldId xmlns:r="http://schemas.openxmlformats.org/officeDocument/2006/relationships" id="267" r:id="R18779b57b5d34a6f"/>
    <p:sldId xmlns:r="http://schemas.openxmlformats.org/officeDocument/2006/relationships" id="268" r:id="Rae167e11a94144a7"/>
    <p:sldId xmlns:r="http://schemas.openxmlformats.org/officeDocument/2006/relationships" id="269" r:id="Read45b593f7a4e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c9ddd37ebe4e1b" /><Relationship Type="http://schemas.openxmlformats.org/officeDocument/2006/relationships/slideMaster" Target="/ppt/slideMasters/slideMaster1.xml" Id="R69b478f14db84603" /><Relationship Type="http://schemas.openxmlformats.org/officeDocument/2006/relationships/notesMaster" Target="/ppt/notesMasters/notesMaster1.xml" Id="Rd78ce9d788764ceb" /><Relationship Type="http://schemas.openxmlformats.org/officeDocument/2006/relationships/presProps" Target="/ppt/presProps.xml" Id="R7d7a57ac5b3746f1" /><Relationship Type="http://schemas.openxmlformats.org/officeDocument/2006/relationships/tableStyles" Target="/ppt/tableStyles.xml" Id="Rd4e0ce2d2e2b44f8" /><Relationship Type="http://schemas.openxmlformats.org/officeDocument/2006/relationships/slide" Target="/ppt/slides/slide1.xml" Id="Rc61241a2dc84413a" /><Relationship Type="http://schemas.openxmlformats.org/officeDocument/2006/relationships/slide" Target="/ppt/slides/slide2.xml" Id="R0d9af2020f2e4f7c" /><Relationship Type="http://schemas.openxmlformats.org/officeDocument/2006/relationships/slide" Target="/ppt/slides/slide3.xml" Id="R474d38d4ee974bc8" /><Relationship Type="http://schemas.openxmlformats.org/officeDocument/2006/relationships/slide" Target="/ppt/slides/slide4.xml" Id="R11f979ef45e04f21" /><Relationship Type="http://schemas.openxmlformats.org/officeDocument/2006/relationships/slide" Target="/ppt/slides/slide5.xml" Id="R858390faf2dd4f4a" /><Relationship Type="http://schemas.openxmlformats.org/officeDocument/2006/relationships/slide" Target="/ppt/slides/slide6.xml" Id="R9d3fcfbcead74823" /><Relationship Type="http://schemas.openxmlformats.org/officeDocument/2006/relationships/slide" Target="/ppt/slides/slide7.xml" Id="R9f477de74a454139" /><Relationship Type="http://schemas.openxmlformats.org/officeDocument/2006/relationships/slide" Target="/ppt/slides/slide8.xml" Id="Rc199eeae244b46c2" /><Relationship Type="http://schemas.openxmlformats.org/officeDocument/2006/relationships/slide" Target="/ppt/slides/slide9.xml" Id="R785f9dc52a064bbe" /><Relationship Type="http://schemas.openxmlformats.org/officeDocument/2006/relationships/slide" Target="/ppt/slides/slide10.xml" Id="R0e8446cfe037498f" /><Relationship Type="http://schemas.openxmlformats.org/officeDocument/2006/relationships/slide" Target="/ppt/slides/slide11.xml" Id="Raa27d938da4042c3" /><Relationship Type="http://schemas.openxmlformats.org/officeDocument/2006/relationships/slide" Target="/ppt/slides/slide12.xml" Id="R18779b57b5d34a6f" /><Relationship Type="http://schemas.openxmlformats.org/officeDocument/2006/relationships/slide" Target="/ppt/slides/slide13.xml" Id="Rae167e11a94144a7" /><Relationship Type="http://schemas.openxmlformats.org/officeDocument/2006/relationships/slide" Target="/ppt/slides/slide14.xml" Id="Read45b593f7a4e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accf6722d642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otebook Marker">
      <a:dk1>
        <a:srgbClr val="000000"/>
      </a:dk1>
      <a:lt1>
        <a:srgbClr val="FFFFFF"/>
      </a:lt1>
      <a:dk2>
        <a:srgbClr val="2A302D"/>
      </a:dk2>
      <a:lt2>
        <a:srgbClr val="FAF6EB"/>
      </a:lt2>
      <a:accent1>
        <a:srgbClr val="28638C"/>
      </a:accent1>
      <a:accent2>
        <a:srgbClr val="397B60"/>
      </a:accent2>
      <a:accent3>
        <a:srgbClr val="D89E38"/>
      </a:accent3>
      <a:accent4>
        <a:srgbClr val="AA554B"/>
      </a:accent4>
      <a:accent5>
        <a:srgbClr val="8D9D86"/>
      </a:accent5>
      <a:accent6>
        <a:srgbClr val="77654F"/>
      </a:accent6>
      <a:hlink>
        <a:srgbClr val="28638C"/>
      </a:hlink>
      <a:folHlink>
        <a:srgbClr val="397B60"/>
      </a:folHlink>
    </a:clrScheme>
    <a:fontScheme name="">
      <a:majorFont>
        <a:latin typeface="Ma Shan Zheng"/>
        <a:ea typeface=""/>
        <a:cs typeface=""/>
      </a:majorFont>
      <a:minorFont>
        <a:latin typeface="Ma Shan Zheng"/>
        <a:ea typeface=""/>
        <a:cs typeface=""/>
      </a:minorFont>
    </a:fontScheme>
    <a:fmtScheme name="Notebook Mar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971418d30f4e6f" /><Relationship Type="http://schemas.openxmlformats.org/officeDocument/2006/relationships/notesMaster" Target="/ppt/notesMasters/notesMaster1.xml" Id="Re55362fce6624f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485a212d06464f" /><Relationship Type="http://schemas.openxmlformats.org/officeDocument/2006/relationships/notesMaster" Target="/ppt/notesMasters/notesMaster1.xml" Id="R67c2fe85d79f4a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57c1c4c85d4be8" /><Relationship Type="http://schemas.openxmlformats.org/officeDocument/2006/relationships/notesMaster" Target="/ppt/notesMasters/notesMaster1.xml" Id="R1bcc17aa1c6345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61fe43ad3344ea" /><Relationship Type="http://schemas.openxmlformats.org/officeDocument/2006/relationships/notesMaster" Target="/ppt/notesMasters/notesMaster1.xml" Id="R4b85c2561d3f44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2455f2cca24510" /><Relationship Type="http://schemas.openxmlformats.org/officeDocument/2006/relationships/notesMaster" Target="/ppt/notesMasters/notesMaster1.xml" Id="R9546045a97cc47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3aac59d23345d7" /><Relationship Type="http://schemas.openxmlformats.org/officeDocument/2006/relationships/notesMaster" Target="/ppt/notesMasters/notesMaster1.xml" Id="Reef6fb0dda9c4c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46f08b3914e42" /><Relationship Type="http://schemas.openxmlformats.org/officeDocument/2006/relationships/notesMaster" Target="/ppt/notesMasters/notesMaster1.xml" Id="R0f54e9f74f0e42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18c0b3a5254070" /><Relationship Type="http://schemas.openxmlformats.org/officeDocument/2006/relationships/notesMaster" Target="/ppt/notesMasters/notesMaster1.xml" Id="R0617436705f14c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41702501e8447e" /><Relationship Type="http://schemas.openxmlformats.org/officeDocument/2006/relationships/notesMaster" Target="/ppt/notesMasters/notesMaster1.xml" Id="R8c49d5baf1884e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88d9499ad44c39" /><Relationship Type="http://schemas.openxmlformats.org/officeDocument/2006/relationships/notesMaster" Target="/ppt/notesMasters/notesMaster1.xml" Id="R3b4768a0417f43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ecec27c2af4d63" /><Relationship Type="http://schemas.openxmlformats.org/officeDocument/2006/relationships/notesMaster" Target="/ppt/notesMasters/notesMaster1.xml" Id="Rc8f810491ce448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7cc9b053b5413c" /><Relationship Type="http://schemas.openxmlformats.org/officeDocument/2006/relationships/notesMaster" Target="/ppt/notesMasters/notesMaster1.xml" Id="Rb38bbb354c4a44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854fa987f74c1d" /><Relationship Type="http://schemas.openxmlformats.org/officeDocument/2006/relationships/notesMaster" Target="/ppt/notesMasters/notesMaster1.xml" Id="R530bac5e0b1945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03690557414540" /><Relationship Type="http://schemas.openxmlformats.org/officeDocument/2006/relationships/notesMaster" Target="/ppt/notesMasters/notesMaster1.xml" Id="R2dacbdea248c43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主讲时段：0:00至0:20，20秒（包含现场操作）。</a:t>
            </a:r>
          </a:p>
          <a:p xmlns:a="http://schemas.openxmlformats.org/drawingml/2006/main">
            <a:r>
              <a:t>各位评委好，我的作品是 CJ-DocGuard，面向仓颉项目级 API 文档生成及测试。它把接口说明、登记示例、开发工具包版本和检查结果放到同一个本地工作台中，供库维护者查询、测试和导出。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动作：停留封面，介绍作品目标。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来源：docs/prd-original.md；用户提供的赛题表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主讲时段：0:20至0:55，35秒（包含现场操作）。</a:t>
            </a:r>
          </a:p>
          <a:p xmlns:a="http://schemas.openxmlformats.org/drawingml/2006/main">
            <a:r>
              <a:t>作品对应赛题的三项交付。第一，提取公共声明，生成包含参数、返回类型和关联示例的结构化文档。第二，使用真实仓颉工具链编译和运行登记示例，再检查输出。第三，分别记录不同开发工具包和平台的结果，同时检查文档中的目标文件与锚点。三项能力都能从网页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动作：按表格从需求指向入口及产物。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来源：docs/finals-requirement-evidence-2026-10-29.md；src/extractor.cj；src/engine.cj；src/links.cj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主讲时段：0:55至1:40，45秒（包含现场操作）。</a:t>
            </a:r>
          </a:p>
          <a:p xmlns:a="http://schemas.openxmlformats.org/drawingml/2006/main">
            <a:r>
              <a:t>这里是最新版的实际页面。搜索 add 后，页面显示函数声明、两个整数参数、返回类型和关联示例，并能打开当前源码。当前工作区提取了四十七个公共接口，登记十四个示例。接口数量描述提取结果；一个接口出现在文档中，并不代表它的所有行为都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动作：指向 add 声明、参数、返回类型与关联示例；不逐个念导航。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来源：本轮 assets/api.png；build/finals-ppt-v3/facts.json；src/extractor.cj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主讲时段：1:40至3:00，80秒（包含现场操作）。</a:t>
            </a:r>
          </a:p>
          <a:p xmlns:a="http://schemas.openxmlformats.org/drawingml/2006/main">
            <a:r>
              <a:t>现在切到网页。先检索接口，再查看对应的测试矩阵。接着选择有效示例查询，指定 SDK 一点二点零和当前平台，查询 arithmetic。完成后导出同一示例的 ZIP 包。查询和导出都会检查当前输入；这里调用的是本地仓颉服务。全量矩阵已在准备阶段运行，现场不把已有记录说成刚刚重新编译的结果。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动作：0–15秒检索add；15–30秒查看矩阵并区分仅编译；30–55秒查询SDK1.2.0/arithmetic；55–75秒导出同一示例；75–80秒返回PPT。等待超过8秒切到本页截图。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来源：docs/ui/2026-10-29-controls/native-workflow.json；本轮 assets/export.png；web/app.js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主讲时段：3:00至3:45，45秒（包含现场操作）。</a:t>
            </a:r>
          </a:p>
          <a:p xmlns:a="http://schemas.openxmlformats.org/drawingml/2006/main">
            <a:r>
              <a:t>实现上，浏览器使用 HTML、CSS 和 JavaScript。本地 HTTP 服务、声明提取、配置处理、测试编排和当前结果判断使用仓颉。两版 SDK 调用的都是真实编译器和运行库。C 负责子进程监督，Bash 负责构建启动；Python 用于测试和辅助工具，不承担正式网页服务。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动作：沿架构图从浏览器讲到仓颉服务、核心及SDK；明确语言分工。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来源：workbench_native/；src/；src/extractor.cj 的 std.ast 导入；scripts/runner.c；scripts/native_env.sh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主讲时段：3:45至4:30，45秒（包含现场操作）。</a:t>
            </a:r>
          </a:p>
          <a:p xmlns:a="http://schemas.openxmlformats.org/drawingml/2006/main">
            <a:r>
              <a:t>本版当前矩阵有二十八条独立记录。SDK 一点一点三和一点二点零，各有十三条运行通过、一条仅编译，合计二十六条运行通过、两条仅编译。运行通过要求程序成功执行且登记输出检查通过。仅编译没有验证运行行为，因此单独展示。这组数字描述当前样例，不作为全部仓颉项目的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动作：指向两版SDK柱形图，再核对表格中13+1=14。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来源：docs/ui/2026-10-29-controls/native-workflow.json；本轮 facts.json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主讲时段：4:30至5:15，45秒（包含现场操作）。</a:t>
            </a:r>
          </a:p>
          <a:p xmlns:a="http://schemas.openxmlformats.org/drawingml/2006/main">
            <a:r>
              <a:t>结果不仅关联示例名称，还关联源码、配置、工具链和平台。输入变化后，旧记录需要重新测试。最新一次检查失败时，也不能退回较早的成功记录。查询与导出使用相同规则，历史记录继续保存，供追溯查看。这样可以避免把过去的成功直接当作当前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动作：说明输入匹配、真实执行和输出检查；用源码变化与最新失败两个分支解释。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来源：src/evidence.cj；src/engine.cj；src/export.cj；tests/native_evidence.cj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主讲时段：5:15至5:55，40秒（包含现场操作）。</a:t>
            </a:r>
          </a:p>
          <a:p xmlns:a="http://schemas.openxmlformats.org/drawingml/2006/main">
            <a:r>
              <a:t>链接检查不仅统计数量，还给出来源、行号、原始目标和原因。本轮重新检查的专项样例中，预置的缺失文件和不存在锚点都被定位到 README 的对应行。严格检查返回一，表示它确实发现了这些问题。离线未检查的外部链接保持未确认，不显示为通过。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动作：指向README第13、14行，区分预置问题被检测和工具自身失败。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来源：本轮 links-check.stdout、facts.json 和 assets/links.png；src/links.cj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主讲时段：5:55至6:35，40秒（包含现场操作）。</a:t>
            </a:r>
          </a:p>
          <a:p xmlns:a="http://schemas.openxmlformats.org/drawingml/2006/main">
            <a:r>
              <a:t>最新版进一步补齐了工作台操作。下拉选项对应实际配置和记录，查询条件随工具切换；任务状态区分排队、运行和结束，未提供数量时不编造进度百分比。大量历史记录触发的任务内存问题也已处理。最新二十三项原生服务回归通过，三档尺寸共三十次页面检查通过，七百三十九条历史记录继续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动作：按操作、状态、历史三组讲当前实现；不作阶段数据对比。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来源：docs/ui/2026-10-29-controls/native-tests.txt；layout-checks.json；native-workflow.json；workbench_native/jobs.cj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主讲时段：6:35至7:00，25秒（包含现场操作）。</a:t>
            </a:r>
          </a:p>
          <a:p xmlns:a="http://schemas.openxmlformats.org/drawingml/2006/main">
            <a:r>
              <a:t>评委可以从公开仓库获取固定版本，按指南配置两版仓颉工具包和兼容系统 SDK，再构建并启动工作台。当前完整实测环境是 macOS arm64。作品交付的是可操作、可重复检查的文档和测试流程。谢谢各位评委。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动作：展示源码068a22a和指南入口；结束主讲，按追问选择备查页。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来源：README.md；docs/judge-quickstart.md；源码068a22a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本页按追问展开：当前完整实测为macOS arm64和两版SDK；解析面向支持的声明子集；执行面向可信本地项目；离线外链保留未确认。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动作：仅问答时打开。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来源：docs/requirements-status.md；docs/native-workbench.md；src/extractor.cj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运行通过表示执行与登记输出检查通过；仅编译没有运行行为结论；需重测表示输入变化；历史记录供追溯，不直接作为当前可用结果。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动作：按评委提问解释相应状态，不逐行全讲。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来源：src/evidence.cj；web/views.js；src/engine.cj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复现时先按评委指南登记两版SDK及兼容系统SDK。获取固定提交后，运行构建脚本，再启动8765端口。平台或工具链变化后，需要重新运行检查。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动作：按指南说明命令和前提。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来源：docs/judge-quickstart.md；scripts/build_workbench.sh；scripts/workbench.sh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这里展示当前链接专项检查的实际网页。缺失文件和缺失锚点均能定位到来源行，未经联网检查的外部链接保持未确认。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动作：根据提问说明 README.md 第13和14行的失败原因。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来源：examples/link-checks/README.md；本轮严格链接检查与当前网页截图。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视觉：底纹为图像生成的纸张纹理，不是产品运行记录；其余数据沿用当前功能源码068a22a。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efeac7cde4c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26e76eabd4e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ad6e1da3e4c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4c434a6de4b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dbf2cfd334b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cbad9cb6b4d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4C4DDD-1179-4134-81E6-F857F2046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E7E39F-4AD7-4D64-A39C-00E338EBF5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F6AB86-21FD-405E-96E1-203C91406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E190A7-40EF-42DA-BF09-B2764B57A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598775-A91A-4F2A-BD5E-B89ABDA60F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E648FA-E14B-4D1C-8A92-FB5524AC90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394EF6-D458-4ACD-87BD-34F10E7367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706D2D-BA3E-4CDC-932D-E4911CE73A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BDDE82-D362-4C4F-A792-F2A7697E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7C101D-B743-40BB-BD84-7E714EF44E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76ef1dedf6437f" /><Relationship Type="http://schemas.openxmlformats.org/officeDocument/2006/relationships/slideLayout" Target="/ppt/slideLayouts/slideLayout1.xml" Id="Ra5b928812c444119" /><Relationship Type="http://schemas.openxmlformats.org/officeDocument/2006/relationships/slideLayout" Target="/ppt/slideLayouts/slideLayout2.xml" Id="Rb199e4f45b1c461e" /><Relationship Type="http://schemas.openxmlformats.org/officeDocument/2006/relationships/slideLayout" Target="/ppt/slideLayouts/slideLayout3.xml" Id="R4ecca94c884b47c9" /><Relationship Type="http://schemas.openxmlformats.org/officeDocument/2006/relationships/slideLayout" Target="/ppt/slideLayouts/slideLayout4.xml" Id="R86e5cd773c1f4089" /><Relationship Type="http://schemas.openxmlformats.org/officeDocument/2006/relationships/slideLayout" Target="/ppt/slideLayouts/slideLayout5.xml" Id="Rb1c90c032ead40ad" /><Relationship Type="http://schemas.openxmlformats.org/officeDocument/2006/relationships/slideLayout" Target="/ppt/slideLayouts/slideLayout6.xml" Id="Rc85e35238f41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b928812c444119"/>
    <p:sldLayoutId xmlns:r="http://schemas.openxmlformats.org/officeDocument/2006/relationships" id="2147483650" r:id="Rb199e4f45b1c461e"/>
    <p:sldLayoutId xmlns:r="http://schemas.openxmlformats.org/officeDocument/2006/relationships" id="2147483651" r:id="R4ecca94c884b47c9"/>
    <p:sldLayoutId xmlns:r="http://schemas.openxmlformats.org/officeDocument/2006/relationships" id="2147483652" r:id="R86e5cd773c1f4089"/>
    <p:sldLayoutId xmlns:r="http://schemas.openxmlformats.org/officeDocument/2006/relationships" id="2147483653" r:id="Rb1c90c032ead40ad"/>
    <p:sldLayoutId xmlns:r="http://schemas.openxmlformats.org/officeDocument/2006/relationships" id="2147483654" r:id="Rc85e35238f41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otebook Marker">
      <a:dk1>
        <a:srgbClr val="000000"/>
      </a:dk1>
      <a:lt1>
        <a:srgbClr val="FFFFFF"/>
      </a:lt1>
      <a:dk2>
        <a:srgbClr val="2A302D"/>
      </a:dk2>
      <a:lt2>
        <a:srgbClr val="FAF6EB"/>
      </a:lt2>
      <a:accent1>
        <a:srgbClr val="28638C"/>
      </a:accent1>
      <a:accent2>
        <a:srgbClr val="397B60"/>
      </a:accent2>
      <a:accent3>
        <a:srgbClr val="D89E38"/>
      </a:accent3>
      <a:accent4>
        <a:srgbClr val="AA554B"/>
      </a:accent4>
      <a:accent5>
        <a:srgbClr val="8D9D86"/>
      </a:accent5>
      <a:accent6>
        <a:srgbClr val="77654F"/>
      </a:accent6>
      <a:hlink>
        <a:srgbClr val="28638C"/>
      </a:hlink>
      <a:folHlink>
        <a:srgbClr val="397B60"/>
      </a:folHlink>
    </a:clrScheme>
    <a:fontScheme name="">
      <a:majorFont>
        <a:latin typeface="Ma Shan Zheng"/>
        <a:ea typeface=""/>
        <a:cs typeface=""/>
      </a:majorFont>
      <a:minorFont>
        <a:latin typeface="Ma Shan Zheng"/>
        <a:ea typeface=""/>
        <a:cs typeface=""/>
      </a:minorFont>
    </a:fontScheme>
    <a:fmtScheme name="Notebook Mar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0bc1ff7db4831" /><Relationship Type="http://schemas.openxmlformats.org/officeDocument/2006/relationships/image" Target="/ppt/media/image.png" Id="Rba60c4b4be4646ed" /><Relationship Type="http://schemas.openxmlformats.org/officeDocument/2006/relationships/notesSlide" Target="/ppt/notesSlides/notesSlide1.xml" Id="Rd4febf94701b42a4" 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2db9a09d6484b3d" /><ns0:Relationship Type="http://schemas.openxmlformats.org/officeDocument/2006/relationships/image" Target="../media/image.png" Id="Rcd9fa3e764b341a5" /><ns0:Relationship Type="http://schemas.openxmlformats.org/officeDocument/2006/relationships/notesSlide" Target="/ppt/notesSlides/notesSlide2.xml" Id="Rd0811421fbad457d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2497a59cad94df1" /><ns0:Relationship Type="http://schemas.openxmlformats.org/officeDocument/2006/relationships/image" Target="../media/image.png" Id="Rbf3af9c52cac4998" /><ns0:Relationship Type="http://schemas.openxmlformats.org/officeDocument/2006/relationships/image" Target="/ppt/media/image.jpeg" Id="Rd96f01fae0644697" /><ns0:Relationship Type="http://schemas.openxmlformats.org/officeDocument/2006/relationships/notesSlide" Target="/ppt/notesSlides/notesSlide3.xml" Id="R424eb43d3b3f4d9f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3a58c93c78c41dd" /><ns0:Relationship Type="http://schemas.openxmlformats.org/officeDocument/2006/relationships/image" Target="../media/image.png" Id="R81820c11f054469a" /><ns0:Relationship Type="http://schemas.openxmlformats.org/officeDocument/2006/relationships/image" Target="/ppt/media/image2.jpeg" Id="R29fbe0cbed52424b" /><ns0:Relationship Type="http://schemas.openxmlformats.org/officeDocument/2006/relationships/notesSlide" Target="/ppt/notesSlides/notesSlide4.xml" Id="Rf9e6e3b14f934ad1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deec6d6cfd14379" /><ns0:Relationship Type="http://schemas.openxmlformats.org/officeDocument/2006/relationships/image" Target="../media/image.png" Id="R7dca0a8d669f418e" /><ns0:Relationship Type="http://schemas.openxmlformats.org/officeDocument/2006/relationships/notesSlide" Target="/ppt/notesSlides/notesSlide5.xml" Id="R89826d875c18423b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f0e41ba75014d6c" /><ns0:Relationship Type="http://schemas.openxmlformats.org/officeDocument/2006/relationships/image" Target="../media/image.png" Id="Rc7ae00d529b14b5a" /><ns0:Relationship Type="http://schemas.openxmlformats.org/officeDocument/2006/relationships/chart" Target="/ppt/slides/charts/chart1.xml" Id="R04a6a2691e724b97" /><ns0:Relationship Type="http://schemas.openxmlformats.org/officeDocument/2006/relationships/notesSlide" Target="/ppt/notesSlides/notesSlide6.xml" Id="Re224d1bc45564789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9709964d9ce44cd" /><ns0:Relationship Type="http://schemas.openxmlformats.org/officeDocument/2006/relationships/image" Target="../media/image.png" Id="R154fa937f63142fc" /><ns0:Relationship Type="http://schemas.openxmlformats.org/officeDocument/2006/relationships/notesSlide" Target="/ppt/notesSlides/notesSlide7.xml" Id="Rc9d3deb2455d4c13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d547398a3844126" /><ns0:Relationship Type="http://schemas.openxmlformats.org/officeDocument/2006/relationships/image" Target="../media/image.png" Id="Rc2c5c322fc1a4608" /><ns0:Relationship Type="http://schemas.openxmlformats.org/officeDocument/2006/relationships/notesSlide" Target="/ppt/notesSlides/notesSlide8.xml" Id="R9991cf7bf79a40b7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61b9a5bbf8a4067" /><ns0:Relationship Type="http://schemas.openxmlformats.org/officeDocument/2006/relationships/image" Target="../media/image.png" Id="Rd0160a6993c541dd" /><ns0:Relationship Type="http://schemas.openxmlformats.org/officeDocument/2006/relationships/notesSlide" Target="/ppt/notesSlides/notesSlide9.xml" Id="R9226a4dcaae64171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5c9905278e147a0" /><ns0:Relationship Type="http://schemas.openxmlformats.org/officeDocument/2006/relationships/image" Target="../media/image.png" Id="R18a63e3db11d465e" /><ns0:Relationship Type="http://schemas.openxmlformats.org/officeDocument/2006/relationships/notesSlide" Target="/ppt/notesSlides/notesSlide10.xml" Id="Rafc33e12b4fc42b9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110dbec6389c4725" /><ns0:Relationship Type="http://schemas.openxmlformats.org/officeDocument/2006/relationships/image" Target="../media/image.png" Id="R54dea71edfef4fc0" /><ns0:Relationship Type="http://schemas.openxmlformats.org/officeDocument/2006/relationships/notesSlide" Target="/ppt/notesSlides/notesSlide11.xml" Id="Rca59a9f9f56d4aff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d7d3e22dd7f4750" /><ns0:Relationship Type="http://schemas.openxmlformats.org/officeDocument/2006/relationships/image" Target="../media/image.png" Id="Rcc1dcf8c0ccc4cfa" /><ns0:Relationship Type="http://schemas.openxmlformats.org/officeDocument/2006/relationships/notesSlide" Target="/ppt/notesSlides/notesSlide12.xml" Id="R07e850e354d94889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56d12c4a34b43a2" /><ns0:Relationship Type="http://schemas.openxmlformats.org/officeDocument/2006/relationships/image" Target="../media/image.png" Id="Rbe3914e77885490c" /><ns0:Relationship Type="http://schemas.openxmlformats.org/officeDocument/2006/relationships/notesSlide" Target="/ppt/notesSlides/notesSlide13.xml" Id="R019225acb9cb4c9a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b47a4d6b9ed43dd" /><ns0:Relationship Type="http://schemas.openxmlformats.org/officeDocument/2006/relationships/image" Target="../media/image.png" Id="Rbf7c05419ec34d76" /><ns0:Relationship Type="http://schemas.openxmlformats.org/officeDocument/2006/relationships/image" Target="/ppt/media/image3.jpeg" Id="Rf30d4a76c6594916" /><ns0:Relationship Type="http://schemas.openxmlformats.org/officeDocument/2006/relationships/notesSlide" Target="/ppt/notesSlides/notesSlide14.xml" Id="Re305d4f08b0c472f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运行通过</c:v>
          </c:tx>
          <c:spPr>
            <a:solidFill xmlns:a="http://schemas.openxmlformats.org/drawingml/2006/main">
              <a:srgbClr val="9FBAA5"/>
            </a:solidFill>
            <a:ln xmlns:a="http://schemas.openxmlformats.org/drawingml/2006/main" w="19050">
              <a:solidFill>
                <a:srgbClr val="397B60"/>
              </a:solidFill>
              <a:prstDash val="solid"/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SDK 1.2.0</c:v>
                </c:pt>
                <c:pt idx="1">
                  <c:v>SDK 1.1.3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v>仅编译</c:v>
          </c:tx>
          <c:spPr>
            <a:solidFill xmlns:a="http://schemas.openxmlformats.org/drawingml/2006/main">
              <a:srgbClr val="EFD18C"/>
            </a:solidFill>
            <a:ln xmlns:a="http://schemas.openxmlformats.org/drawingml/2006/main" w="19050">
              <a:solidFill>
                <a:srgbClr val="A87630"/>
              </a:solidFill>
              <a:prstDash val="solid"/>
            </a:ln>
          </c:spPr>
          <c:invertIfNegative val="0"/>
          <c:cat>
            <c:strRef>
              <c:f>'Chart Data'!$C$2:$C$3</c:f>
              <c:strCache>
                <c:ptCount val="2"/>
                <c:pt idx="0">
                  <c:v>SDK 1.2.0</c:v>
                </c:pt>
                <c:pt idx="1">
                  <c:v>SDK 1.1.3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2A302D"/>
                  </a:solidFill>
                  <a:latin typeface="Chalkboard SE"/>
                  <a:ea typeface="Chalkboard SE"/>
                  <a:cs typeface="Chalkboard SE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2C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2A302D"/>
              </a:solidFill>
              <a:latin typeface="Ma Shan Zheng"/>
              <a:ea typeface="Ma Shan Zheng"/>
              <a:cs typeface="Ma Shan Zheng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73A7B-A7DC-4B36-BF09-09BCB6972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0c4b4be4646e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BF453524-023A-4676-8D0C-D75374DA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1 / 10">
            <a:extLst xmlns:a="http://schemas.openxmlformats.org/drawingml/2006/main">
              <a:ext uri="{FF2B5EF4-FFF2-40B4-BE49-F238E27FC236}">
                <a16:creationId xmlns:a16="http://schemas.microsoft.com/office/drawing/2014/main" id="{8B2F7748-A371-4D37-AD5E-10C32CDC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01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0616A93E-957E-4CE8-908C-82E92B1C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657350" cy="304800"/>
          </a:xfrm>
          <a:custGeom xmlns:a="http://schemas.openxmlformats.org/drawingml/2006/main">
            <a:pathLst>
              <a:path w="1657350" h="304800">
                <a:moveTo>
                  <a:pt x="0" y="28575"/>
                </a:moveTo>
                <a:lnTo>
                  <a:pt x="1609725" y="0"/>
                </a:lnTo>
                <a:lnTo>
                  <a:pt x="1657350" y="276225"/>
                </a:lnTo>
                <a:lnTo>
                  <a:pt x="38100" y="304800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决赛答辩">
            <a:extLst xmlns:a="http://schemas.openxmlformats.org/drawingml/2006/main">
              <a:ext uri="{FF2B5EF4-FFF2-40B4-BE49-F238E27FC236}">
                <a16:creationId xmlns:a16="http://schemas.microsoft.com/office/drawing/2014/main" id="{50A2A9CE-B1A0-45A8-998F-CA7165C8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81050"/>
            <a:ext cx="328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决赛答辩</a:t>
            </a:r>
          </a:p>
        </p:txBody>
      </p:sp>
      <p:sp>
        <p:nvSpPr>
          <p:cNvPr id="6" name="CJ-DocGuard">
            <a:extLst xmlns:a="http://schemas.openxmlformats.org/drawingml/2006/main">
              <a:ext uri="{FF2B5EF4-FFF2-40B4-BE49-F238E27FC236}">
                <a16:creationId xmlns:a16="http://schemas.microsoft.com/office/drawing/2014/main" id="{F46A708A-5F93-4A65-80F6-FFC279E5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847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pPr>
            <a:r>
              <a:rPr sz="5850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rPr>
              <a:t>CJ-DocGuard</a:t>
            </a:r>
          </a:p>
        </p:txBody>
      </p:sp>
      <p:sp>
        <p:nvSpPr>
          <p:cNvPr id="7" name="仓颉项目级 API&#10;文档生成及测试">
            <a:extLst xmlns:a="http://schemas.openxmlformats.org/drawingml/2006/main">
              <a:ext uri="{FF2B5EF4-FFF2-40B4-BE49-F238E27FC236}">
                <a16:creationId xmlns:a16="http://schemas.microsoft.com/office/drawing/2014/main" id="{554D96D1-8FB6-402D-B858-6A48E505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7239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仓颉项目级 API</a:t>
            </a:r>
          </a:p>
          <a:p xmlns:a="http://schemas.openxmlformats.org/drawingml/2006/main">
            <a: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文档生成及测试</a:t>
            </a:r>
          </a:p>
        </p:txBody>
      </p:sp>
      <p:sp>
        <p:nvSpPr>
          <p:cNvPr id="8" name="马克笔下划线">
            <a:extLst xmlns:a="http://schemas.openxmlformats.org/drawingml/2006/main">
              <a:ext uri="{FF2B5EF4-FFF2-40B4-BE49-F238E27FC236}">
                <a16:creationId xmlns:a16="http://schemas.microsoft.com/office/drawing/2014/main" id="{4630347F-B7F8-430B-BBC1-E0CED62C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6210300" cy="76200"/>
          </a:xfrm>
          <a:custGeom xmlns:a="http://schemas.openxmlformats.org/drawingml/2006/main">
            <a:pathLst>
              <a:path w="6210300" h="76200">
                <a:moveTo>
                  <a:pt x="9525" y="38100"/>
                </a:moveTo>
                <a:cubicBezTo>
                  <a:pt x="1738884" y="0"/>
                  <a:pt x="3912489" y="76200"/>
                  <a:pt x="6200775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8638C"/>
            </a:solidFill>
            <a:prstDash val="solid"/>
          </a:ln>
        </p:spPr>
      </p:sp>
      <p:sp>
        <p:nvSpPr>
          <p:cNvPr id="9" name="生成文档 → 运行示例 → 检查版本与链接">
            <a:extLst xmlns:a="http://schemas.openxmlformats.org/drawingml/2006/main">
              <a:ext uri="{FF2B5EF4-FFF2-40B4-BE49-F238E27FC236}">
                <a16:creationId xmlns:a16="http://schemas.microsoft.com/office/drawing/2014/main" id="{C41E4EA6-563C-4149-B3BE-047FB00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生成文档 → 运行示例 → 检查版本与链接</a:t>
            </a:r>
          </a:p>
        </p:txBody>
      </p:sp>
      <p:sp>
        <p:nvSpPr>
          <p:cNvPr id="10" name="47">
            <a:extLst xmlns:a="http://schemas.openxmlformats.org/drawingml/2006/main">
              <a:ext uri="{FF2B5EF4-FFF2-40B4-BE49-F238E27FC236}">
                <a16:creationId xmlns:a16="http://schemas.microsoft.com/office/drawing/2014/main" id="{7EF6E2C8-AE5D-49AC-9DFC-8D061B86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47</a:t>
            </a:r>
          </a:p>
        </p:txBody>
      </p:sp>
      <p:sp>
        <p:nvSpPr>
          <p:cNvPr id="11" name="公共接口">
            <a:extLst xmlns:a="http://schemas.openxmlformats.org/drawingml/2006/main">
              <a:ext uri="{FF2B5EF4-FFF2-40B4-BE49-F238E27FC236}">
                <a16:creationId xmlns:a16="http://schemas.microsoft.com/office/drawing/2014/main" id="{332938FA-830E-4D05-9BA8-A39C248A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674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公共接口</a:t>
            </a:r>
          </a:p>
        </p:txBody>
      </p:sp>
      <p:sp>
        <p:nvSpPr>
          <p:cNvPr id="12" name="14">
            <a:extLst xmlns:a="http://schemas.openxmlformats.org/drawingml/2006/main">
              <a:ext uri="{FF2B5EF4-FFF2-40B4-BE49-F238E27FC236}">
                <a16:creationId xmlns:a16="http://schemas.microsoft.com/office/drawing/2014/main" id="{06348475-A1B5-442B-9291-E0BB357C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42925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14</a:t>
            </a:r>
          </a:p>
        </p:txBody>
      </p:sp>
      <p:sp>
        <p:nvSpPr>
          <p:cNvPr id="13" name="登记示例">
            <a:extLst xmlns:a="http://schemas.openxmlformats.org/drawingml/2006/main">
              <a:ext uri="{FF2B5EF4-FFF2-40B4-BE49-F238E27FC236}">
                <a16:creationId xmlns:a16="http://schemas.microsoft.com/office/drawing/2014/main" id="{3BEF4A18-945C-4642-9284-134C5F97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26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登记示例</a:t>
            </a:r>
          </a:p>
        </p:txBody>
      </p:sp>
      <p:sp>
        <p:nvSpPr>
          <p:cNvPr id="14" name="2">
            <a:extLst xmlns:a="http://schemas.openxmlformats.org/drawingml/2006/main">
              <a:ext uri="{FF2B5EF4-FFF2-40B4-BE49-F238E27FC236}">
                <a16:creationId xmlns:a16="http://schemas.microsoft.com/office/drawing/2014/main" id="{544F4778-3D04-4627-9865-8AE803A1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292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5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2</a:t>
            </a:r>
          </a:p>
        </p:txBody>
      </p:sp>
      <p:sp>
        <p:nvSpPr>
          <p:cNvPr id="15" name="SDK 版本">
            <a:extLst xmlns:a="http://schemas.openxmlformats.org/drawingml/2006/main">
              <a:ext uri="{FF2B5EF4-FFF2-40B4-BE49-F238E27FC236}">
                <a16:creationId xmlns:a16="http://schemas.microsoft.com/office/drawing/2014/main" id="{126230EA-DB3C-4D09-AF8A-947A4416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2674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SDK 版本</a:t>
            </a:r>
          </a:p>
        </p:txBody>
      </p:sp>
      <p:sp>
        <p:nvSpPr>
          <p:cNvPr id="16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27F22610-971A-40F9-864C-C51028B1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05025"/>
            <a:ext cx="2152650" cy="1638300"/>
          </a:xfrm>
          <a:custGeom xmlns:a="http://schemas.openxmlformats.org/drawingml/2006/main">
            <a:pathLst>
              <a:path w="2152650" h="1638300">
                <a:moveTo>
                  <a:pt x="38100" y="28575"/>
                </a:moveTo>
                <a:cubicBezTo>
                  <a:pt x="602742" y="0"/>
                  <a:pt x="1463802" y="57150"/>
                  <a:pt x="2124075" y="19050"/>
                </a:cubicBezTo>
                <a:cubicBezTo>
                  <a:pt x="2162175" y="458724"/>
                  <a:pt x="2114550" y="1228725"/>
                  <a:pt x="2143125" y="1609725"/>
                </a:cubicBezTo>
                <a:cubicBezTo>
                  <a:pt x="1420749" y="1647825"/>
                  <a:pt x="624268" y="1600200"/>
                  <a:pt x="19050" y="1628775"/>
                </a:cubicBezTo>
                <a:cubicBezTo>
                  <a:pt x="47625" y="1146810"/>
                  <a:pt x="0" y="491490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4"/>
          </a:solidFill>
          <a:ln xmlns:a="http://schemas.openxmlformats.org/drawingml/2006/main" w="28575">
            <a:solidFill>
              <a:srgbClr val="2863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31593-3695-4A25-83F0-45904547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05025"/>
            <a:ext cx="2152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API">
            <a:extLst xmlns:a="http://schemas.openxmlformats.org/drawingml/2006/main">
              <a:ext uri="{FF2B5EF4-FFF2-40B4-BE49-F238E27FC236}">
                <a16:creationId xmlns:a16="http://schemas.microsoft.com/office/drawing/2014/main" id="{4DE79AA4-01F8-4F91-B857-D8ABAE5B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1266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2925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API</a:t>
            </a:r>
          </a:p>
        </p:txBody>
      </p:sp>
      <p:sp>
        <p:nvSpPr>
          <p:cNvPr id="19" name="马克笔下划线">
            <a:extLst xmlns:a="http://schemas.openxmlformats.org/drawingml/2006/main">
              <a:ext uri="{FF2B5EF4-FFF2-40B4-BE49-F238E27FC236}">
                <a16:creationId xmlns:a16="http://schemas.microsoft.com/office/drawing/2014/main" id="{7C5B2897-BBA8-4ECA-B0DF-78CC467D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304925" cy="76200"/>
          </a:xfrm>
          <a:custGeom xmlns:a="http://schemas.openxmlformats.org/drawingml/2006/main">
            <a:pathLst>
              <a:path w="1304925" h="76200">
                <a:moveTo>
                  <a:pt x="9525" y="38100"/>
                </a:moveTo>
                <a:cubicBezTo>
                  <a:pt x="365379" y="0"/>
                  <a:pt x="822103" y="76200"/>
                  <a:pt x="129540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8638C"/>
            </a:solidFill>
            <a:prstDash val="solid"/>
          </a:ln>
        </p:spPr>
      </p:sp>
      <p:sp>
        <p:nvSpPr>
          <p:cNvPr id="20" name="马克笔下划线">
            <a:extLst xmlns:a="http://schemas.openxmlformats.org/drawingml/2006/main">
              <a:ext uri="{FF2B5EF4-FFF2-40B4-BE49-F238E27FC236}">
                <a16:creationId xmlns:a16="http://schemas.microsoft.com/office/drawing/2014/main" id="{B3D50929-798C-4B32-840D-25244878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990600" cy="76200"/>
          </a:xfrm>
          <a:custGeom xmlns:a="http://schemas.openxmlformats.org/drawingml/2006/main">
            <a:pathLst>
              <a:path w="990600" h="76200">
                <a:moveTo>
                  <a:pt x="9525" y="38100"/>
                </a:moveTo>
                <a:cubicBezTo>
                  <a:pt x="277368" y="0"/>
                  <a:pt x="624078" y="76200"/>
                  <a:pt x="981075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8638C"/>
            </a:solidFill>
            <a:prstDash val="solid"/>
          </a:ln>
        </p:spPr>
      </p:sp>
      <p:sp>
        <p:nvSpPr>
          <p:cNvPr id="21" name="手绘圈注">
            <a:extLst xmlns:a="http://schemas.openxmlformats.org/drawingml/2006/main">
              <a:ext uri="{FF2B5EF4-FFF2-40B4-BE49-F238E27FC236}">
                <a16:creationId xmlns:a16="http://schemas.microsoft.com/office/drawing/2014/main" id="{ED8B56F5-92AA-467A-BA3F-49E7873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81200"/>
            <a:ext cx="2543175" cy="1914525"/>
          </a:xfrm>
          <a:custGeom xmlns:a="http://schemas.openxmlformats.org/drawingml/2006/main">
            <a:pathLst>
              <a:path w="2543175" h="1914525">
                <a:moveTo>
                  <a:pt x="1525905" y="38100"/>
                </a:moveTo>
                <a:cubicBezTo>
                  <a:pt x="330613" y="-19050"/>
                  <a:pt x="-76200" y="421196"/>
                  <a:pt x="38100" y="1033844"/>
                </a:cubicBezTo>
                <a:cubicBezTo>
                  <a:pt x="0" y="1723073"/>
                  <a:pt x="1220724" y="1981200"/>
                  <a:pt x="2059972" y="1876425"/>
                </a:cubicBezTo>
                <a:cubicBezTo>
                  <a:pt x="2619375" y="1723073"/>
                  <a:pt x="2581275" y="421196"/>
                  <a:pt x="1983677" y="47625"/>
                </a:cubicBezTo>
                <a:cubicBezTo>
                  <a:pt x="1653064" y="0"/>
                  <a:pt x="1068134" y="0"/>
                  <a:pt x="712089" y="76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8638C"/>
            </a:solidFill>
            <a:prstDash val="solid"/>
          </a:ln>
        </p:spPr>
      </p:sp>
      <p:sp>
        <p:nvSpPr>
          <p:cNvPr id="22" name="本地工作台">
            <a:extLst xmlns:a="http://schemas.openxmlformats.org/drawingml/2006/main">
              <a:ext uri="{FF2B5EF4-FFF2-40B4-BE49-F238E27FC236}">
                <a16:creationId xmlns:a16="http://schemas.microsoft.com/office/drawing/2014/main" id="{93713294-187E-46DA-BC88-96C76993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48125"/>
            <a:ext cx="2638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本地工作台</a:t>
            </a:r>
          </a:p>
        </p:txBody>
      </p:sp>
    </p:spTree>
    <p:extLst>
      <p:ext uri="{BB962C8B-B14F-4D97-AF65-F5344CB8AC3E}">
        <p14:creationId xmlns:p14="http://schemas.microsoft.com/office/powerpoint/2010/main" val="1764493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54CD3-DC70-4250-BF23-B5F3CCE66B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fa3e764b341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6DD04422-A602-4EA8-A843-A4C5CAED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2 / 10">
            <a:extLst xmlns:a="http://schemas.openxmlformats.org/drawingml/2006/main">
              <a:ext uri="{FF2B5EF4-FFF2-40B4-BE49-F238E27FC236}">
                <a16:creationId xmlns:a16="http://schemas.microsoft.com/office/drawing/2014/main" id="{1D5A7318-FBAC-4E24-8A86-7B70B7B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02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73926976-5617-4EF7-855B-F7D43ADC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2790825" cy="219075"/>
          </a:xfrm>
          <a:custGeom xmlns:a="http://schemas.openxmlformats.org/drawingml/2006/main">
            <a:pathLst>
              <a:path w="2790825" h="219075">
                <a:moveTo>
                  <a:pt x="0" y="28575"/>
                </a:moveTo>
                <a:lnTo>
                  <a:pt x="2743200" y="0"/>
                </a:lnTo>
                <a:lnTo>
                  <a:pt x="27908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赛题的三项交付">
            <a:extLst xmlns:a="http://schemas.openxmlformats.org/drawingml/2006/main">
              <a:ext uri="{FF2B5EF4-FFF2-40B4-BE49-F238E27FC236}">
                <a16:creationId xmlns:a16="http://schemas.microsoft.com/office/drawing/2014/main" id="{8E5BC34D-B986-4856-BC43-48E34C38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赛题的三项交付</a:t>
            </a:r>
          </a:p>
        </p:txBody>
      </p:sp>
      <p:sp>
        <p:nvSpPr>
          <p:cNvPr id="6" name="从网页入口，到真正生成和检查的内容">
            <a:extLst xmlns:a="http://schemas.openxmlformats.org/drawingml/2006/main">
              <a:ext uri="{FF2B5EF4-FFF2-40B4-BE49-F238E27FC236}">
                <a16:creationId xmlns:a16="http://schemas.microsoft.com/office/drawing/2014/main" id="{3C60CF1A-42E6-4CD6-A6BA-A510E03B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从网页入口，到真正生成和检查的内容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E8D8F-8BA9-4FFB-A265-92D0E2FB3801}"/>
              </a:ext>
            </a:extLst>
          </p:cNvPr>
          <p:cNvGraphicFramePr/>
          <p:nvPr/>
        </p:nvGraphicFramePr>
        <p:xfrm>
          <a:off xmlns:a="http://schemas.openxmlformats.org/drawingml/2006/main" x="704850" y="2105025"/>
          <a:ext xmlns:a="http://schemas.openxmlformats.org/drawingml/2006/main" cx="107823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000375"/>
                <a:gridCol w="4829175"/>
              </a:tblGrid>
              <a:tr h="8191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赛题交付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网页入口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实际产物 / 检查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8191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结构化 API 文档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接口文档 / 源码编辑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声明、参数、返回类型</a:t>
                      </a:r>
                    </a:p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关联示例与源码位置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8191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示例正确性测试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示例测试 / 任务中心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真实编译、运行</a:t>
                      </a:r>
                    </a:p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输出检查与执行记录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81915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版本关系</a:t>
                      </a:r>
                    </a:p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与索引链接测试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测试矩阵</a:t>
                      </a:r>
                    </a:p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链接与问题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独立版本结果</a:t>
                      </a:r>
                    </a:p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文件、锚点与来源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C3482C39-1E67-4970-A328-8688324E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820400" cy="3314700"/>
          </a:xfrm>
          <a:custGeom xmlns:a="http://schemas.openxmlformats.org/drawingml/2006/main">
            <a:pathLst>
              <a:path w="10820400" h="3314700">
                <a:moveTo>
                  <a:pt x="38100" y="28575"/>
                </a:moveTo>
                <a:cubicBezTo>
                  <a:pt x="3029712" y="0"/>
                  <a:pt x="7357872" y="57150"/>
                  <a:pt x="10791825" y="19050"/>
                </a:cubicBezTo>
                <a:cubicBezTo>
                  <a:pt x="10829925" y="928116"/>
                  <a:pt x="10782300" y="2486025"/>
                  <a:pt x="10810875" y="3286125"/>
                </a:cubicBezTo>
                <a:cubicBezTo>
                  <a:pt x="7141464" y="3324225"/>
                  <a:pt x="3137916" y="3276600"/>
                  <a:pt x="19050" y="3305175"/>
                </a:cubicBezTo>
                <a:cubicBezTo>
                  <a:pt x="47625" y="2320290"/>
                  <a:pt x="0" y="99441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7E0B7-762D-4DB0-9FAD-6391F5BD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82040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8BF7E70D-BC40-4257-B7DA-3803871A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43575"/>
            <a:ext cx="6429375" cy="238125"/>
          </a:xfrm>
          <a:custGeom xmlns:a="http://schemas.openxmlformats.org/drawingml/2006/main">
            <a:pathLst>
              <a:path w="6429375" h="238125">
                <a:moveTo>
                  <a:pt x="0" y="28575"/>
                </a:moveTo>
                <a:lnTo>
                  <a:pt x="6381750" y="0"/>
                </a:lnTo>
                <a:lnTo>
                  <a:pt x="6429375" y="209550"/>
                </a:lnTo>
                <a:lnTo>
                  <a:pt x="38100" y="238125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三项能力，都能从工作台完整操作。">
            <a:extLst xmlns:a="http://schemas.openxmlformats.org/drawingml/2006/main">
              <a:ext uri="{FF2B5EF4-FFF2-40B4-BE49-F238E27FC236}">
                <a16:creationId xmlns:a16="http://schemas.microsoft.com/office/drawing/2014/main" id="{E38895B0-7836-4C5A-AE81-9CEB2B4C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990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三项能力，都能从工作台完整操作。</a:t>
            </a:r>
          </a:p>
        </p:txBody>
      </p:sp>
      <p:sp>
        <p:nvSpPr>
          <p:cNvPr id="12" name="API：应用程序接口；SDK：仓颉编译器、运行库等开发工具。">
            <a:extLst xmlns:a="http://schemas.openxmlformats.org/drawingml/2006/main">
              <a:ext uri="{FF2B5EF4-FFF2-40B4-BE49-F238E27FC236}">
                <a16:creationId xmlns:a16="http://schemas.microsoft.com/office/drawing/2014/main" id="{396B8E45-1BBA-495C-A28D-4341B93A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62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7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API：应用程序接口；SDK：仓颉编译器、运行库等开发工具。</a:t>
            </a:r>
          </a:p>
        </p:txBody>
      </p:sp>
    </p:spTree>
    <p:extLst>
      <p:ext uri="{BB962C8B-B14F-4D97-AF65-F5344CB8AC3E}">
        <p14:creationId xmlns:p14="http://schemas.microsoft.com/office/powerpoint/2010/main" val="119799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D071A-EA41-4FDC-AF02-233E4D7E3E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af9c52cac499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41E31C72-FB1C-40A4-A137-FA593C30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3 / 10">
            <a:extLst xmlns:a="http://schemas.openxmlformats.org/drawingml/2006/main">
              <a:ext uri="{FF2B5EF4-FFF2-40B4-BE49-F238E27FC236}">
                <a16:creationId xmlns:a16="http://schemas.microsoft.com/office/drawing/2014/main" id="{EFADD021-E53C-47D7-9ED2-F4049674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03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487D4D65-9101-446E-958C-E0E94B29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3495675" cy="219075"/>
          </a:xfrm>
          <a:custGeom xmlns:a="http://schemas.openxmlformats.org/drawingml/2006/main">
            <a:pathLst>
              <a:path w="3495675" h="219075">
                <a:moveTo>
                  <a:pt x="0" y="28575"/>
                </a:moveTo>
                <a:lnTo>
                  <a:pt x="3448050" y="0"/>
                </a:lnTo>
                <a:lnTo>
                  <a:pt x="349567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接口说明与关联示例">
            <a:extLst xmlns:a="http://schemas.openxmlformats.org/drawingml/2006/main">
              <a:ext uri="{FF2B5EF4-FFF2-40B4-BE49-F238E27FC236}">
                <a16:creationId xmlns:a16="http://schemas.microsoft.com/office/drawing/2014/main" id="{E7FEC958-5766-4013-9E18-C47A21F4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接口说明与关联示例</a:t>
            </a:r>
          </a:p>
        </p:txBody>
      </p:sp>
      <p:sp>
        <p:nvSpPr>
          <p:cNvPr id="6" name="检索 add，直接看到声明、参数、返回类型与来源">
            <a:extLst xmlns:a="http://schemas.openxmlformats.org/drawingml/2006/main">
              <a:ext uri="{FF2B5EF4-FFF2-40B4-BE49-F238E27FC236}">
                <a16:creationId xmlns:a16="http://schemas.microsoft.com/office/drawing/2014/main" id="{82CE3190-9E99-44CB-8578-B430D14B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检索 add，直接看到声明、参数、返回类型与来源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AEFB98B-3917-4C4C-85E6-6936628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5975"/>
            <a:ext cx="4791075" cy="1819275"/>
          </a:xfrm>
          <a:custGeom xmlns:a="http://schemas.openxmlformats.org/drawingml/2006/main">
            <a:pathLst>
              <a:path w="4791075" h="1819275">
                <a:moveTo>
                  <a:pt x="38100" y="28575"/>
                </a:moveTo>
                <a:cubicBezTo>
                  <a:pt x="1341501" y="0"/>
                  <a:pt x="3257931" y="57150"/>
                  <a:pt x="4762500" y="19050"/>
                </a:cubicBezTo>
                <a:cubicBezTo>
                  <a:pt x="4800600" y="509397"/>
                  <a:pt x="4752975" y="1364456"/>
                  <a:pt x="4781550" y="1790700"/>
                </a:cubicBezTo>
                <a:cubicBezTo>
                  <a:pt x="3162110" y="1828800"/>
                  <a:pt x="1389412" y="1781175"/>
                  <a:pt x="19050" y="1809750"/>
                </a:cubicBezTo>
                <a:cubicBezTo>
                  <a:pt x="47625" y="1273493"/>
                  <a:pt x="0" y="545783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863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F9B9F-5E7C-47FC-9CFD-B8C55D91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5975"/>
            <a:ext cx="4791075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dd">
            <a:extLst xmlns:a="http://schemas.openxmlformats.org/drawingml/2006/main">
              <a:ext uri="{FF2B5EF4-FFF2-40B4-BE49-F238E27FC236}">
                <a16:creationId xmlns:a16="http://schemas.microsoft.com/office/drawing/2014/main" id="{6CD0693C-6D8E-4FD9-ACBC-2DF58A0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4124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255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add</a:t>
            </a:r>
          </a:p>
        </p:txBody>
      </p:sp>
      <p:sp>
        <p:nvSpPr>
          <p:cNvPr id="10" name="public func add(&#10;  a: Int64, b: Int64&#10;): Int64">
            <a:extLst xmlns:a="http://schemas.openxmlformats.org/drawingml/2006/main">
              <a:ext uri="{FF2B5EF4-FFF2-40B4-BE49-F238E27FC236}">
                <a16:creationId xmlns:a16="http://schemas.microsoft.com/office/drawing/2014/main" id="{311B66F7-2BEA-43DC-89AA-ED80222B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4305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public func add(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  a: Int64, b: Int64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): Int64</a:t>
            </a:r>
          </a:p>
        </p:txBody>
      </p:sp>
      <p:sp>
        <p:nvSpPr>
          <p:cNvPr id="11" name="参数  a、b：Int64">
            <a:extLst xmlns:a="http://schemas.openxmlformats.org/drawingml/2006/main">
              <a:ext uri="{FF2B5EF4-FFF2-40B4-BE49-F238E27FC236}">
                <a16:creationId xmlns:a16="http://schemas.microsoft.com/office/drawing/2014/main" id="{13517749-9A1D-408B-8000-72483F7A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4676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参数  a、b：Int64</a:t>
            </a:r>
          </a:p>
        </p:txBody>
      </p:sp>
      <p:sp>
        <p:nvSpPr>
          <p:cNvPr id="12" name="马克笔下划线">
            <a:extLst xmlns:a="http://schemas.openxmlformats.org/drawingml/2006/main">
              <a:ext uri="{FF2B5EF4-FFF2-40B4-BE49-F238E27FC236}">
                <a16:creationId xmlns:a16="http://schemas.microsoft.com/office/drawing/2014/main" id="{647E70BC-17B3-4F69-9ADC-F819D5A3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38675"/>
            <a:ext cx="3743325" cy="76200"/>
          </a:xfrm>
          <a:custGeom xmlns:a="http://schemas.openxmlformats.org/drawingml/2006/main">
            <a:pathLst>
              <a:path w="3743325" h="76200">
                <a:moveTo>
                  <a:pt x="9525" y="38100"/>
                </a:moveTo>
                <a:cubicBezTo>
                  <a:pt x="1048131" y="0"/>
                  <a:pt x="2358295" y="76200"/>
                  <a:pt x="373380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8638C"/>
            </a:solidFill>
            <a:prstDash val="solid"/>
          </a:ln>
        </p:spPr>
      </p:sp>
      <p:sp>
        <p:nvSpPr>
          <p:cNvPr id="13" name="返回  Int64">
            <a:extLst xmlns:a="http://schemas.openxmlformats.org/drawingml/2006/main">
              <a:ext uri="{FF2B5EF4-FFF2-40B4-BE49-F238E27FC236}">
                <a16:creationId xmlns:a16="http://schemas.microsoft.com/office/drawing/2014/main" id="{F6CE7994-16BC-42EB-88B6-D39E06EA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返回  Int64</a:t>
            </a:r>
          </a:p>
        </p:txBody>
      </p:sp>
      <p:sp>
        <p:nvSpPr>
          <p:cNvPr id="14" name="关联示例">
            <a:extLst xmlns:a="http://schemas.openxmlformats.org/drawingml/2006/main">
              <a:ext uri="{FF2B5EF4-FFF2-40B4-BE49-F238E27FC236}">
                <a16:creationId xmlns:a16="http://schemas.microsoft.com/office/drawing/2014/main" id="{190E465B-15BD-4EBA-86E4-EFC085B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关联示例</a:t>
            </a:r>
          </a:p>
        </p:txBody>
      </p:sp>
      <p:sp>
        <p:nvSpPr>
          <p:cNvPr id="15" name="arithmetic / snippet-wrapper">
            <a:extLst xmlns:a="http://schemas.openxmlformats.org/drawingml/2006/main">
              <a:ext uri="{FF2B5EF4-FFF2-40B4-BE49-F238E27FC236}">
                <a16:creationId xmlns:a16="http://schemas.microsoft.com/office/drawing/2014/main" id="{880E566F-4893-4A13-806F-7B0675AD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defRPr>
            </a:pPr>
            <a:r>
              <a:rPr sz="1875" b="0">
                <a:solidFill>
                  <a:srgbClr val="626B67"/>
                </a:solidFill>
                <a:latin typeface="Chalkboard SE"/>
                <a:ea typeface="Chalkboard SE"/>
                <a:cs typeface="Chalkboard SE"/>
              </a:rPr>
              <a:t>arithmetic / snippet-wrapper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2CCA8-2559-416D-9E47-3C710962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19300"/>
            <a:ext cx="54578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1F826-899B-40C8-8376-54E744EAF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f01fae0644697"/>
          <a:srcRect xmlns:a="http://schemas.openxmlformats.org/drawingml/2006/main" l="41400" t="33000" r="0" b="8000"/>
          <a:stretch xmlns:a="http://schemas.openxmlformats.org/drawingml/2006/main"/>
        </p:blipFill>
        <p:spPr>
          <a:xfrm xmlns:a="http://schemas.openxmlformats.org/drawingml/2006/main">
            <a:off x="6143625" y="2133600"/>
            <a:ext cx="5229225" cy="4010025"/>
          </a:xfrm>
          <a:prstGeom xmlns:a="http://schemas.openxmlformats.org/drawingml/2006/main" prst="rect">
            <a:avLst/>
          </a:prstGeom>
        </p:spPr>
      </p:pic>
      <p:sp>
        <p:nvSpPr>
          <p:cNvPr id="1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0D9DFD61-8F99-4746-AB1B-2F979988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19300"/>
            <a:ext cx="5476875" cy="4257675"/>
          </a:xfrm>
          <a:custGeom xmlns:a="http://schemas.openxmlformats.org/drawingml/2006/main">
            <a:pathLst>
              <a:path w="5476875" h="4257675">
                <a:moveTo>
                  <a:pt x="38100" y="28575"/>
                </a:moveTo>
                <a:cubicBezTo>
                  <a:pt x="1533525" y="0"/>
                  <a:pt x="3724275" y="57150"/>
                  <a:pt x="5448300" y="19050"/>
                </a:cubicBezTo>
                <a:cubicBezTo>
                  <a:pt x="5486400" y="1192149"/>
                  <a:pt x="5438775" y="3193256"/>
                  <a:pt x="5467350" y="4229100"/>
                </a:cubicBezTo>
                <a:cubicBezTo>
                  <a:pt x="3614738" y="4267200"/>
                  <a:pt x="1588294" y="4219575"/>
                  <a:pt x="19050" y="4248150"/>
                </a:cubicBezTo>
                <a:cubicBezTo>
                  <a:pt x="47625" y="2980373"/>
                  <a:pt x="0" y="127730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5BBF7-904F-4F65-9813-918AD8B3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19300"/>
            <a:ext cx="5476875" cy="425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3697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311827-9849-4BAC-B6D3-433FF02567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20c11f054469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91DDC13E-74B7-4094-B089-A16BCB84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4 / 10">
            <a:extLst xmlns:a="http://schemas.openxmlformats.org/drawingml/2006/main">
              <a:ext uri="{FF2B5EF4-FFF2-40B4-BE49-F238E27FC236}">
                <a16:creationId xmlns:a16="http://schemas.microsoft.com/office/drawing/2014/main" id="{8ABF9744-2EB3-453A-A914-BADF33C7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04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5554F726-D60B-4309-A708-74E7946A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552950" cy="219075"/>
          </a:xfrm>
          <a:custGeom xmlns:a="http://schemas.openxmlformats.org/drawingml/2006/main">
            <a:pathLst>
              <a:path w="4552950" h="219075">
                <a:moveTo>
                  <a:pt x="0" y="28575"/>
                </a:moveTo>
                <a:lnTo>
                  <a:pt x="4505325" y="0"/>
                </a:lnTo>
                <a:lnTo>
                  <a:pt x="455295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在网页完成一次查询与导出">
            <a:extLst xmlns:a="http://schemas.openxmlformats.org/drawingml/2006/main">
              <a:ext uri="{FF2B5EF4-FFF2-40B4-BE49-F238E27FC236}">
                <a16:creationId xmlns:a16="http://schemas.microsoft.com/office/drawing/2014/main" id="{90AA97CA-7843-4169-8A90-F0F43803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在网页完成一次查询与导出</a:t>
            </a:r>
          </a:p>
        </p:txBody>
      </p:sp>
      <p:sp>
        <p:nvSpPr>
          <p:cNvPr id="6" name="现场操作约80秒：检索、查看矩阵、精确查询、下载 ZIP">
            <a:extLst xmlns:a="http://schemas.openxmlformats.org/drawingml/2006/main">
              <a:ext uri="{FF2B5EF4-FFF2-40B4-BE49-F238E27FC236}">
                <a16:creationId xmlns:a16="http://schemas.microsoft.com/office/drawing/2014/main" id="{6FCF272A-28B1-4D04-A5AD-AAEC122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现场操作约80秒：检索、查看矩阵、精确查询、下载 ZIP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523EBB54-695F-4F27-93D9-879C3146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428875" cy="1114425"/>
          </a:xfrm>
          <a:custGeom xmlns:a="http://schemas.openxmlformats.org/drawingml/2006/main">
            <a:pathLst>
              <a:path w="2428875" h="1114425">
                <a:moveTo>
                  <a:pt x="38100" y="28575"/>
                </a:moveTo>
                <a:cubicBezTo>
                  <a:pt x="680085" y="0"/>
                  <a:pt x="1651635" y="57150"/>
                  <a:pt x="2400300" y="19050"/>
                </a:cubicBezTo>
                <a:cubicBezTo>
                  <a:pt x="2438400" y="312039"/>
                  <a:pt x="2390775" y="835819"/>
                  <a:pt x="2419350" y="1085850"/>
                </a:cubicBezTo>
                <a:cubicBezTo>
                  <a:pt x="1603058" y="1123950"/>
                  <a:pt x="704374" y="1076325"/>
                  <a:pt x="19050" y="1104900"/>
                </a:cubicBezTo>
                <a:cubicBezTo>
                  <a:pt x="47625" y="780097"/>
                  <a:pt x="0" y="33432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9E8E7-A20D-4116-A13F-0E667E81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检索接口">
            <a:extLst xmlns:a="http://schemas.openxmlformats.org/drawingml/2006/main">
              <a:ext uri="{FF2B5EF4-FFF2-40B4-BE49-F238E27FC236}">
                <a16:creationId xmlns:a16="http://schemas.microsoft.com/office/drawing/2014/main" id="{FB8741C5-EA55-461A-AC3D-84846AAA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05050"/>
            <a:ext cx="2162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检索接口</a:t>
            </a:r>
          </a:p>
        </p:txBody>
      </p:sp>
      <p:sp>
        <p:nvSpPr>
          <p:cNvPr id="10" name="声明与示例">
            <a:extLst xmlns:a="http://schemas.openxmlformats.org/drawingml/2006/main">
              <a:ext uri="{FF2B5EF4-FFF2-40B4-BE49-F238E27FC236}">
                <a16:creationId xmlns:a16="http://schemas.microsoft.com/office/drawing/2014/main" id="{D523BB8C-BBB5-4D6D-8029-D0470998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62250"/>
            <a:ext cx="2181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声明与示例</a:t>
            </a:r>
          </a:p>
        </p:txBody>
      </p:sp>
      <p:sp>
        <p:nvSpPr>
          <p:cNvPr id="1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FE1F8744-7F37-44C9-8C8A-08040EF2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43125"/>
            <a:ext cx="2428875" cy="1114425"/>
          </a:xfrm>
          <a:custGeom xmlns:a="http://schemas.openxmlformats.org/drawingml/2006/main">
            <a:pathLst>
              <a:path w="2428875" h="1114425">
                <a:moveTo>
                  <a:pt x="38100" y="28575"/>
                </a:moveTo>
                <a:cubicBezTo>
                  <a:pt x="680085" y="0"/>
                  <a:pt x="1651635" y="57150"/>
                  <a:pt x="2400300" y="19050"/>
                </a:cubicBezTo>
                <a:cubicBezTo>
                  <a:pt x="2438400" y="312039"/>
                  <a:pt x="2390775" y="835819"/>
                  <a:pt x="2419350" y="1085850"/>
                </a:cubicBezTo>
                <a:cubicBezTo>
                  <a:pt x="1603058" y="1123950"/>
                  <a:pt x="704374" y="1076325"/>
                  <a:pt x="19050" y="1104900"/>
                </a:cubicBezTo>
                <a:cubicBezTo>
                  <a:pt x="47625" y="780097"/>
                  <a:pt x="0" y="33432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82A7E-BFB2-45D5-8332-19FE3A6B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431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查看矩阵">
            <a:extLst xmlns:a="http://schemas.openxmlformats.org/drawingml/2006/main">
              <a:ext uri="{FF2B5EF4-FFF2-40B4-BE49-F238E27FC236}">
                <a16:creationId xmlns:a16="http://schemas.microsoft.com/office/drawing/2014/main" id="{DC44500E-787C-4EEE-825D-1354620B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05050"/>
            <a:ext cx="2162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查看矩阵</a:t>
            </a:r>
          </a:p>
        </p:txBody>
      </p:sp>
      <p:sp>
        <p:nvSpPr>
          <p:cNvPr id="14" name="区分结果状态">
            <a:extLst xmlns:a="http://schemas.openxmlformats.org/drawingml/2006/main">
              <a:ext uri="{FF2B5EF4-FFF2-40B4-BE49-F238E27FC236}">
                <a16:creationId xmlns:a16="http://schemas.microsoft.com/office/drawing/2014/main" id="{70854DAE-72D4-4C9E-8CDB-321110F8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2181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区分结果状态</a:t>
            </a:r>
          </a:p>
        </p:txBody>
      </p:sp>
      <p:sp>
        <p:nvSpPr>
          <p:cNvPr id="1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2BC4CA3F-9638-472D-8D2C-648BE18B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43125"/>
            <a:ext cx="2428875" cy="1114425"/>
          </a:xfrm>
          <a:custGeom xmlns:a="http://schemas.openxmlformats.org/drawingml/2006/main">
            <a:pathLst>
              <a:path w="2428875" h="1114425">
                <a:moveTo>
                  <a:pt x="38100" y="28575"/>
                </a:moveTo>
                <a:cubicBezTo>
                  <a:pt x="680085" y="0"/>
                  <a:pt x="1651635" y="57150"/>
                  <a:pt x="2400300" y="19050"/>
                </a:cubicBezTo>
                <a:cubicBezTo>
                  <a:pt x="2438400" y="312039"/>
                  <a:pt x="2390775" y="835819"/>
                  <a:pt x="2419350" y="1085850"/>
                </a:cubicBezTo>
                <a:cubicBezTo>
                  <a:pt x="1603058" y="1123950"/>
                  <a:pt x="704374" y="1076325"/>
                  <a:pt x="19050" y="1104900"/>
                </a:cubicBezTo>
                <a:cubicBezTo>
                  <a:pt x="47625" y="780097"/>
                  <a:pt x="0" y="334328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EACA6-785A-4BFA-99C8-48B20B80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431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精确查询">
            <a:extLst xmlns:a="http://schemas.openxmlformats.org/drawingml/2006/main">
              <a:ext uri="{FF2B5EF4-FFF2-40B4-BE49-F238E27FC236}">
                <a16:creationId xmlns:a16="http://schemas.microsoft.com/office/drawing/2014/main" id="{171F68E8-5DE3-4334-BB3C-28DD0DCA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05050"/>
            <a:ext cx="2162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精确查询</a:t>
            </a:r>
          </a:p>
        </p:txBody>
      </p:sp>
      <p:sp>
        <p:nvSpPr>
          <p:cNvPr id="18" name="指定 SDK / 平台">
            <a:extLst xmlns:a="http://schemas.openxmlformats.org/drawingml/2006/main">
              <a:ext uri="{FF2B5EF4-FFF2-40B4-BE49-F238E27FC236}">
                <a16:creationId xmlns:a16="http://schemas.microsoft.com/office/drawing/2014/main" id="{CB6C6548-6E8D-456F-AB3C-9F260F23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2181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指定 SDK / 平台</a:t>
            </a:r>
          </a:p>
        </p:txBody>
      </p:sp>
      <p:sp>
        <p:nvSpPr>
          <p:cNvPr id="19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73D283EC-3D6F-48AB-AC60-E3AA9BC6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43125"/>
            <a:ext cx="2428875" cy="1114425"/>
          </a:xfrm>
          <a:custGeom xmlns:a="http://schemas.openxmlformats.org/drawingml/2006/main">
            <a:pathLst>
              <a:path w="2428875" h="1114425">
                <a:moveTo>
                  <a:pt x="38100" y="28575"/>
                </a:moveTo>
                <a:cubicBezTo>
                  <a:pt x="680085" y="0"/>
                  <a:pt x="1651635" y="57150"/>
                  <a:pt x="2400300" y="19050"/>
                </a:cubicBezTo>
                <a:cubicBezTo>
                  <a:pt x="2438400" y="312039"/>
                  <a:pt x="2390775" y="835819"/>
                  <a:pt x="2419350" y="1085850"/>
                </a:cubicBezTo>
                <a:cubicBezTo>
                  <a:pt x="1603058" y="1123950"/>
                  <a:pt x="704374" y="1076325"/>
                  <a:pt x="19050" y="1104900"/>
                </a:cubicBezTo>
                <a:cubicBezTo>
                  <a:pt x="47625" y="780097"/>
                  <a:pt x="0" y="334328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D5215-986E-456F-981C-2A39325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431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导出示例">
            <a:extLst xmlns:a="http://schemas.openxmlformats.org/drawingml/2006/main">
              <a:ext uri="{FF2B5EF4-FFF2-40B4-BE49-F238E27FC236}">
                <a16:creationId xmlns:a16="http://schemas.microsoft.com/office/drawing/2014/main" id="{342CB273-BBE2-41A3-8FD2-8D3A9047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05050"/>
            <a:ext cx="2162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导出示例</a:t>
            </a:r>
          </a:p>
        </p:txBody>
      </p:sp>
      <p:sp>
        <p:nvSpPr>
          <p:cNvPr id="22" name="检查后生成 ZIP">
            <a:extLst xmlns:a="http://schemas.openxmlformats.org/drawingml/2006/main">
              <a:ext uri="{FF2B5EF4-FFF2-40B4-BE49-F238E27FC236}">
                <a16:creationId xmlns:a16="http://schemas.microsoft.com/office/drawing/2014/main" id="{9F8F7810-A9EA-4F09-A5D1-92DFA8EB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62250"/>
            <a:ext cx="2181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8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检查后生成 ZIP</a:t>
            </a:r>
          </a:p>
        </p:txBody>
      </p:sp>
      <p:sp>
        <p:nvSpPr>
          <p:cNvPr id="23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0A268368-931B-4FAF-8012-CFCE2BA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76513"/>
            <a:ext cx="257175" cy="247650"/>
          </a:xfrm>
          <a:custGeom xmlns:a="http://schemas.openxmlformats.org/drawingml/2006/main">
            <a:pathLst>
              <a:path w="257175" h="247650">
                <a:moveTo>
                  <a:pt x="9525" y="123825"/>
                </a:moveTo>
                <a:cubicBezTo>
                  <a:pt x="69437" y="85725"/>
                  <a:pt x="180023" y="152400"/>
                  <a:pt x="238125" y="114300"/>
                </a:cubicBezTo>
                <a:moveTo>
                  <a:pt x="95250" y="19050"/>
                </a:moveTo>
                <a:lnTo>
                  <a:pt x="238125" y="114300"/>
                </a:lnTo>
                <a:lnTo>
                  <a:pt x="9525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4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E6F576F7-53E8-49B0-8D06-66729761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6513"/>
            <a:ext cx="257175" cy="247650"/>
          </a:xfrm>
          <a:custGeom xmlns:a="http://schemas.openxmlformats.org/drawingml/2006/main">
            <a:pathLst>
              <a:path w="257175" h="247650">
                <a:moveTo>
                  <a:pt x="9525" y="123825"/>
                </a:moveTo>
                <a:cubicBezTo>
                  <a:pt x="69437" y="85725"/>
                  <a:pt x="180023" y="152400"/>
                  <a:pt x="238125" y="114300"/>
                </a:cubicBezTo>
                <a:moveTo>
                  <a:pt x="95250" y="19050"/>
                </a:moveTo>
                <a:lnTo>
                  <a:pt x="238125" y="114300"/>
                </a:lnTo>
                <a:lnTo>
                  <a:pt x="9525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5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2BC904B3-0E06-4263-A793-2904D1F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76513"/>
            <a:ext cx="257175" cy="247650"/>
          </a:xfrm>
          <a:custGeom xmlns:a="http://schemas.openxmlformats.org/drawingml/2006/main">
            <a:pathLst>
              <a:path w="257175" h="247650">
                <a:moveTo>
                  <a:pt x="9525" y="123825"/>
                </a:moveTo>
                <a:cubicBezTo>
                  <a:pt x="69437" y="85725"/>
                  <a:pt x="180023" y="152400"/>
                  <a:pt x="238125" y="114300"/>
                </a:cubicBezTo>
                <a:moveTo>
                  <a:pt x="95250" y="19050"/>
                </a:moveTo>
                <a:lnTo>
                  <a:pt x="238125" y="114300"/>
                </a:lnTo>
                <a:lnTo>
                  <a:pt x="9525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07F94-DA06-446E-8E2E-9BA56BEDCC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be0cbed52424b"/>
          <a:srcRect xmlns:a="http://schemas.openxmlformats.org/drawingml/2006/main" l="14000" t="23500" r="14000" b="23500"/>
          <a:stretch xmlns:a="http://schemas.openxmlformats.org/drawingml/2006/main"/>
        </p:blipFill>
        <p:spPr>
          <a:xfrm xmlns:a="http://schemas.openxmlformats.org/drawingml/2006/main">
            <a:off x="714375" y="3724275"/>
            <a:ext cx="6724650" cy="2762250"/>
          </a:xfrm>
          <a:prstGeom xmlns:a="http://schemas.openxmlformats.org/drawingml/2006/main" prst="rect">
            <a:avLst/>
          </a:prstGeom>
        </p:spPr>
      </p:pic>
      <p:sp>
        <p:nvSpPr>
          <p:cNvPr id="2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FE95C72C-5566-44EB-8BED-CB96EF7C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6724650" cy="2762250"/>
          </a:xfrm>
          <a:custGeom xmlns:a="http://schemas.openxmlformats.org/drawingml/2006/main">
            <a:pathLst>
              <a:path w="6724650" h="2762250">
                <a:moveTo>
                  <a:pt x="38100" y="28575"/>
                </a:moveTo>
                <a:cubicBezTo>
                  <a:pt x="1882902" y="0"/>
                  <a:pt x="4572762" y="57150"/>
                  <a:pt x="6696075" y="19050"/>
                </a:cubicBezTo>
                <a:cubicBezTo>
                  <a:pt x="6734175" y="773430"/>
                  <a:pt x="6686550" y="2071688"/>
                  <a:pt x="6715125" y="2733675"/>
                </a:cubicBezTo>
                <a:cubicBezTo>
                  <a:pt x="4438269" y="2771775"/>
                  <a:pt x="1950148" y="2724150"/>
                  <a:pt x="19050" y="2752725"/>
                </a:cubicBezTo>
                <a:cubicBezTo>
                  <a:pt x="47625" y="1933575"/>
                  <a:pt x="0" y="828675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A30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B3700E-DB34-4FA3-B549-F59994ED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67246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当前实际导出">
            <a:extLst xmlns:a="http://schemas.openxmlformats.org/drawingml/2006/main">
              <a:ext uri="{FF2B5EF4-FFF2-40B4-BE49-F238E27FC236}">
                <a16:creationId xmlns:a16="http://schemas.microsoft.com/office/drawing/2014/main" id="{F3677DFD-BC99-4F2B-9B71-F0B9BD6F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2905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当前实际导出</a:t>
            </a:r>
          </a:p>
        </p:txBody>
      </p:sp>
      <p:sp>
        <p:nvSpPr>
          <p:cNvPr id="30" name="马克笔下划线">
            <a:extLst xmlns:a="http://schemas.openxmlformats.org/drawingml/2006/main">
              <a:ext uri="{FF2B5EF4-FFF2-40B4-BE49-F238E27FC236}">
                <a16:creationId xmlns:a16="http://schemas.microsoft.com/office/drawing/2014/main" id="{FC1C2E5B-1241-4BE6-BDAB-3D6F5361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2828925" cy="76200"/>
          </a:xfrm>
          <a:custGeom xmlns:a="http://schemas.openxmlformats.org/drawingml/2006/main">
            <a:pathLst>
              <a:path w="2828925" h="76200">
                <a:moveTo>
                  <a:pt x="9525" y="38100"/>
                </a:moveTo>
                <a:cubicBezTo>
                  <a:pt x="792099" y="0"/>
                  <a:pt x="1782223" y="76200"/>
                  <a:pt x="281940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8638C"/>
            </a:solidFill>
            <a:prstDash val="solid"/>
          </a:ln>
        </p:spPr>
      </p:sp>
      <p:sp>
        <p:nvSpPr>
          <p:cNvPr id="31" name="arithmetic&#10;SDK 1.2.0&#10;Darwin-arm64">
            <a:extLst xmlns:a="http://schemas.openxmlformats.org/drawingml/2006/main">
              <a:ext uri="{FF2B5EF4-FFF2-40B4-BE49-F238E27FC236}">
                <a16:creationId xmlns:a16="http://schemas.microsoft.com/office/drawing/2014/main" id="{38050C7E-D145-44D4-B0EA-ECDB18AB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552950"/>
            <a:ext cx="35242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pPr>
            <a:r>
              <a: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rPr>
              <a:t>arithmetic</a:t>
            </a:r>
          </a:p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pPr>
            <a:r>
              <a: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rPr>
              <a:t>SDK 1.2.0</a:t>
            </a:r>
          </a:p>
          <a:p xmlns:a="http://schemas.openxmlformats.org/drawingml/2006/main">
            <a:pPr algn="l">
              <a:def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defRPr>
            </a:pPr>
            <a:r>
              <a:rPr sz="2175" b="0">
                <a:solidFill>
                  <a:srgbClr val="2A302D"/>
                </a:solidFill>
                <a:latin typeface="Chalkboard SE"/>
                <a:ea typeface="Chalkboard SE"/>
                <a:cs typeface="Chalkboard SE"/>
              </a:rPr>
              <a:t>Darwin-arm64</a:t>
            </a:r>
          </a:p>
        </p:txBody>
      </p:sp>
      <p:sp>
        <p:nvSpPr>
          <p:cNvPr id="32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2A1CD183-3AEA-4186-91EB-829B5E80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76950"/>
            <a:ext cx="3409950" cy="228600"/>
          </a:xfrm>
          <a:custGeom xmlns:a="http://schemas.openxmlformats.org/drawingml/2006/main">
            <a:pathLst>
              <a:path w="3409950" h="228600">
                <a:moveTo>
                  <a:pt x="0" y="28575"/>
                </a:moveTo>
                <a:lnTo>
                  <a:pt x="3362325" y="0"/>
                </a:lnTo>
                <a:lnTo>
                  <a:pt x="3409950" y="200025"/>
                </a:lnTo>
                <a:lnTo>
                  <a:pt x="38100" y="228600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ZIP 下载已生成">
            <a:extLst xmlns:a="http://schemas.openxmlformats.org/drawingml/2006/main">
              <a:ext uri="{FF2B5EF4-FFF2-40B4-BE49-F238E27FC236}">
                <a16:creationId xmlns:a16="http://schemas.microsoft.com/office/drawing/2014/main" id="{4963C63E-8252-4F21-9A8E-4183A88D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86450"/>
            <a:ext cx="3457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ZIP 下载已生成</a:t>
            </a:r>
          </a:p>
        </p:txBody>
      </p:sp>
    </p:spTree>
    <p:extLst>
      <p:ext uri="{BB962C8B-B14F-4D97-AF65-F5344CB8AC3E}">
        <p14:creationId xmlns:p14="http://schemas.microsoft.com/office/powerpoint/2010/main" val="1117217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9AE4AE-1FDD-4FEB-B912-20F2A2D101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a0a8d669f418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78DF0336-D79B-4DAC-8FED-014814F7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5 / 10">
            <a:extLst xmlns:a="http://schemas.openxmlformats.org/drawingml/2006/main">
              <a:ext uri="{FF2B5EF4-FFF2-40B4-BE49-F238E27FC236}">
                <a16:creationId xmlns:a16="http://schemas.microsoft.com/office/drawing/2014/main" id="{86E28726-0A15-4AD2-9A84-9F4DCC0B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05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4C0FF4AE-87FF-41D8-88C4-E1BEA950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905375" cy="219075"/>
          </a:xfrm>
          <a:custGeom xmlns:a="http://schemas.openxmlformats.org/drawingml/2006/main">
            <a:pathLst>
              <a:path w="4905375" h="219075">
                <a:moveTo>
                  <a:pt x="0" y="28575"/>
                </a:moveTo>
                <a:lnTo>
                  <a:pt x="4857750" y="0"/>
                </a:lnTo>
                <a:lnTo>
                  <a:pt x="490537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仓颉承担本地服务与核心处理">
            <a:extLst xmlns:a="http://schemas.openxmlformats.org/drawingml/2006/main">
              <a:ext uri="{FF2B5EF4-FFF2-40B4-BE49-F238E27FC236}">
                <a16:creationId xmlns:a16="http://schemas.microsoft.com/office/drawing/2014/main" id="{8F91A155-D0D8-42C2-8B4F-9EF7FB36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仓颉承担本地服务与核心处理</a:t>
            </a:r>
          </a:p>
        </p:txBody>
      </p:sp>
      <p:sp>
        <p:nvSpPr>
          <p:cNvPr id="6" name="标准网页技术，连接原生编译与运行流程">
            <a:extLst xmlns:a="http://schemas.openxmlformats.org/drawingml/2006/main">
              <a:ext uri="{FF2B5EF4-FFF2-40B4-BE49-F238E27FC236}">
                <a16:creationId xmlns:a16="http://schemas.microsoft.com/office/drawing/2014/main" id="{C851815C-71D1-4C53-9C5D-2C0656A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标准网页技术，连接原生编译与运行流程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D4DBA7D1-D2B2-435A-A1B4-77DE1063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571750" cy="1562100"/>
          </a:xfrm>
          <a:custGeom xmlns:a="http://schemas.openxmlformats.org/drawingml/2006/main">
            <a:pathLst>
              <a:path w="2571750" h="1562100">
                <a:moveTo>
                  <a:pt x="38100" y="28575"/>
                </a:moveTo>
                <a:cubicBezTo>
                  <a:pt x="720090" y="0"/>
                  <a:pt x="1748790" y="57150"/>
                  <a:pt x="2543175" y="19050"/>
                </a:cubicBezTo>
                <a:cubicBezTo>
                  <a:pt x="2581275" y="437388"/>
                  <a:pt x="2533650" y="1171575"/>
                  <a:pt x="2562225" y="1533525"/>
                </a:cubicBezTo>
                <a:cubicBezTo>
                  <a:pt x="1697355" y="1571625"/>
                  <a:pt x="745808" y="1524000"/>
                  <a:pt x="19050" y="1552575"/>
                </a:cubicBezTo>
                <a:cubicBezTo>
                  <a:pt x="47625" y="1093470"/>
                  <a:pt x="0" y="46863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694D7-E226-4001-8C14-EC725A63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571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浏览器页面">
            <a:extLst xmlns:a="http://schemas.openxmlformats.org/drawingml/2006/main">
              <a:ext uri="{FF2B5EF4-FFF2-40B4-BE49-F238E27FC236}">
                <a16:creationId xmlns:a16="http://schemas.microsoft.com/office/drawing/2014/main" id="{B40856E6-0CEF-4F13-A035-934303D7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浏览器页面</a:t>
            </a:r>
          </a:p>
        </p:txBody>
      </p:sp>
      <p:sp>
        <p:nvSpPr>
          <p:cNvPr id="10" name="HTML / CSS&#10;JavaScript">
            <a:extLst xmlns:a="http://schemas.openxmlformats.org/drawingml/2006/main">
              <a:ext uri="{FF2B5EF4-FFF2-40B4-BE49-F238E27FC236}">
                <a16:creationId xmlns:a16="http://schemas.microsoft.com/office/drawing/2014/main" id="{0813ADB2-B16B-4048-AB52-91689019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190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HTML / CSS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JavaScript</a:t>
            </a:r>
          </a:p>
        </p:txBody>
      </p:sp>
      <p:sp>
        <p:nvSpPr>
          <p:cNvPr id="1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B2227050-A95D-430A-A2B2-AC16B227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2952750" cy="1562100"/>
          </a:xfrm>
          <a:custGeom xmlns:a="http://schemas.openxmlformats.org/drawingml/2006/main">
            <a:pathLst>
              <a:path w="2952750" h="1562100">
                <a:moveTo>
                  <a:pt x="38100" y="28575"/>
                </a:moveTo>
                <a:cubicBezTo>
                  <a:pt x="826770" y="0"/>
                  <a:pt x="2007870" y="57150"/>
                  <a:pt x="2924175" y="19050"/>
                </a:cubicBezTo>
                <a:cubicBezTo>
                  <a:pt x="2962275" y="437388"/>
                  <a:pt x="2914650" y="1171575"/>
                  <a:pt x="2943225" y="1533525"/>
                </a:cubicBezTo>
                <a:cubicBezTo>
                  <a:pt x="1948815" y="1571625"/>
                  <a:pt x="856297" y="1524000"/>
                  <a:pt x="19050" y="1552575"/>
                </a:cubicBezTo>
                <a:cubicBezTo>
                  <a:pt x="47625" y="1093470"/>
                  <a:pt x="0" y="468630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3D663-0865-4434-B895-8102FF51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2952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仓颉本地服务">
            <a:extLst xmlns:a="http://schemas.openxmlformats.org/drawingml/2006/main">
              <a:ext uri="{FF2B5EF4-FFF2-40B4-BE49-F238E27FC236}">
                <a16:creationId xmlns:a16="http://schemas.microsoft.com/office/drawing/2014/main" id="{D2E7487B-88CF-4850-83E0-5001B692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仓颉本地服务</a:t>
            </a:r>
          </a:p>
        </p:txBody>
      </p:sp>
      <p:sp>
        <p:nvSpPr>
          <p:cNvPr id="14" name="HTTP、项目、配置&#10;任务与请求管理">
            <a:extLst xmlns:a="http://schemas.openxmlformats.org/drawingml/2006/main">
              <a:ext uri="{FF2B5EF4-FFF2-40B4-BE49-F238E27FC236}">
                <a16:creationId xmlns:a16="http://schemas.microsoft.com/office/drawing/2014/main" id="{0BB2B2E9-30B0-49A5-B2CA-AEF9324E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86075"/>
            <a:ext cx="2571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HTTP、项目、配置</a:t>
            </a:r>
          </a:p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任务与请求管理</a:t>
            </a:r>
          </a:p>
        </p:txBody>
      </p:sp>
      <p:sp>
        <p:nvSpPr>
          <p:cNvPr id="1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58D49A70-96AA-409C-B63D-51B0AF44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71700"/>
            <a:ext cx="3933825" cy="1562100"/>
          </a:xfrm>
          <a:custGeom xmlns:a="http://schemas.openxmlformats.org/drawingml/2006/main">
            <a:pathLst>
              <a:path w="3933825" h="1562100">
                <a:moveTo>
                  <a:pt x="38100" y="28575"/>
                </a:moveTo>
                <a:cubicBezTo>
                  <a:pt x="1101471" y="0"/>
                  <a:pt x="2675001" y="57150"/>
                  <a:pt x="3905250" y="19050"/>
                </a:cubicBezTo>
                <a:cubicBezTo>
                  <a:pt x="3943350" y="437388"/>
                  <a:pt x="3895725" y="1171575"/>
                  <a:pt x="3924300" y="1533525"/>
                </a:cubicBezTo>
                <a:cubicBezTo>
                  <a:pt x="2596325" y="1571625"/>
                  <a:pt x="1140809" y="1524000"/>
                  <a:pt x="19050" y="1552575"/>
                </a:cubicBezTo>
                <a:cubicBezTo>
                  <a:pt x="47625" y="1093470"/>
                  <a:pt x="0" y="46863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F180F-EE81-4AC1-AA19-DE96C033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71700"/>
            <a:ext cx="393382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仓颉核心">
            <a:extLst xmlns:a="http://schemas.openxmlformats.org/drawingml/2006/main">
              <a:ext uri="{FF2B5EF4-FFF2-40B4-BE49-F238E27FC236}">
                <a16:creationId xmlns:a16="http://schemas.microsoft.com/office/drawing/2014/main" id="{8E9A8FDE-A456-461C-BE10-C6FD7D1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43150"/>
            <a:ext cx="3552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仓颉核心</a:t>
            </a:r>
          </a:p>
        </p:txBody>
      </p:sp>
      <p:sp>
        <p:nvSpPr>
          <p:cNvPr id="18" name="声明提取、文档生成&#10;测试编排与结果判断">
            <a:extLst xmlns:a="http://schemas.openxmlformats.org/drawingml/2006/main">
              <a:ext uri="{FF2B5EF4-FFF2-40B4-BE49-F238E27FC236}">
                <a16:creationId xmlns:a16="http://schemas.microsoft.com/office/drawing/2014/main" id="{6B96880C-12F4-4440-81D0-E26C3CB1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86075"/>
            <a:ext cx="35528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声明提取、文档生成</a:t>
            </a:r>
          </a:p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测试编排与结果判断</a:t>
            </a:r>
          </a:p>
        </p:txBody>
      </p:sp>
      <p:sp>
        <p:nvSpPr>
          <p:cNvPr id="19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425A476E-1AD3-4D4F-9938-153B26E3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28925"/>
            <a:ext cx="581025" cy="247650"/>
          </a:xfrm>
          <a:custGeom xmlns:a="http://schemas.openxmlformats.org/drawingml/2006/main">
            <a:pathLst>
              <a:path w="581025" h="247650">
                <a:moveTo>
                  <a:pt x="9525" y="123825"/>
                </a:moveTo>
                <a:cubicBezTo>
                  <a:pt x="156877" y="85725"/>
                  <a:pt x="406717" y="152400"/>
                  <a:pt x="561975" y="114300"/>
                </a:cubicBezTo>
                <a:moveTo>
                  <a:pt x="419100" y="19050"/>
                </a:moveTo>
                <a:lnTo>
                  <a:pt x="561975" y="114300"/>
                </a:lnTo>
                <a:lnTo>
                  <a:pt x="4191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0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C6BF8FF3-BA01-4228-8234-CF5A3F15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28925"/>
            <a:ext cx="571500" cy="247650"/>
          </a:xfrm>
          <a:custGeom xmlns:a="http://schemas.openxmlformats.org/drawingml/2006/main">
            <a:pathLst>
              <a:path w="571500" h="247650">
                <a:moveTo>
                  <a:pt x="9525" y="123825"/>
                </a:moveTo>
                <a:cubicBezTo>
                  <a:pt x="154305" y="85725"/>
                  <a:pt x="400050" y="152400"/>
                  <a:pt x="552450" y="114300"/>
                </a:cubicBezTo>
                <a:moveTo>
                  <a:pt x="409575" y="19050"/>
                </a:moveTo>
                <a:lnTo>
                  <a:pt x="552450" y="114300"/>
                </a:lnTo>
                <a:lnTo>
                  <a:pt x="40957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C152CEF0-BFAF-4FFA-A3BF-52D27C5F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62475"/>
            <a:ext cx="3933825" cy="1247775"/>
          </a:xfrm>
          <a:custGeom xmlns:a="http://schemas.openxmlformats.org/drawingml/2006/main">
            <a:pathLst>
              <a:path w="3933825" h="1247775">
                <a:moveTo>
                  <a:pt x="38100" y="28575"/>
                </a:moveTo>
                <a:cubicBezTo>
                  <a:pt x="1101471" y="0"/>
                  <a:pt x="2675001" y="57150"/>
                  <a:pt x="3905250" y="19050"/>
                </a:cubicBezTo>
                <a:cubicBezTo>
                  <a:pt x="3943350" y="349377"/>
                  <a:pt x="3895725" y="935831"/>
                  <a:pt x="3924300" y="1219200"/>
                </a:cubicBezTo>
                <a:cubicBezTo>
                  <a:pt x="2596325" y="1257300"/>
                  <a:pt x="1140809" y="1209675"/>
                  <a:pt x="19050" y="1238250"/>
                </a:cubicBezTo>
                <a:cubicBezTo>
                  <a:pt x="47625" y="873442"/>
                  <a:pt x="0" y="374333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FC30F-5463-4482-BD29-7F1D6036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62475"/>
            <a:ext cx="393382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真实仓颉工具链">
            <a:extLst xmlns:a="http://schemas.openxmlformats.org/drawingml/2006/main">
              <a:ext uri="{FF2B5EF4-FFF2-40B4-BE49-F238E27FC236}">
                <a16:creationId xmlns:a16="http://schemas.microsoft.com/office/drawing/2014/main" id="{CF0C0E1E-4DC9-4F4A-89D3-41409364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33925"/>
            <a:ext cx="3552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真实仓颉工具链</a:t>
            </a:r>
          </a:p>
        </p:txBody>
      </p:sp>
      <p:sp>
        <p:nvSpPr>
          <p:cNvPr id="24" name="SDK 1.1.3 / 1.2.0">
            <a:extLst xmlns:a="http://schemas.openxmlformats.org/drawingml/2006/main">
              <a:ext uri="{FF2B5EF4-FFF2-40B4-BE49-F238E27FC236}">
                <a16:creationId xmlns:a16="http://schemas.microsoft.com/office/drawing/2014/main" id="{BB7A2D20-4ECA-4C4F-8652-E3F318AE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76850"/>
            <a:ext cx="3552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SDK 1.1.3 / 1.2.0</a:t>
            </a:r>
          </a:p>
        </p:txBody>
      </p:sp>
      <p:sp>
        <p:nvSpPr>
          <p:cNvPr id="25" name="手绘向下流程箭头">
            <a:extLst xmlns:a="http://schemas.openxmlformats.org/drawingml/2006/main">
              <a:ext uri="{FF2B5EF4-FFF2-40B4-BE49-F238E27FC236}">
                <a16:creationId xmlns:a16="http://schemas.microsoft.com/office/drawing/2014/main" id="{DCAD13D7-4ED9-4A12-9EDB-BF06CA84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3771900"/>
            <a:ext cx="247650" cy="742950"/>
          </a:xfrm>
          <a:custGeom xmlns:a="http://schemas.openxmlformats.org/drawingml/2006/main">
            <a:pathLst>
              <a:path w="247650" h="742950">
                <a:moveTo>
                  <a:pt x="114300" y="9525"/>
                </a:moveTo>
                <a:cubicBezTo>
                  <a:pt x="142875" y="208026"/>
                  <a:pt x="85725" y="512635"/>
                  <a:pt x="123825" y="723900"/>
                </a:cubicBezTo>
                <a:moveTo>
                  <a:pt x="19050" y="590550"/>
                </a:moveTo>
                <a:lnTo>
                  <a:pt x="123825" y="723900"/>
                </a:lnTo>
                <a:lnTo>
                  <a:pt x="22860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6" name="std.ast 提取公共声明">
            <a:extLst xmlns:a="http://schemas.openxmlformats.org/drawingml/2006/main">
              <a:ext uri="{FF2B5EF4-FFF2-40B4-BE49-F238E27FC236}">
                <a16:creationId xmlns:a16="http://schemas.microsoft.com/office/drawing/2014/main" id="{B02D01C9-1CEB-4CF2-8071-EFC6CFF8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642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5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std.ast 提取公共声明</a:t>
            </a:r>
          </a:p>
        </p:txBody>
      </p:sp>
      <p:sp>
        <p:nvSpPr>
          <p:cNvPr id="27" name="马克笔下划线">
            <a:extLst xmlns:a="http://schemas.openxmlformats.org/drawingml/2006/main">
              <a:ext uri="{FF2B5EF4-FFF2-40B4-BE49-F238E27FC236}">
                <a16:creationId xmlns:a16="http://schemas.microsoft.com/office/drawing/2014/main" id="{C7B2226B-453B-4EBB-8DA4-E5CDA60A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5362575" cy="76200"/>
          </a:xfrm>
          <a:custGeom xmlns:a="http://schemas.openxmlformats.org/drawingml/2006/main">
            <a:pathLst>
              <a:path w="5362575" h="76200">
                <a:moveTo>
                  <a:pt x="9525" y="38100"/>
                </a:moveTo>
                <a:cubicBezTo>
                  <a:pt x="1501521" y="0"/>
                  <a:pt x="3378422" y="76200"/>
                  <a:pt x="53530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8638C"/>
            </a:solidFill>
            <a:prstDash val="solid"/>
          </a:ln>
        </p:spPr>
      </p:sp>
      <p:sp>
        <p:nvSpPr>
          <p:cNvPr id="28" name="C：子进程监督与信号处理&#10;Bash：构建与启动&#10;Python：测试和只读协议适配等辅助">
            <a:extLst xmlns:a="http://schemas.openxmlformats.org/drawingml/2006/main">
              <a:ext uri="{FF2B5EF4-FFF2-40B4-BE49-F238E27FC236}">
                <a16:creationId xmlns:a16="http://schemas.microsoft.com/office/drawing/2014/main" id="{EA6FF713-DA92-4BD3-A959-2B405552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48250"/>
            <a:ext cx="6610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C：子进程监督与信号处理</a:t>
            </a:r>
          </a:p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Bash：构建与启动</a:t>
            </a:r>
          </a:p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Python：测试和只读协议适配等辅助</a:t>
            </a:r>
          </a:p>
        </p:txBody>
      </p:sp>
    </p:spTree>
    <p:extLst>
      <p:ext uri="{BB962C8B-B14F-4D97-AF65-F5344CB8AC3E}">
        <p14:creationId xmlns:p14="http://schemas.microsoft.com/office/powerpoint/2010/main" val="1636172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BA029-BC54-4169-A8BA-62387C69F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e00d529b14b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EAFA6C8D-9E6E-4F66-A6FA-211A7336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6 / 10">
            <a:extLst xmlns:a="http://schemas.openxmlformats.org/drawingml/2006/main">
              <a:ext uri="{FF2B5EF4-FFF2-40B4-BE49-F238E27FC236}">
                <a16:creationId xmlns:a16="http://schemas.microsoft.com/office/drawing/2014/main" id="{99AD460D-AA3F-4709-9BCD-3192641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06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AEB45B30-0143-4369-8FA7-C558A45F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962650" cy="219075"/>
          </a:xfrm>
          <a:custGeom xmlns:a="http://schemas.openxmlformats.org/drawingml/2006/main">
            <a:pathLst>
              <a:path w="5962650" h="219075">
                <a:moveTo>
                  <a:pt x="0" y="28575"/>
                </a:moveTo>
                <a:lnTo>
                  <a:pt x="5915025" y="0"/>
                </a:lnTo>
                <a:lnTo>
                  <a:pt x="596265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双 SDK：运行通过与仅编译分开">
            <a:extLst xmlns:a="http://schemas.openxmlformats.org/drawingml/2006/main">
              <a:ext uri="{FF2B5EF4-FFF2-40B4-BE49-F238E27FC236}">
                <a16:creationId xmlns:a16="http://schemas.microsoft.com/office/drawing/2014/main" id="{FBCEB3E0-120F-439B-ABEC-7714DF92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双 SDK：运行通过与仅编译分开</a:t>
            </a:r>
          </a:p>
        </p:txBody>
      </p:sp>
      <p:sp>
        <p:nvSpPr>
          <p:cNvPr id="6" name="14 个登记示例 × 2 个 SDK，共28条当前记录">
            <a:extLst xmlns:a="http://schemas.openxmlformats.org/drawingml/2006/main">
              <a:ext uri="{FF2B5EF4-FFF2-40B4-BE49-F238E27FC236}">
                <a16:creationId xmlns:a16="http://schemas.microsoft.com/office/drawing/2014/main" id="{C5C6D615-1179-4789-90DA-40EBCB47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14 个登记示例 × 2 个 SDK，共28条当前记录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6FA8298-0FA5-4814-ACE6-73273FB5EF8F}"/>
              </a:ext>
            </a:extLst>
          </p:cNvPr>
          <p:cNvGraphicFramePr/>
          <p:nvPr/>
        </p:nvGraphicFramePr>
        <p:xfrm>
          <a:off xmlns:a="http://schemas.openxmlformats.org/drawingml/2006/main" x="704850" y="2038350"/>
          <a:ext xmlns:a="http://schemas.openxmlformats.org/drawingml/2006/main" cx="7353300" cy="2676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a6a2691e724b97"/>
          </a:graphicData>
        </a:graphic>
      </p:graphicFrame>
      <p:sp>
        <p:nvSpPr>
          <p:cNvPr id="8" name="26">
            <a:extLst xmlns:a="http://schemas.openxmlformats.org/drawingml/2006/main">
              <a:ext uri="{FF2B5EF4-FFF2-40B4-BE49-F238E27FC236}">
                <a16:creationId xmlns:a16="http://schemas.microsoft.com/office/drawing/2014/main" id="{E27160CA-D846-4E04-A2D7-1C19058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62175"/>
            <a:ext cx="2428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pPr>
            <a:r>
              <a: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rPr>
              <a:t>26</a:t>
            </a:r>
          </a:p>
        </p:txBody>
      </p:sp>
      <p:sp>
        <p:nvSpPr>
          <p:cNvPr id="9" name="条运行通过">
            <a:extLst xmlns:a="http://schemas.openxmlformats.org/drawingml/2006/main">
              <a:ext uri="{FF2B5EF4-FFF2-40B4-BE49-F238E27FC236}">
                <a16:creationId xmlns:a16="http://schemas.microsoft.com/office/drawing/2014/main" id="{FD4D4420-480A-4EBE-A3AC-11789F9A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条运行通过</a:t>
            </a:r>
          </a:p>
        </p:txBody>
      </p:sp>
      <p:sp>
        <p:nvSpPr>
          <p:cNvPr id="10" name="手绘圈注">
            <a:extLst xmlns:a="http://schemas.openxmlformats.org/drawingml/2006/main">
              <a:ext uri="{FF2B5EF4-FFF2-40B4-BE49-F238E27FC236}">
                <a16:creationId xmlns:a16="http://schemas.microsoft.com/office/drawing/2014/main" id="{22F69E6A-F47E-491C-8B60-3BF2788A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124075" cy="962025"/>
          </a:xfrm>
          <a:custGeom xmlns:a="http://schemas.openxmlformats.org/drawingml/2006/main">
            <a:pathLst>
              <a:path w="2124075" h="962025">
                <a:moveTo>
                  <a:pt x="1274445" y="38100"/>
                </a:moveTo>
                <a:cubicBezTo>
                  <a:pt x="276130" y="-19050"/>
                  <a:pt x="-76200" y="211646"/>
                  <a:pt x="38100" y="519494"/>
                </a:cubicBezTo>
                <a:cubicBezTo>
                  <a:pt x="0" y="865823"/>
                  <a:pt x="1019556" y="1028700"/>
                  <a:pt x="1720501" y="923925"/>
                </a:cubicBezTo>
                <a:cubicBezTo>
                  <a:pt x="2200275" y="865823"/>
                  <a:pt x="2162175" y="211646"/>
                  <a:pt x="1656779" y="47625"/>
                </a:cubicBezTo>
                <a:cubicBezTo>
                  <a:pt x="1380649" y="0"/>
                  <a:pt x="892112" y="0"/>
                  <a:pt x="594741" y="76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397B60"/>
            </a:solidFill>
            <a:prstDash val="solid"/>
          </a:ln>
        </p:spPr>
      </p:sp>
      <p:sp>
        <p:nvSpPr>
          <p:cNvPr id="11" name="2">
            <a:extLst xmlns:a="http://schemas.openxmlformats.org/drawingml/2006/main">
              <a:ext uri="{FF2B5EF4-FFF2-40B4-BE49-F238E27FC236}">
                <a16:creationId xmlns:a16="http://schemas.microsoft.com/office/drawing/2014/main" id="{6172AF88-D13E-4FEE-8226-AE2321C8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48075"/>
            <a:ext cx="2428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pPr>
            <a:r>
              <a: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rPr>
              <a:t>2</a:t>
            </a:r>
          </a:p>
        </p:txBody>
      </p:sp>
      <p:sp>
        <p:nvSpPr>
          <p:cNvPr id="12" name="条仅编译">
            <a:extLst xmlns:a="http://schemas.openxmlformats.org/drawingml/2006/main">
              <a:ext uri="{FF2B5EF4-FFF2-40B4-BE49-F238E27FC236}">
                <a16:creationId xmlns:a16="http://schemas.microsoft.com/office/drawing/2014/main" id="{B1099C3A-D23B-43F2-AB72-CB97349D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86275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条仅编译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2EFC1-A556-4D40-BC47-A8C360A122E6}"/>
              </a:ext>
            </a:extLst>
          </p:cNvPr>
          <p:cNvGraphicFramePr/>
          <p:nvPr/>
        </p:nvGraphicFramePr>
        <p:xfrm>
          <a:off xmlns:a="http://schemas.openxmlformats.org/drawingml/2006/main" x="714375" y="4981575"/>
          <a:ext xmlns:a="http://schemas.openxmlformats.org/drawingml/2006/main" cx="10772775" cy="1362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09925"/>
                <a:gridCol w="2600325"/>
                <a:gridCol w="2352675"/>
                <a:gridCol w="2609850"/>
              </a:tblGrid>
              <a:tr h="4540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SDK 版本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运行通过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仅编译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合计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4540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1.1.3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4540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1.2.0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51E60FD6-0430-46CA-BED0-B6F17B60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10810875" cy="1400175"/>
          </a:xfrm>
          <a:custGeom xmlns:a="http://schemas.openxmlformats.org/drawingml/2006/main">
            <a:pathLst>
              <a:path w="10810875" h="1400175">
                <a:moveTo>
                  <a:pt x="38100" y="28575"/>
                </a:moveTo>
                <a:cubicBezTo>
                  <a:pt x="3027045" y="0"/>
                  <a:pt x="7351395" y="57150"/>
                  <a:pt x="10782300" y="19050"/>
                </a:cubicBezTo>
                <a:cubicBezTo>
                  <a:pt x="10820400" y="392049"/>
                  <a:pt x="10772775" y="1050131"/>
                  <a:pt x="10801350" y="1371600"/>
                </a:cubicBezTo>
                <a:cubicBezTo>
                  <a:pt x="7135178" y="1409700"/>
                  <a:pt x="3135154" y="1362075"/>
                  <a:pt x="19050" y="1390650"/>
                </a:cubicBezTo>
                <a:cubicBezTo>
                  <a:pt x="47625" y="980122"/>
                  <a:pt x="0" y="42005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CFD35-6AB1-415E-B44D-9CA74E89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108108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仅编译不计入运行通过；数量不代表全语言覆盖率。">
            <a:extLst xmlns:a="http://schemas.openxmlformats.org/drawingml/2006/main">
              <a:ext uri="{FF2B5EF4-FFF2-40B4-BE49-F238E27FC236}">
                <a16:creationId xmlns:a16="http://schemas.microsoft.com/office/drawing/2014/main" id="{CCD1D0F4-23C3-4FA6-BAD4-5B3938AE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5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仅编译不计入运行通过；数量不代表全语言覆盖率。</a:t>
            </a:r>
          </a:p>
        </p:txBody>
      </p:sp>
    </p:spTree>
    <p:extLst>
      <p:ext uri="{BB962C8B-B14F-4D97-AF65-F5344CB8AC3E}">
        <p14:creationId xmlns:p14="http://schemas.microsoft.com/office/powerpoint/2010/main" val="2004441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CBD5F-0D57-4A85-8E50-C64514C2F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fa937f63142f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87CD66F7-3A49-4850-90C0-DAC4D825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7 / 10">
            <a:extLst xmlns:a="http://schemas.openxmlformats.org/drawingml/2006/main">
              <a:ext uri="{FF2B5EF4-FFF2-40B4-BE49-F238E27FC236}">
                <a16:creationId xmlns:a16="http://schemas.microsoft.com/office/drawing/2014/main" id="{BD66F4E5-BE86-47EF-B448-08403FE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07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42C26BCE-AC35-412A-9812-AA971448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552950" cy="219075"/>
          </a:xfrm>
          <a:custGeom xmlns:a="http://schemas.openxmlformats.org/drawingml/2006/main">
            <a:pathLst>
              <a:path w="4552950" h="219075">
                <a:moveTo>
                  <a:pt x="0" y="28575"/>
                </a:moveTo>
                <a:lnTo>
                  <a:pt x="4505325" y="0"/>
                </a:lnTo>
                <a:lnTo>
                  <a:pt x="455295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什么结果，才算当前可用？">
            <a:extLst xmlns:a="http://schemas.openxmlformats.org/drawingml/2006/main">
              <a:ext uri="{FF2B5EF4-FFF2-40B4-BE49-F238E27FC236}">
                <a16:creationId xmlns:a16="http://schemas.microsoft.com/office/drawing/2014/main" id="{1945FA61-C1EE-4B1F-A675-EF7C49BC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什么结果，才算当前可用？</a:t>
            </a:r>
          </a:p>
        </p:txBody>
      </p:sp>
      <p:sp>
        <p:nvSpPr>
          <p:cNvPr id="6" name="查询与导出遵循同一套判断规则">
            <a:extLst xmlns:a="http://schemas.openxmlformats.org/drawingml/2006/main">
              <a:ext uri="{FF2B5EF4-FFF2-40B4-BE49-F238E27FC236}">
                <a16:creationId xmlns:a16="http://schemas.microsoft.com/office/drawing/2014/main" id="{CC33EE65-ED33-4A41-82F1-8C393F2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查询与导出遵循同一套判断规则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983E69AD-2D6B-46F1-87E8-E4231DC9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2914650" cy="1438275"/>
          </a:xfrm>
          <a:custGeom xmlns:a="http://schemas.openxmlformats.org/drawingml/2006/main">
            <a:pathLst>
              <a:path w="2914650" h="1438275">
                <a:moveTo>
                  <a:pt x="38100" y="28575"/>
                </a:moveTo>
                <a:cubicBezTo>
                  <a:pt x="816102" y="0"/>
                  <a:pt x="1981962" y="57150"/>
                  <a:pt x="2886075" y="19050"/>
                </a:cubicBezTo>
                <a:cubicBezTo>
                  <a:pt x="2924175" y="402717"/>
                  <a:pt x="2876550" y="1078706"/>
                  <a:pt x="2905125" y="1409700"/>
                </a:cubicBezTo>
                <a:cubicBezTo>
                  <a:pt x="1923669" y="1447800"/>
                  <a:pt x="845249" y="1400175"/>
                  <a:pt x="19050" y="1428750"/>
                </a:cubicBezTo>
                <a:cubicBezTo>
                  <a:pt x="47625" y="1006792"/>
                  <a:pt x="0" y="43148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77B57-9440-4E8A-B4A2-1F9B2A6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29146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输入匹配">
            <a:extLst xmlns:a="http://schemas.openxmlformats.org/drawingml/2006/main">
              <a:ext uri="{FF2B5EF4-FFF2-40B4-BE49-F238E27FC236}">
                <a16:creationId xmlns:a16="http://schemas.microsoft.com/office/drawing/2014/main" id="{D0BEBA2E-7A01-4D24-B21A-51A54B7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2533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输入匹配</a:t>
            </a:r>
          </a:p>
        </p:txBody>
      </p:sp>
      <p:sp>
        <p:nvSpPr>
          <p:cNvPr id="10" name="源码、配置&#10;SDK 与平台">
            <a:extLst xmlns:a="http://schemas.openxmlformats.org/drawingml/2006/main">
              <a:ext uri="{FF2B5EF4-FFF2-40B4-BE49-F238E27FC236}">
                <a16:creationId xmlns:a16="http://schemas.microsoft.com/office/drawing/2014/main" id="{E599B89B-D275-489E-A6ED-D28E0171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源码、配置</a:t>
            </a:r>
          </a:p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SDK 与平台</a:t>
            </a:r>
          </a:p>
        </p:txBody>
      </p:sp>
      <p:sp>
        <p:nvSpPr>
          <p:cNvPr id="11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B0421E80-640C-40B3-BE1B-47389708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05025"/>
            <a:ext cx="2924175" cy="1438275"/>
          </a:xfrm>
          <a:custGeom xmlns:a="http://schemas.openxmlformats.org/drawingml/2006/main">
            <a:pathLst>
              <a:path w="2924175" h="1438275">
                <a:moveTo>
                  <a:pt x="38100" y="28575"/>
                </a:moveTo>
                <a:cubicBezTo>
                  <a:pt x="818769" y="0"/>
                  <a:pt x="1988439" y="57150"/>
                  <a:pt x="2895600" y="19050"/>
                </a:cubicBezTo>
                <a:cubicBezTo>
                  <a:pt x="2933700" y="402717"/>
                  <a:pt x="2886075" y="1078706"/>
                  <a:pt x="2914650" y="1409700"/>
                </a:cubicBezTo>
                <a:cubicBezTo>
                  <a:pt x="1929956" y="1447800"/>
                  <a:pt x="848011" y="1400175"/>
                  <a:pt x="19050" y="1428750"/>
                </a:cubicBezTo>
                <a:cubicBezTo>
                  <a:pt x="47625" y="1006792"/>
                  <a:pt x="0" y="43148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2A3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76A51-D66B-4119-BB3A-318310D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05025"/>
            <a:ext cx="29241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真实执行">
            <a:extLst xmlns:a="http://schemas.openxmlformats.org/drawingml/2006/main">
              <a:ext uri="{FF2B5EF4-FFF2-40B4-BE49-F238E27FC236}">
                <a16:creationId xmlns:a16="http://schemas.microsoft.com/office/drawing/2014/main" id="{A079F38C-F36B-4513-A948-A3626FE9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76475"/>
            <a:ext cx="2543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真实执行</a:t>
            </a:r>
          </a:p>
        </p:txBody>
      </p:sp>
      <p:sp>
        <p:nvSpPr>
          <p:cNvPr id="14" name="编译、运行&#10;登记输出检查">
            <a:extLst xmlns:a="http://schemas.openxmlformats.org/drawingml/2006/main">
              <a:ext uri="{FF2B5EF4-FFF2-40B4-BE49-F238E27FC236}">
                <a16:creationId xmlns:a16="http://schemas.microsoft.com/office/drawing/2014/main" id="{31AED15C-43F4-4374-BC12-F1767A66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19400"/>
            <a:ext cx="2543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编译、运行</a:t>
            </a:r>
          </a:p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登记输出检查</a:t>
            </a:r>
          </a:p>
        </p:txBody>
      </p:sp>
      <p:sp>
        <p:nvSpPr>
          <p:cNvPr id="15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34E7DA22-133D-478D-B684-72DBFAD0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05025"/>
            <a:ext cx="3505200" cy="1438275"/>
          </a:xfrm>
          <a:custGeom xmlns:a="http://schemas.openxmlformats.org/drawingml/2006/main">
            <a:pathLst>
              <a:path w="3505200" h="1438275">
                <a:moveTo>
                  <a:pt x="38100" y="28575"/>
                </a:moveTo>
                <a:cubicBezTo>
                  <a:pt x="981456" y="0"/>
                  <a:pt x="2383536" y="57150"/>
                  <a:pt x="3476625" y="19050"/>
                </a:cubicBezTo>
                <a:cubicBezTo>
                  <a:pt x="3514725" y="402717"/>
                  <a:pt x="3467100" y="1078706"/>
                  <a:pt x="3495675" y="1409700"/>
                </a:cubicBezTo>
                <a:cubicBezTo>
                  <a:pt x="2313432" y="1447800"/>
                  <a:pt x="1016508" y="1400175"/>
                  <a:pt x="19050" y="1428750"/>
                </a:cubicBezTo>
                <a:cubicBezTo>
                  <a:pt x="47625" y="1006792"/>
                  <a:pt x="0" y="431483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25718">
            <a:solidFill>
              <a:srgbClr val="397B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4444F-780D-4450-BC8E-A1F54EE2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05025"/>
            <a:ext cx="35052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当前结果">
            <a:extLst xmlns:a="http://schemas.openxmlformats.org/drawingml/2006/main">
              <a:ext uri="{FF2B5EF4-FFF2-40B4-BE49-F238E27FC236}">
                <a16:creationId xmlns:a16="http://schemas.microsoft.com/office/drawing/2014/main" id="{DB7E5EE1-CB65-43CB-9AAC-41EFE695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7647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当前结果</a:t>
            </a:r>
          </a:p>
        </p:txBody>
      </p:sp>
      <p:sp>
        <p:nvSpPr>
          <p:cNvPr id="18" name="精确查询和导出&#10;使用相同规则">
            <a:extLst xmlns:a="http://schemas.openxmlformats.org/drawingml/2006/main">
              <a:ext uri="{FF2B5EF4-FFF2-40B4-BE49-F238E27FC236}">
                <a16:creationId xmlns:a16="http://schemas.microsoft.com/office/drawing/2014/main" id="{B4F61782-6BB8-47F4-B63A-2C395824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19400"/>
            <a:ext cx="3124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精确查询和导出</a:t>
            </a:r>
          </a:p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使用相同规则</a:t>
            </a:r>
          </a:p>
        </p:txBody>
      </p:sp>
      <p:sp>
        <p:nvSpPr>
          <p:cNvPr id="19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5BE31F8A-742E-4EE4-9AA9-26550DED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0338"/>
            <a:ext cx="628650" cy="247650"/>
          </a:xfrm>
          <a:custGeom xmlns:a="http://schemas.openxmlformats.org/drawingml/2006/main">
            <a:pathLst>
              <a:path w="628650" h="247650">
                <a:moveTo>
                  <a:pt x="9525" y="123825"/>
                </a:moveTo>
                <a:cubicBezTo>
                  <a:pt x="169736" y="85725"/>
                  <a:pt x="440055" y="152400"/>
                  <a:pt x="609600" y="114300"/>
                </a:cubicBezTo>
                <a:moveTo>
                  <a:pt x="466725" y="19050"/>
                </a:moveTo>
                <a:lnTo>
                  <a:pt x="609600" y="114300"/>
                </a:lnTo>
                <a:lnTo>
                  <a:pt x="46672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0" name="手绘向右流程箭头">
            <a:extLst xmlns:a="http://schemas.openxmlformats.org/drawingml/2006/main">
              <a:ext uri="{FF2B5EF4-FFF2-40B4-BE49-F238E27FC236}">
                <a16:creationId xmlns:a16="http://schemas.microsoft.com/office/drawing/2014/main" id="{CA46445A-9F33-4C4A-9C11-9D6ED661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0338"/>
            <a:ext cx="628650" cy="247650"/>
          </a:xfrm>
          <a:custGeom xmlns:a="http://schemas.openxmlformats.org/drawingml/2006/main">
            <a:pathLst>
              <a:path w="628650" h="247650">
                <a:moveTo>
                  <a:pt x="9525" y="123825"/>
                </a:moveTo>
                <a:cubicBezTo>
                  <a:pt x="169736" y="85725"/>
                  <a:pt x="440055" y="152400"/>
                  <a:pt x="609600" y="114300"/>
                </a:cubicBezTo>
                <a:moveTo>
                  <a:pt x="466725" y="19050"/>
                </a:moveTo>
                <a:lnTo>
                  <a:pt x="609600" y="114300"/>
                </a:lnTo>
                <a:lnTo>
                  <a:pt x="46672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21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45D802FD-4851-49AD-A3FA-065F3D72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762500" cy="304800"/>
          </a:xfrm>
          <a:custGeom xmlns:a="http://schemas.openxmlformats.org/drawingml/2006/main">
            <a:pathLst>
              <a:path w="4762500" h="304800">
                <a:moveTo>
                  <a:pt x="0" y="28575"/>
                </a:moveTo>
                <a:lnTo>
                  <a:pt x="4714875" y="0"/>
                </a:lnTo>
                <a:lnTo>
                  <a:pt x="4762500" y="276225"/>
                </a:lnTo>
                <a:lnTo>
                  <a:pt x="38100" y="304800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源码变化 → 需重测">
            <a:extLst xmlns:a="http://schemas.openxmlformats.org/drawingml/2006/main">
              <a:ext uri="{FF2B5EF4-FFF2-40B4-BE49-F238E27FC236}">
                <a16:creationId xmlns:a16="http://schemas.microsoft.com/office/drawing/2014/main" id="{E45858FB-ABF5-45DF-A175-59953502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4953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0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源码变化 → 需重测</a:t>
            </a:r>
          </a:p>
        </p:txBody>
      </p:sp>
      <p:sp>
        <p:nvSpPr>
          <p:cNvPr id="23" name="保留旧记录，重新测试后&#10;再判断当前结果。">
            <a:extLst xmlns:a="http://schemas.openxmlformats.org/drawingml/2006/main">
              <a:ext uri="{FF2B5EF4-FFF2-40B4-BE49-F238E27FC236}">
                <a16:creationId xmlns:a16="http://schemas.microsoft.com/office/drawing/2014/main" id="{EE2B2294-F32C-4F63-905A-35FA7E4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4800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保留旧记录，重新测试后</a:t>
            </a:r>
          </a:p>
          <a:p xmlns:a="http://schemas.openxmlformats.org/drawingml/2006/main">
            <a:pPr algn="l">
              <a:def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再判断当前结果。</a:t>
            </a:r>
          </a:p>
        </p:txBody>
      </p:sp>
      <p:sp>
        <p:nvSpPr>
          <p:cNvPr id="2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AD450110-38DD-4CE8-950C-F28B433D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48150"/>
            <a:ext cx="4991100" cy="304800"/>
          </a:xfrm>
          <a:custGeom xmlns:a="http://schemas.openxmlformats.org/drawingml/2006/main">
            <a:pathLst>
              <a:path w="4991100" h="304800">
                <a:moveTo>
                  <a:pt x="0" y="28575"/>
                </a:moveTo>
                <a:lnTo>
                  <a:pt x="4943475" y="0"/>
                </a:lnTo>
                <a:lnTo>
                  <a:pt x="4991100" y="276225"/>
                </a:lnTo>
                <a:lnTo>
                  <a:pt x="38100" y="304800"/>
                </a:lnTo>
                <a:close/>
              </a:path>
            </a:pathLst>
          </a:custGeom>
          <a:solidFill xmlns:a="http://schemas.openxmlformats.org/drawingml/2006/main">
            <a:srgbClr val="F6D2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最新失败 → 不回退旧成功">
            <a:extLst xmlns:a="http://schemas.openxmlformats.org/drawingml/2006/main">
              <a:ext uri="{FF2B5EF4-FFF2-40B4-BE49-F238E27FC236}">
                <a16:creationId xmlns:a16="http://schemas.microsoft.com/office/drawing/2014/main" id="{E1BDF4E2-1801-441D-BE4A-F9783346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90975"/>
            <a:ext cx="5019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最新失败 → 不回退旧成功</a:t>
            </a:r>
          </a:p>
        </p:txBody>
      </p:sp>
      <p:sp>
        <p:nvSpPr>
          <p:cNvPr id="26" name="历史成功不会覆盖后续失败，&#10;按相应环境的最新尝试判断。">
            <a:extLst xmlns:a="http://schemas.openxmlformats.org/drawingml/2006/main">
              <a:ext uri="{FF2B5EF4-FFF2-40B4-BE49-F238E27FC236}">
                <a16:creationId xmlns:a16="http://schemas.microsoft.com/office/drawing/2014/main" id="{B134560A-04B1-47D3-81F3-4CAA79A5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6250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历史成功不会覆盖后续失败，</a:t>
            </a:r>
          </a:p>
          <a:p xmlns:a="http://schemas.openxmlformats.org/drawingml/2006/main">
            <a: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按相应环境的最新尝试判断。</a:t>
            </a:r>
          </a:p>
        </p:txBody>
      </p:sp>
      <p:sp>
        <p:nvSpPr>
          <p:cNvPr id="27" name="历史记录用于追溯；输出检查只覆盖登记的受测行为。">
            <a:extLst xmlns:a="http://schemas.openxmlformats.org/drawingml/2006/main">
              <a:ext uri="{FF2B5EF4-FFF2-40B4-BE49-F238E27FC236}">
                <a16:creationId xmlns:a16="http://schemas.microsoft.com/office/drawing/2014/main" id="{8E00E221-DAC6-4FAB-9CA6-8FC17D98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历史记录用于追溯；输出检查只覆盖登记的受测行为。</a:t>
            </a:r>
          </a:p>
        </p:txBody>
      </p:sp>
    </p:spTree>
    <p:extLst>
      <p:ext uri="{BB962C8B-B14F-4D97-AF65-F5344CB8AC3E}">
        <p14:creationId xmlns:p14="http://schemas.microsoft.com/office/powerpoint/2010/main" val="890689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35071-B0FB-44A7-AB99-6C0BAD058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5c322fc1a460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796BF302-1EB6-4BB8-AD8F-BDCF99E3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8 / 10">
            <a:extLst xmlns:a="http://schemas.openxmlformats.org/drawingml/2006/main">
              <a:ext uri="{FF2B5EF4-FFF2-40B4-BE49-F238E27FC236}">
                <a16:creationId xmlns:a16="http://schemas.microsoft.com/office/drawing/2014/main" id="{2EBADECE-6A19-4410-BA7F-2943A0FF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08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32EEFDE9-10BE-4605-B3F3-6D30A725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610225" cy="219075"/>
          </a:xfrm>
          <a:custGeom xmlns:a="http://schemas.openxmlformats.org/drawingml/2006/main">
            <a:pathLst>
              <a:path w="5610225" h="219075">
                <a:moveTo>
                  <a:pt x="0" y="28575"/>
                </a:moveTo>
                <a:lnTo>
                  <a:pt x="5562600" y="0"/>
                </a:lnTo>
                <a:lnTo>
                  <a:pt x="56102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链接出错，能找到哪一行、为什么">
            <a:extLst xmlns:a="http://schemas.openxmlformats.org/drawingml/2006/main">
              <a:ext uri="{FF2B5EF4-FFF2-40B4-BE49-F238E27FC236}">
                <a16:creationId xmlns:a16="http://schemas.microsoft.com/office/drawing/2014/main" id="{7C0CAE34-3BF3-4111-ADE2-BA1C9BA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链接出错，能找到哪一行、为什么</a:t>
            </a:r>
          </a:p>
        </p:txBody>
      </p:sp>
      <p:sp>
        <p:nvSpPr>
          <p:cNvPr id="6" name="专项样例预置两处坏链，本轮已经重新检查">
            <a:extLst xmlns:a="http://schemas.openxmlformats.org/drawingml/2006/main">
              <a:ext uri="{FF2B5EF4-FFF2-40B4-BE49-F238E27FC236}">
                <a16:creationId xmlns:a16="http://schemas.microsoft.com/office/drawing/2014/main" id="{1B1E69C0-6C93-4988-B91E-34490DE4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专项样例预置两处坏链，本轮已经重新检查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E0A3D-7555-418B-AA70-D0D79819B4DD}"/>
              </a:ext>
            </a:extLst>
          </p:cNvPr>
          <p:cNvGraphicFramePr/>
          <p:nvPr/>
        </p:nvGraphicFramePr>
        <p:xfrm>
          <a:off xmlns:a="http://schemas.openxmlformats.org/drawingml/2006/main" x="723900" y="2152650"/>
          <a:ext xmlns:a="http://schemas.openxmlformats.org/drawingml/2006/main" cx="10753725" cy="22764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24100"/>
                <a:gridCol w="4914900"/>
                <a:gridCol w="3514725"/>
              </a:tblGrid>
              <a:tr h="7588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原始目标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检查结果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7588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README.md:13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docs/intentionally-missing.md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目标文件不存在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758825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README.md:14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docs/target%20file.md</a:t>
                      </a:r>
                    </a:p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Chalkboard SE"/>
                          <a:ea typeface="Chalkboard SE"/>
                          <a:cs typeface="Chalkboard SE"/>
                        </a:rPr>
                        <a:t>#escaped-ghost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目标标题或锚点不存在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086E1482-C0E1-495A-9CB0-1A688705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0791825" cy="2314575"/>
          </a:xfrm>
          <a:custGeom xmlns:a="http://schemas.openxmlformats.org/drawingml/2006/main">
            <a:pathLst>
              <a:path w="10791825" h="2314575">
                <a:moveTo>
                  <a:pt x="38100" y="28575"/>
                </a:moveTo>
                <a:cubicBezTo>
                  <a:pt x="3021711" y="0"/>
                  <a:pt x="7338441" y="57150"/>
                  <a:pt x="10763250" y="19050"/>
                </a:cubicBezTo>
                <a:cubicBezTo>
                  <a:pt x="10801350" y="648081"/>
                  <a:pt x="10753725" y="1735931"/>
                  <a:pt x="10782300" y="2286000"/>
                </a:cubicBezTo>
                <a:cubicBezTo>
                  <a:pt x="7122605" y="2324100"/>
                  <a:pt x="3129629" y="2276475"/>
                  <a:pt x="19050" y="2305050"/>
                </a:cubicBezTo>
                <a:cubicBezTo>
                  <a:pt x="47625" y="1620203"/>
                  <a:pt x="0" y="694372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D5DD9-8A31-4615-8B76-03D98A45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079182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23">
            <a:extLst xmlns:a="http://schemas.openxmlformats.org/drawingml/2006/main">
              <a:ext uri="{FF2B5EF4-FFF2-40B4-BE49-F238E27FC236}">
                <a16:creationId xmlns:a16="http://schemas.microsoft.com/office/drawing/2014/main" id="{F00505C4-0B99-416A-B042-5E957DB6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67275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pPr>
            <a:r>
              <a:rPr sz="5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rPr>
              <a:t>23</a:t>
            </a:r>
          </a:p>
        </p:txBody>
      </p:sp>
      <p:sp>
        <p:nvSpPr>
          <p:cNvPr id="11" name="条本地链接通过">
            <a:extLst xmlns:a="http://schemas.openxmlformats.org/drawingml/2006/main">
              <a:ext uri="{FF2B5EF4-FFF2-40B4-BE49-F238E27FC236}">
                <a16:creationId xmlns:a16="http://schemas.microsoft.com/office/drawing/2014/main" id="{D86382B2-514B-4DCE-916B-5426A7D0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054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条本地链接通过</a:t>
            </a:r>
          </a:p>
        </p:txBody>
      </p:sp>
      <p:sp>
        <p:nvSpPr>
          <p:cNvPr id="12" name="2">
            <a:extLst xmlns:a="http://schemas.openxmlformats.org/drawingml/2006/main">
              <a:ext uri="{FF2B5EF4-FFF2-40B4-BE49-F238E27FC236}">
                <a16:creationId xmlns:a16="http://schemas.microsoft.com/office/drawing/2014/main" id="{1DB8D197-60B6-45E6-A822-6814AB85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867275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defRPr>
            </a:pPr>
            <a:r>
              <a:rPr sz="5100" b="0">
                <a:solidFill>
                  <a:srgbClr val="AA554B"/>
                </a:solidFill>
                <a:latin typeface="Chalkboard SE"/>
                <a:ea typeface="Chalkboard SE"/>
                <a:cs typeface="Chalkboard SE"/>
              </a:rPr>
              <a:t>2</a:t>
            </a:r>
          </a:p>
        </p:txBody>
      </p:sp>
      <p:sp>
        <p:nvSpPr>
          <p:cNvPr id="13" name="处预置坏链被定位">
            <a:extLst xmlns:a="http://schemas.openxmlformats.org/drawingml/2006/main">
              <a:ext uri="{FF2B5EF4-FFF2-40B4-BE49-F238E27FC236}">
                <a16:creationId xmlns:a16="http://schemas.microsoft.com/office/drawing/2014/main" id="{78980526-CB02-46B7-891D-1D01627E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7054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处预置坏链被定位</a:t>
            </a:r>
          </a:p>
        </p:txBody>
      </p:sp>
      <p:sp>
        <p:nvSpPr>
          <p:cNvPr id="14" name="手绘圈注">
            <a:extLst xmlns:a="http://schemas.openxmlformats.org/drawingml/2006/main">
              <a:ext uri="{FF2B5EF4-FFF2-40B4-BE49-F238E27FC236}">
                <a16:creationId xmlns:a16="http://schemas.microsoft.com/office/drawing/2014/main" id="{CFDC3039-7803-4810-AB2F-E790180E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52975"/>
            <a:ext cx="1190625" cy="971550"/>
          </a:xfrm>
          <a:custGeom xmlns:a="http://schemas.openxmlformats.org/drawingml/2006/main">
            <a:pathLst>
              <a:path w="1190625" h="971550">
                <a:moveTo>
                  <a:pt x="714375" y="38100"/>
                </a:moveTo>
                <a:cubicBezTo>
                  <a:pt x="154781" y="-19050"/>
                  <a:pt x="-76200" y="213741"/>
                  <a:pt x="38100" y="524637"/>
                </a:cubicBezTo>
                <a:cubicBezTo>
                  <a:pt x="0" y="874395"/>
                  <a:pt x="571500" y="1038225"/>
                  <a:pt x="964406" y="933450"/>
                </a:cubicBezTo>
                <a:cubicBezTo>
                  <a:pt x="1266825" y="874395"/>
                  <a:pt x="1228725" y="213741"/>
                  <a:pt x="928688" y="47625"/>
                </a:cubicBezTo>
                <a:cubicBezTo>
                  <a:pt x="773906" y="0"/>
                  <a:pt x="500063" y="0"/>
                  <a:pt x="333375" y="76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AA554B"/>
            </a:solidFill>
            <a:prstDash val="solid"/>
          </a:ln>
        </p:spPr>
      </p:sp>
      <p:sp>
        <p:nvSpPr>
          <p:cNvPr id="15" name="1">
            <a:extLst xmlns:a="http://schemas.openxmlformats.org/drawingml/2006/main">
              <a:ext uri="{FF2B5EF4-FFF2-40B4-BE49-F238E27FC236}">
                <a16:creationId xmlns:a16="http://schemas.microsoft.com/office/drawing/2014/main" id="{CEDB17D3-24DD-4998-9D4E-DCBAE2EE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67275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defRPr>
            </a:pPr>
            <a:r>
              <a:rPr sz="5100" b="0">
                <a:solidFill>
                  <a:srgbClr val="98682D"/>
                </a:solidFill>
                <a:latin typeface="Chalkboard SE"/>
                <a:ea typeface="Chalkboard SE"/>
                <a:cs typeface="Chalkboard SE"/>
              </a:rPr>
              <a:t>1</a:t>
            </a:r>
          </a:p>
        </p:txBody>
      </p:sp>
      <p:sp>
        <p:nvSpPr>
          <p:cNvPr id="16" name="条外链未确认">
            <a:extLst xmlns:a="http://schemas.openxmlformats.org/drawingml/2006/main">
              <a:ext uri="{FF2B5EF4-FFF2-40B4-BE49-F238E27FC236}">
                <a16:creationId xmlns:a16="http://schemas.microsoft.com/office/drawing/2014/main" id="{568F7A9C-8EE0-44FC-8CEE-FB4F73D6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7054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1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条外链未确认</a:t>
            </a:r>
          </a:p>
        </p:txBody>
      </p:sp>
      <p:sp>
        <p:nvSpPr>
          <p:cNvPr id="17" name="专项共26条；严格检查退出1，表示正确发现问题。">
            <a:extLst xmlns:a="http://schemas.openxmlformats.org/drawingml/2006/main">
              <a:ext uri="{FF2B5EF4-FFF2-40B4-BE49-F238E27FC236}">
                <a16:creationId xmlns:a16="http://schemas.microsoft.com/office/drawing/2014/main" id="{B940EFEC-9466-4226-9CB8-9DCEE121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3627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专项共26条；严格检查退出1，表示正确发现问题。</a:t>
            </a:r>
          </a:p>
        </p:txBody>
      </p:sp>
    </p:spTree>
    <p:extLst>
      <p:ext uri="{BB962C8B-B14F-4D97-AF65-F5344CB8AC3E}">
        <p14:creationId xmlns:p14="http://schemas.microsoft.com/office/powerpoint/2010/main" val="1326353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7053F-9755-4413-AFB1-D6EA4040C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60a6993c541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BA145AE0-1AE8-43E1-92B8-25E8BCCB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09 / 10">
            <a:extLst xmlns:a="http://schemas.openxmlformats.org/drawingml/2006/main">
              <a:ext uri="{FF2B5EF4-FFF2-40B4-BE49-F238E27FC236}">
                <a16:creationId xmlns:a16="http://schemas.microsoft.com/office/drawing/2014/main" id="{53D2C6FD-E06B-498B-8057-284A7DB3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09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B2E28390-3D18-438C-8D89-7E721A8F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610225" cy="219075"/>
          </a:xfrm>
          <a:custGeom xmlns:a="http://schemas.openxmlformats.org/drawingml/2006/main">
            <a:pathLst>
              <a:path w="5610225" h="219075">
                <a:moveTo>
                  <a:pt x="0" y="28575"/>
                </a:moveTo>
                <a:lnTo>
                  <a:pt x="5562600" y="0"/>
                </a:lnTo>
                <a:lnTo>
                  <a:pt x="56102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决赛最新版，补齐操作与任务反馈">
            <a:extLst xmlns:a="http://schemas.openxmlformats.org/drawingml/2006/main">
              <a:ext uri="{FF2B5EF4-FFF2-40B4-BE49-F238E27FC236}">
                <a16:creationId xmlns:a16="http://schemas.microsoft.com/office/drawing/2014/main" id="{914656A2-2740-4CDD-A00A-60F6F5C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决赛最新版，补齐操作与任务反馈</a:t>
            </a:r>
          </a:p>
        </p:txBody>
      </p:sp>
      <p:sp>
        <p:nvSpPr>
          <p:cNvPr id="6" name="真实选项、实际进度，以及长期使用的工作区">
            <a:extLst xmlns:a="http://schemas.openxmlformats.org/drawingml/2006/main">
              <a:ext uri="{FF2B5EF4-FFF2-40B4-BE49-F238E27FC236}">
                <a16:creationId xmlns:a16="http://schemas.microsoft.com/office/drawing/2014/main" id="{BFB5D607-3E9A-47DC-9F58-09C9F7DC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真实选项、实际进度，以及长期使用的工作区</a:t>
            </a:r>
          </a:p>
        </p:txBody>
      </p:sp>
      <p:sp>
        <p:nvSpPr>
          <p:cNvPr id="7" name="手绘圈注">
            <a:extLst xmlns:a="http://schemas.openxmlformats.org/drawingml/2006/main">
              <a:ext uri="{FF2B5EF4-FFF2-40B4-BE49-F238E27FC236}">
                <a16:creationId xmlns:a16="http://schemas.microsoft.com/office/drawing/2014/main" id="{5B573817-2DC5-4595-8F47-90064663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514350" cy="485775"/>
          </a:xfrm>
          <a:custGeom xmlns:a="http://schemas.openxmlformats.org/drawingml/2006/main">
            <a:pathLst>
              <a:path w="514350" h="485775">
                <a:moveTo>
                  <a:pt x="308610" y="38100"/>
                </a:moveTo>
                <a:cubicBezTo>
                  <a:pt x="66866" y="-19050"/>
                  <a:pt x="-76200" y="106871"/>
                  <a:pt x="38100" y="262319"/>
                </a:cubicBezTo>
                <a:cubicBezTo>
                  <a:pt x="0" y="437198"/>
                  <a:pt x="246888" y="552450"/>
                  <a:pt x="416624" y="447675"/>
                </a:cubicBezTo>
                <a:cubicBezTo>
                  <a:pt x="590550" y="437198"/>
                  <a:pt x="552450" y="106871"/>
                  <a:pt x="401193" y="47625"/>
                </a:cubicBezTo>
                <a:cubicBezTo>
                  <a:pt x="334328" y="0"/>
                  <a:pt x="216027" y="0"/>
                  <a:pt x="144018" y="76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8638C"/>
            </a:solidFill>
            <a:prstDash val="solid"/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7B9D9BEC-315F-443B-AE25-FDB244E5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1</a:t>
            </a:r>
          </a:p>
        </p:txBody>
      </p:sp>
      <p:sp>
        <p:nvSpPr>
          <p:cNvPr id="9" name="网页能完整操作">
            <a:extLst xmlns:a="http://schemas.openxmlformats.org/drawingml/2006/main">
              <a:ext uri="{FF2B5EF4-FFF2-40B4-BE49-F238E27FC236}">
                <a16:creationId xmlns:a16="http://schemas.microsoft.com/office/drawing/2014/main" id="{5F9A33C0-D57E-4879-AED6-E2074DEB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00275"/>
            <a:ext cx="4638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网页能完整操作</a:t>
            </a:r>
          </a:p>
        </p:txBody>
      </p:sp>
      <p:sp>
        <p:nvSpPr>
          <p:cNvPr id="10" name="下拉选项对应真实配置；源码、&#10;配置、任务和导出都有入口。">
            <a:extLst xmlns:a="http://schemas.openxmlformats.org/drawingml/2006/main">
              <a:ext uri="{FF2B5EF4-FFF2-40B4-BE49-F238E27FC236}">
                <a16:creationId xmlns:a16="http://schemas.microsoft.com/office/drawing/2014/main" id="{9D1F6433-DE56-4374-B8DB-DEC109B5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67025"/>
            <a:ext cx="4619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下拉选项对应真实配置；源码、</a:t>
            </a:r>
          </a:p>
          <a:p xmlns:a="http://schemas.openxmlformats.org/drawingml/2006/main">
            <a: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配置、任务和导出都有入口。</a:t>
            </a:r>
          </a:p>
        </p:txBody>
      </p:sp>
      <p:sp>
        <p:nvSpPr>
          <p:cNvPr id="11" name="手绘圈注">
            <a:extLst xmlns:a="http://schemas.openxmlformats.org/drawingml/2006/main">
              <a:ext uri="{FF2B5EF4-FFF2-40B4-BE49-F238E27FC236}">
                <a16:creationId xmlns:a16="http://schemas.microsoft.com/office/drawing/2014/main" id="{7560F130-8D34-44D8-8B02-C54DB52A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81225"/>
            <a:ext cx="514350" cy="485775"/>
          </a:xfrm>
          <a:custGeom xmlns:a="http://schemas.openxmlformats.org/drawingml/2006/main">
            <a:pathLst>
              <a:path w="514350" h="485775">
                <a:moveTo>
                  <a:pt x="308610" y="38100"/>
                </a:moveTo>
                <a:cubicBezTo>
                  <a:pt x="66866" y="-19050"/>
                  <a:pt x="-76200" y="106871"/>
                  <a:pt x="38100" y="262319"/>
                </a:cubicBezTo>
                <a:cubicBezTo>
                  <a:pt x="0" y="437198"/>
                  <a:pt x="246888" y="552450"/>
                  <a:pt x="416624" y="447675"/>
                </a:cubicBezTo>
                <a:cubicBezTo>
                  <a:pt x="590550" y="437198"/>
                  <a:pt x="552450" y="106871"/>
                  <a:pt x="401193" y="47625"/>
                </a:cubicBezTo>
                <a:cubicBezTo>
                  <a:pt x="334328" y="0"/>
                  <a:pt x="216027" y="0"/>
                  <a:pt x="144018" y="76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397B60"/>
            </a:solidFill>
            <a:prstDash val="solid"/>
          </a:ln>
        </p:spPr>
      </p:sp>
      <p:sp>
        <p:nvSpPr>
          <p:cNvPr id="12" name="2">
            <a:extLst xmlns:a="http://schemas.openxmlformats.org/drawingml/2006/main">
              <a:ext uri="{FF2B5EF4-FFF2-40B4-BE49-F238E27FC236}">
                <a16:creationId xmlns:a16="http://schemas.microsoft.com/office/drawing/2014/main" id="{3B0DA2BC-84D9-4C17-AFA9-1A70220E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47900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pPr>
            <a:r>
              <a: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rPr>
              <a:t>2</a:t>
            </a:r>
          </a:p>
        </p:txBody>
      </p:sp>
      <p:sp>
        <p:nvSpPr>
          <p:cNvPr id="13" name="任务状态清晰">
            <a:extLst xmlns:a="http://schemas.openxmlformats.org/drawingml/2006/main">
              <a:ext uri="{FF2B5EF4-FFF2-40B4-BE49-F238E27FC236}">
                <a16:creationId xmlns:a16="http://schemas.microsoft.com/office/drawing/2014/main" id="{663C6DAB-B0A5-4578-B1FA-6B858465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002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7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任务状态清晰</a:t>
            </a:r>
          </a:p>
        </p:txBody>
      </p:sp>
      <p:sp>
        <p:nvSpPr>
          <p:cNvPr id="14" name="排队 / 运行 / 结束&#10;运行通过 / 仅编译">
            <a:extLst xmlns:a="http://schemas.openxmlformats.org/drawingml/2006/main">
              <a:ext uri="{FF2B5EF4-FFF2-40B4-BE49-F238E27FC236}">
                <a16:creationId xmlns:a16="http://schemas.microsoft.com/office/drawing/2014/main" id="{548BA417-B3C1-4841-9EEB-82FEED23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67025"/>
            <a:ext cx="4057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排队 / 运行 / 结束</a:t>
            </a:r>
          </a:p>
          <a:p xmlns:a="http://schemas.openxmlformats.org/drawingml/2006/main">
            <a: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运行通过 / 仅编译</a:t>
            </a:r>
          </a:p>
        </p:txBody>
      </p:sp>
      <p:sp>
        <p:nvSpPr>
          <p:cNvPr id="15" name="马克笔下划线">
            <a:extLst xmlns:a="http://schemas.openxmlformats.org/drawingml/2006/main">
              <a:ext uri="{FF2B5EF4-FFF2-40B4-BE49-F238E27FC236}">
                <a16:creationId xmlns:a16="http://schemas.microsoft.com/office/drawing/2014/main" id="{63EC75B6-B189-4276-B629-9EFBCB4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52900"/>
            <a:ext cx="10648950" cy="76200"/>
          </a:xfrm>
          <a:custGeom xmlns:a="http://schemas.openxmlformats.org/drawingml/2006/main">
            <a:pathLst>
              <a:path w="10648950" h="76200">
                <a:moveTo>
                  <a:pt x="9525" y="38100"/>
                </a:moveTo>
                <a:cubicBezTo>
                  <a:pt x="2981706" y="0"/>
                  <a:pt x="6708839" y="76200"/>
                  <a:pt x="10639425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A302D"/>
            </a:solidFill>
            <a:prstDash val="solid"/>
          </a:ln>
        </p:spPr>
      </p:sp>
      <p:sp>
        <p:nvSpPr>
          <p:cNvPr id="16" name="手绘圈注">
            <a:extLst xmlns:a="http://schemas.openxmlformats.org/drawingml/2006/main">
              <a:ext uri="{FF2B5EF4-FFF2-40B4-BE49-F238E27FC236}">
                <a16:creationId xmlns:a16="http://schemas.microsoft.com/office/drawing/2014/main" id="{1745ECA9-678A-48CC-A58C-14E3EB5B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514350" cy="485775"/>
          </a:xfrm>
          <a:custGeom xmlns:a="http://schemas.openxmlformats.org/drawingml/2006/main">
            <a:pathLst>
              <a:path w="514350" h="485775">
                <a:moveTo>
                  <a:pt x="308610" y="38100"/>
                </a:moveTo>
                <a:cubicBezTo>
                  <a:pt x="66866" y="-19050"/>
                  <a:pt x="-76200" y="106871"/>
                  <a:pt x="38100" y="262319"/>
                </a:cubicBezTo>
                <a:cubicBezTo>
                  <a:pt x="0" y="437198"/>
                  <a:pt x="246888" y="552450"/>
                  <a:pt x="416624" y="447675"/>
                </a:cubicBezTo>
                <a:cubicBezTo>
                  <a:pt x="590550" y="437198"/>
                  <a:pt x="552450" y="106871"/>
                  <a:pt x="401193" y="47625"/>
                </a:cubicBezTo>
                <a:cubicBezTo>
                  <a:pt x="334328" y="0"/>
                  <a:pt x="216027" y="0"/>
                  <a:pt x="144018" y="76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28638C"/>
            </a:solidFill>
            <a:prstDash val="solid"/>
          </a:ln>
        </p:spPr>
      </p:sp>
      <p:sp>
        <p:nvSpPr>
          <p:cNvPr id="17" name="3">
            <a:extLst xmlns:a="http://schemas.openxmlformats.org/drawingml/2006/main">
              <a:ext uri="{FF2B5EF4-FFF2-40B4-BE49-F238E27FC236}">
                <a16:creationId xmlns:a16="http://schemas.microsoft.com/office/drawing/2014/main" id="{9D2163D9-131F-4F10-AEE9-855DBAA3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defRPr>
            </a:pPr>
            <a:r>
              <a:rPr sz="2100" b="0">
                <a:solidFill>
                  <a:srgbClr val="28638C"/>
                </a:solidFill>
                <a:latin typeface="Chalkboard SE"/>
                <a:ea typeface="Chalkboard SE"/>
                <a:cs typeface="Chalkboard SE"/>
              </a:rPr>
              <a:t>3</a:t>
            </a:r>
          </a:p>
        </p:txBody>
      </p:sp>
      <p:sp>
        <p:nvSpPr>
          <p:cNvPr id="18" name="23 项服务回归">
            <a:extLst xmlns:a="http://schemas.openxmlformats.org/drawingml/2006/main">
              <a:ext uri="{FF2B5EF4-FFF2-40B4-BE49-F238E27FC236}">
                <a16:creationId xmlns:a16="http://schemas.microsoft.com/office/drawing/2014/main" id="{5C7BD979-6545-4CC9-BA6B-0B868FBF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19625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70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23 项服务回归</a:t>
            </a:r>
          </a:p>
        </p:txBody>
      </p:sp>
      <p:sp>
        <p:nvSpPr>
          <p:cNvPr id="19" name="本版原生 HTTP 专项回归通过&#10;三档十页，共30次布局检查">
            <a:extLst xmlns:a="http://schemas.openxmlformats.org/drawingml/2006/main">
              <a:ext uri="{FF2B5EF4-FFF2-40B4-BE49-F238E27FC236}">
                <a16:creationId xmlns:a16="http://schemas.microsoft.com/office/drawing/2014/main" id="{1D06F3B8-A0B7-4828-95E3-8B1C5E2E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76850"/>
            <a:ext cx="46196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本版原生 HTTP 专项回归通过</a:t>
            </a:r>
          </a:p>
          <a:p xmlns:a="http://schemas.openxmlformats.org/drawingml/2006/main">
            <a:pPr algn="l">
              <a:def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17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三档十页，共30次布局检查</a:t>
            </a:r>
          </a:p>
        </p:txBody>
      </p:sp>
      <p:sp>
        <p:nvSpPr>
          <p:cNvPr id="20" name="手绘圈注">
            <a:extLst xmlns:a="http://schemas.openxmlformats.org/drawingml/2006/main">
              <a:ext uri="{FF2B5EF4-FFF2-40B4-BE49-F238E27FC236}">
                <a16:creationId xmlns:a16="http://schemas.microsoft.com/office/drawing/2014/main" id="{736236A1-FA3E-4B7C-8AA4-EC041707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81525"/>
            <a:ext cx="514350" cy="485775"/>
          </a:xfrm>
          <a:custGeom xmlns:a="http://schemas.openxmlformats.org/drawingml/2006/main">
            <a:pathLst>
              <a:path w="514350" h="485775">
                <a:moveTo>
                  <a:pt x="308610" y="38100"/>
                </a:moveTo>
                <a:cubicBezTo>
                  <a:pt x="66866" y="-19050"/>
                  <a:pt x="-76200" y="106871"/>
                  <a:pt x="38100" y="262319"/>
                </a:cubicBezTo>
                <a:cubicBezTo>
                  <a:pt x="0" y="437198"/>
                  <a:pt x="246888" y="552450"/>
                  <a:pt x="416624" y="447675"/>
                </a:cubicBezTo>
                <a:cubicBezTo>
                  <a:pt x="590550" y="437198"/>
                  <a:pt x="552450" y="106871"/>
                  <a:pt x="401193" y="47625"/>
                </a:cubicBezTo>
                <a:cubicBezTo>
                  <a:pt x="334328" y="0"/>
                  <a:pt x="216027" y="0"/>
                  <a:pt x="144018" y="76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397B60"/>
            </a:solidFill>
            <a:prstDash val="solid"/>
          </a:ln>
        </p:spPr>
      </p:sp>
      <p:sp>
        <p:nvSpPr>
          <p:cNvPr id="21" name="4">
            <a:extLst xmlns:a="http://schemas.openxmlformats.org/drawingml/2006/main">
              <a:ext uri="{FF2B5EF4-FFF2-40B4-BE49-F238E27FC236}">
                <a16:creationId xmlns:a16="http://schemas.microsoft.com/office/drawing/2014/main" id="{01A44F6F-C54B-4F73-A18F-74F6A6DC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648200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defPPr>
            <a:lvl1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1pPr>
            <a:lvl2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2pPr>
            <a:lvl3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3pPr>
            <a:lvl4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4pPr>
            <a:lvl5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5pPr>
            <a:lvl6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6pPr>
            <a:lvl7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7pPr>
            <a:lvl8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8pPr>
            <a:lvl9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defRPr>
            </a:pPr>
            <a:r>
              <a:rPr sz="2100" b="0">
                <a:solidFill>
                  <a:srgbClr val="397B60"/>
                </a:solidFill>
                <a:latin typeface="Chalkboard SE"/>
                <a:ea typeface="Chalkboard SE"/>
                <a:cs typeface="Chalkboard SE"/>
              </a:rPr>
              <a:t>4</a:t>
            </a:r>
          </a:p>
        </p:txBody>
      </p:sp>
      <p:sp>
        <p:nvSpPr>
          <p:cNvPr id="22" name="739 条历史完整保留">
            <a:extLst xmlns:a="http://schemas.openxmlformats.org/drawingml/2006/main">
              <a:ext uri="{FF2B5EF4-FFF2-40B4-BE49-F238E27FC236}">
                <a16:creationId xmlns:a16="http://schemas.microsoft.com/office/drawing/2014/main" id="{5DD52C11-FDB0-4ECA-98AC-DC7BE43F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619625"/>
            <a:ext cx="4067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26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739 条历史完整保留</a:t>
            </a:r>
          </a:p>
        </p:txBody>
      </p:sp>
      <p:sp>
        <p:nvSpPr>
          <p:cNvPr id="23" name="显式任务内存上限&#10;当前双 SDK 任务已完成">
            <a:extLst xmlns:a="http://schemas.openxmlformats.org/drawingml/2006/main">
              <a:ext uri="{FF2B5EF4-FFF2-40B4-BE49-F238E27FC236}">
                <a16:creationId xmlns:a16="http://schemas.microsoft.com/office/drawing/2014/main" id="{C52B903A-DEE4-48FF-A2BA-B4BA3F8D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76850"/>
            <a:ext cx="40576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显式任务内存上限</a:t>
            </a:r>
          </a:p>
          <a:p xmlns:a="http://schemas.openxmlformats.org/drawingml/2006/main">
            <a:pPr algn="l">
              <a:def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3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当前双 SDK 任务已完成</a:t>
            </a:r>
          </a:p>
        </p:txBody>
      </p:sp>
    </p:spTree>
    <p:extLst>
      <p:ext uri="{BB962C8B-B14F-4D97-AF65-F5344CB8AC3E}">
        <p14:creationId xmlns:p14="http://schemas.microsoft.com/office/powerpoint/2010/main" val="1511097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02D6F-C09E-4981-996A-7C4EC241CA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63e3db11d465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724F0EA0-88B4-4150-A507-1A38C3D0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10 / 10">
            <a:extLst xmlns:a="http://schemas.openxmlformats.org/drawingml/2006/main">
              <a:ext uri="{FF2B5EF4-FFF2-40B4-BE49-F238E27FC236}">
                <a16:creationId xmlns:a16="http://schemas.microsoft.com/office/drawing/2014/main" id="{A2E32E42-CB4C-4AFA-A28C-1CE68F4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10 / 10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C203C2C8-6202-4AC7-A8BE-443F3E50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4200525" cy="219075"/>
          </a:xfrm>
          <a:custGeom xmlns:a="http://schemas.openxmlformats.org/drawingml/2006/main">
            <a:pathLst>
              <a:path w="4200525" h="219075">
                <a:moveTo>
                  <a:pt x="0" y="28575"/>
                </a:moveTo>
                <a:lnTo>
                  <a:pt x="4152900" y="0"/>
                </a:lnTo>
                <a:lnTo>
                  <a:pt x="420052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源码与说明，供评委复查">
            <a:extLst xmlns:a="http://schemas.openxmlformats.org/drawingml/2006/main">
              <a:ext uri="{FF2B5EF4-FFF2-40B4-BE49-F238E27FC236}">
                <a16:creationId xmlns:a16="http://schemas.microsoft.com/office/drawing/2014/main" id="{5495D28A-6199-4FD1-ACBC-F0A4595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源码与说明，供评委复查</a:t>
            </a:r>
          </a:p>
        </p:txBody>
      </p:sp>
      <p:sp>
        <p:nvSpPr>
          <p:cNvPr id="6" name="固定版本、明确前提，按说明启动">
            <a:extLst xmlns:a="http://schemas.openxmlformats.org/drawingml/2006/main">
              <a:ext uri="{FF2B5EF4-FFF2-40B4-BE49-F238E27FC236}">
                <a16:creationId xmlns:a16="http://schemas.microsoft.com/office/drawing/2014/main" id="{DFB21CCF-F070-4E8A-98F8-B982889F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固定版本、明确前提，按说明启动</a:t>
            </a:r>
          </a:p>
        </p:txBody>
      </p:sp>
      <p:sp>
        <p:nvSpPr>
          <p:cNvPr id="7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63D24489-BB7D-4D27-945D-592A5432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7639050" cy="342900"/>
          </a:xfrm>
          <a:custGeom xmlns:a="http://schemas.openxmlformats.org/drawingml/2006/main">
            <a:pathLst>
              <a:path w="7639050" h="342900">
                <a:moveTo>
                  <a:pt x="0" y="28575"/>
                </a:moveTo>
                <a:lnTo>
                  <a:pt x="7591425" y="0"/>
                </a:lnTo>
                <a:lnTo>
                  <a:pt x="7639050" y="314325"/>
                </a:lnTo>
                <a:lnTo>
                  <a:pt x="38100" y="342900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按说明构建和启动工作台">
            <a:extLst xmlns:a="http://schemas.openxmlformats.org/drawingml/2006/main">
              <a:ext uri="{FF2B5EF4-FFF2-40B4-BE49-F238E27FC236}">
                <a16:creationId xmlns:a16="http://schemas.microsoft.com/office/drawing/2014/main" id="{10453C46-1410-4948-A352-5AB0C47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1030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7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按说明构建和启动工作台</a:t>
            </a:r>
          </a:p>
        </p:txBody>
      </p:sp>
      <p:sp>
        <p:nvSpPr>
          <p:cNvPr id="9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E75D0CDF-08F5-4024-82BE-45454FE0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05150"/>
            <a:ext cx="10658475" cy="1609725"/>
          </a:xfrm>
          <a:custGeom xmlns:a="http://schemas.openxmlformats.org/drawingml/2006/main">
            <a:pathLst>
              <a:path w="10658475" h="1609725">
                <a:moveTo>
                  <a:pt x="38100" y="28575"/>
                </a:moveTo>
                <a:cubicBezTo>
                  <a:pt x="2984373" y="0"/>
                  <a:pt x="7247763" y="57150"/>
                  <a:pt x="10629900" y="19050"/>
                </a:cubicBezTo>
                <a:cubicBezTo>
                  <a:pt x="10668000" y="450723"/>
                  <a:pt x="10620375" y="1207294"/>
                  <a:pt x="10648950" y="1581150"/>
                </a:cubicBezTo>
                <a:cubicBezTo>
                  <a:pt x="7034594" y="1619250"/>
                  <a:pt x="3090958" y="1571625"/>
                  <a:pt x="19050" y="1600200"/>
                </a:cubicBezTo>
                <a:cubicBezTo>
                  <a:pt x="47625" y="1126808"/>
                  <a:pt x="0" y="482917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75EB3-FE7D-4244-AD08-52569D1C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05150"/>
            <a:ext cx="106584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功能源码  068a22a">
            <a:extLst xmlns:a="http://schemas.openxmlformats.org/drawingml/2006/main">
              <a:ext uri="{FF2B5EF4-FFF2-40B4-BE49-F238E27FC236}">
                <a16:creationId xmlns:a16="http://schemas.microsoft.com/office/drawing/2014/main" id="{BCAD6548-136E-4308-91C7-96720E47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766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3150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功能源码  068a22a</a:t>
            </a:r>
          </a:p>
        </p:txBody>
      </p:sp>
      <p:sp>
        <p:nvSpPr>
          <p:cNvPr id="12" name="AtomGit：atomgit.com/c2892480843s/cj-docguard&#10;运行指南：">
            <a:extLst xmlns:a="http://schemas.openxmlformats.org/drawingml/2006/main">
              <a:ext uri="{FF2B5EF4-FFF2-40B4-BE49-F238E27FC236}">
                <a16:creationId xmlns:a16="http://schemas.microsoft.com/office/drawing/2014/main" id="{873F6057-B910-4D63-A21A-0BB9F79F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90975"/>
            <a:ext cx="996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AtomGit：atomgit.com/c2892480843s/cj-docguard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运行指南：docs/judge-quickstart.md</a:t>
            </a:r>
          </a:p>
        </p:txBody>
      </p:sp>
      <p:sp>
        <p:nvSpPr>
          <p:cNvPr id="13" name="前提：仓颉1.1.3 / 1.2.0 + 兼容系统 SDK">
            <a:extLst xmlns:a="http://schemas.openxmlformats.org/drawingml/2006/main">
              <a:ext uri="{FF2B5EF4-FFF2-40B4-BE49-F238E27FC236}">
                <a16:creationId xmlns:a16="http://schemas.microsoft.com/office/drawing/2014/main" id="{B5DB137A-F684-4D2F-A0B0-9FFE155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67300"/>
            <a:ext cx="10553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5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前提：仓颉1.1.3 / 1.2.0 + 兼容系统 SDK</a:t>
            </a:r>
          </a:p>
        </p:txBody>
      </p:sp>
      <p:sp>
        <p:nvSpPr>
          <p:cNvPr id="14" name="当前完整实测：macOS arm64">
            <a:extLst xmlns:a="http://schemas.openxmlformats.org/drawingml/2006/main">
              <a:ext uri="{FF2B5EF4-FFF2-40B4-BE49-F238E27FC236}">
                <a16:creationId xmlns:a16="http://schemas.microsoft.com/office/drawing/2014/main" id="{EBB4A58C-0E59-4330-A859-34BF7AB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48325"/>
            <a:ext cx="1055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2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当前完整实测：macOS arm64</a:t>
            </a:r>
          </a:p>
        </p:txBody>
      </p:sp>
      <p:sp>
        <p:nvSpPr>
          <p:cNvPr id="15" name="谢谢各位评委！">
            <a:extLst xmlns:a="http://schemas.openxmlformats.org/drawingml/2006/main">
              <a:ext uri="{FF2B5EF4-FFF2-40B4-BE49-F238E27FC236}">
                <a16:creationId xmlns:a16="http://schemas.microsoft.com/office/drawing/2014/main" id="{F3F8B195-A860-41E8-9FA6-CADF0EAB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6191250"/>
            <a:ext cx="3276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defRPr>
            </a:pPr>
            <a:r>
              <a:rPr sz="2775" b="0">
                <a:solidFill>
                  <a:srgbClr val="28638C"/>
                </a:solidFill>
                <a:latin typeface="Ma Shan Zheng"/>
                <a:ea typeface="Ma Shan Zheng"/>
                <a:cs typeface="Ma Shan Zheng"/>
              </a:rPr>
              <a:t>谢谢各位评委！</a:t>
            </a:r>
          </a:p>
        </p:txBody>
      </p:sp>
    </p:spTree>
    <p:extLst>
      <p:ext uri="{BB962C8B-B14F-4D97-AF65-F5344CB8AC3E}">
        <p14:creationId xmlns:p14="http://schemas.microsoft.com/office/powerpoint/2010/main" val="1558479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CC67A-6A7D-4450-8D0C-9A30ACA7A0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ea71edfef4fc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BB01F34E-6608-4B0E-9978-A7F7A5B1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1 / 4">
            <a:extLst xmlns:a="http://schemas.openxmlformats.org/drawingml/2006/main">
              <a:ext uri="{FF2B5EF4-FFF2-40B4-BE49-F238E27FC236}">
                <a16:creationId xmlns:a16="http://schemas.microsoft.com/office/drawing/2014/main" id="{43442E1B-C421-4531-A0FB-6AB2B29C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1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61D83F52-B43F-4C7D-8DE1-655D1188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3495675" cy="219075"/>
          </a:xfrm>
          <a:custGeom xmlns:a="http://schemas.openxmlformats.org/drawingml/2006/main">
            <a:pathLst>
              <a:path w="3495675" h="219075">
                <a:moveTo>
                  <a:pt x="0" y="28575"/>
                </a:moveTo>
                <a:lnTo>
                  <a:pt x="3448050" y="0"/>
                </a:lnTo>
                <a:lnTo>
                  <a:pt x="349567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当前支持范围">
            <a:extLst xmlns:a="http://schemas.openxmlformats.org/drawingml/2006/main">
              <a:ext uri="{FF2B5EF4-FFF2-40B4-BE49-F238E27FC236}">
                <a16:creationId xmlns:a16="http://schemas.microsoft.com/office/drawing/2014/main" id="{48DFE31D-C72A-498E-A235-C6BFFA70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备查：当前支持范围</a:t>
            </a:r>
          </a:p>
        </p:txBody>
      </p:sp>
      <p:sp>
        <p:nvSpPr>
          <p:cNvPr id="6" name="按已经实现、已经实测的范围回答">
            <a:extLst xmlns:a="http://schemas.openxmlformats.org/drawingml/2006/main">
              <a:ext uri="{FF2B5EF4-FFF2-40B4-BE49-F238E27FC236}">
                <a16:creationId xmlns:a16="http://schemas.microsoft.com/office/drawing/2014/main" id="{92111920-5F7E-461A-BF77-6E92768C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按已经实现、已经实测的范围回答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EA34F-044A-4141-BFDE-3269D98B4E65}"/>
              </a:ext>
            </a:extLst>
          </p:cNvPr>
          <p:cNvGraphicFramePr/>
          <p:nvPr/>
        </p:nvGraphicFramePr>
        <p:xfrm>
          <a:off xmlns:a="http://schemas.openxmlformats.org/drawingml/2006/main" x="723900" y="2095500"/>
          <a:ext xmlns:a="http://schemas.openxmlformats.org/drawingml/2006/main" cx="10753725" cy="3876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28925"/>
                <a:gridCol w="7924800"/>
              </a:tblGrid>
              <a:tr h="6461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当前实现或结论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6461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宿主与工具链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完整实测：macOS arm64；SDK 1.1.3 / 1.2.0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461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声明解析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std.ast 与已测试声明子集；不作全语义承诺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461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执行项目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维护者明确授权的可信本地项目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461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外部链接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离线未查保持未确认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46113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安全边界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进程监督和资源限制不等于完整安全沙箱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1C21A21E-10E0-4213-AE54-5E80DA15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0791825" cy="3914775"/>
          </a:xfrm>
          <a:custGeom xmlns:a="http://schemas.openxmlformats.org/drawingml/2006/main">
            <a:pathLst>
              <a:path w="10791825" h="3914775">
                <a:moveTo>
                  <a:pt x="38100" y="28575"/>
                </a:moveTo>
                <a:cubicBezTo>
                  <a:pt x="3021711" y="0"/>
                  <a:pt x="7338441" y="57150"/>
                  <a:pt x="10763250" y="19050"/>
                </a:cubicBezTo>
                <a:cubicBezTo>
                  <a:pt x="10801350" y="1096137"/>
                  <a:pt x="10753725" y="2936081"/>
                  <a:pt x="10782300" y="3886200"/>
                </a:cubicBezTo>
                <a:cubicBezTo>
                  <a:pt x="7122605" y="3924300"/>
                  <a:pt x="3129629" y="3876675"/>
                  <a:pt x="19050" y="3905250"/>
                </a:cubicBezTo>
                <a:cubicBezTo>
                  <a:pt x="47625" y="2740343"/>
                  <a:pt x="0" y="1174433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B2523-7959-4B8F-A2E9-DF149FA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0791825" cy="391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37181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3F113-40F5-4109-BDF6-9E977C2835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dcf8c0ccc4cf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68FC4C44-C12E-4853-B0B6-1009CB97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2 / 4">
            <a:extLst xmlns:a="http://schemas.openxmlformats.org/drawingml/2006/main">
              <a:ext uri="{FF2B5EF4-FFF2-40B4-BE49-F238E27FC236}">
                <a16:creationId xmlns:a16="http://schemas.microsoft.com/office/drawing/2014/main" id="{4B1FB5B5-EAB7-4332-9518-7B8DF1F6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2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D5F9B3A0-1B2B-40AF-B629-33E23A5D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257800" cy="219075"/>
          </a:xfrm>
          <a:custGeom xmlns:a="http://schemas.openxmlformats.org/drawingml/2006/main">
            <a:pathLst>
              <a:path w="5257800" h="219075">
                <a:moveTo>
                  <a:pt x="0" y="28575"/>
                </a:moveTo>
                <a:lnTo>
                  <a:pt x="5210175" y="0"/>
                </a:lnTo>
                <a:lnTo>
                  <a:pt x="52578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每个状态，都有明确条件">
            <a:extLst xmlns:a="http://schemas.openxmlformats.org/drawingml/2006/main">
              <a:ext uri="{FF2B5EF4-FFF2-40B4-BE49-F238E27FC236}">
                <a16:creationId xmlns:a16="http://schemas.microsoft.com/office/drawing/2014/main" id="{980C5F00-C57B-4486-9DDD-50825B4B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备查：每个状态，都有明确条件</a:t>
            </a:r>
          </a:p>
        </p:txBody>
      </p:sp>
      <p:sp>
        <p:nvSpPr>
          <p:cNvPr id="6" name="运行通过、仅编译、需重测和历史记录分别保留">
            <a:extLst xmlns:a="http://schemas.openxmlformats.org/drawingml/2006/main">
              <a:ext uri="{FF2B5EF4-FFF2-40B4-BE49-F238E27FC236}">
                <a16:creationId xmlns:a16="http://schemas.microsoft.com/office/drawing/2014/main" id="{71E8A135-C81C-4E4A-BA32-E30E0DEC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运行通过、仅编译、需重测和历史记录分别保留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DB3E6-2E93-4F02-BB1C-4254258D6AB5}"/>
              </a:ext>
            </a:extLst>
          </p:cNvPr>
          <p:cNvGraphicFramePr/>
          <p:nvPr/>
        </p:nvGraphicFramePr>
        <p:xfrm>
          <a:off xmlns:a="http://schemas.openxmlformats.org/drawingml/2006/main" x="723900" y="2114550"/>
          <a:ext xmlns:a="http://schemas.openxmlformats.org/drawingml/2006/main" cx="10753725" cy="3467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28825"/>
                <a:gridCol w="5105400"/>
                <a:gridCol w="3619500"/>
              </a:tblGrid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8638C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后续操作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T w="11430">
                      <a:solidFill>
                        <a:srgbClr val="A6AA9A"/>
                      </a:solidFill>
                      <a:prstDash val="solid"/>
                    </a:lnT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6E8A7"/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运行通过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真实执行且登记输出检查通过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结合当前输入与环境使用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仅编译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编译完成，未验证运行行为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补充运行与输出检查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需重测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源码、配置或工具链等输入变化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重新生成文档并测试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  <a:tr h="693420"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历史记录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A6AA9A"/>
                      </a:solidFill>
                      <a:prstDash val="solid"/>
                    </a:lnL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保留过去尝试，供追溯查看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  <a:tc>
                  <a:txBody>
                    <a:bodyPr wrap="square" lIns="161925" tIns="95250" rIns="1143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A302D"/>
                          </a:solidFill>
                          <a:latin typeface="Ma Shan Zheng"/>
                          <a:ea typeface="Ma Shan Zheng"/>
                          <a:cs typeface="Ma Shan Zheng"/>
                        </a:rPr>
                        <a:t>不直接替代当前结果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A6AA9A"/>
                      </a:solidFill>
                      <a:prstDash val="solid"/>
                    </a:lnR>
                    <a:lnB w="11430">
                      <a:solidFill>
                        <a:srgbClr val="A6AA9A"/>
                      </a:solidFill>
                      <a:prstDash val="solid"/>
                    </a:lnB>
                    <a:solidFill>
                      <a:srgbClr val="FFFDF3">
                        <a:alpha val="909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5CC92285-6DB3-411C-83D7-DE46C8BC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91825" cy="3505200"/>
          </a:xfrm>
          <a:custGeom xmlns:a="http://schemas.openxmlformats.org/drawingml/2006/main">
            <a:pathLst>
              <a:path w="10791825" h="3505200">
                <a:moveTo>
                  <a:pt x="38100" y="28575"/>
                </a:moveTo>
                <a:cubicBezTo>
                  <a:pt x="3021711" y="0"/>
                  <a:pt x="7338441" y="57150"/>
                  <a:pt x="10763250" y="19050"/>
                </a:cubicBezTo>
                <a:cubicBezTo>
                  <a:pt x="10801350" y="981456"/>
                  <a:pt x="10753725" y="2628900"/>
                  <a:pt x="10782300" y="3476625"/>
                </a:cubicBezTo>
                <a:cubicBezTo>
                  <a:pt x="7122605" y="3514725"/>
                  <a:pt x="3129629" y="3467100"/>
                  <a:pt x="19050" y="3495675"/>
                </a:cubicBezTo>
                <a:cubicBezTo>
                  <a:pt x="47625" y="2453640"/>
                  <a:pt x="0" y="105156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A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6371A-D07D-48A7-8182-53978B13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91825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60C56A26-C0A3-48ED-92C5-2F767496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115050"/>
            <a:ext cx="10048875" cy="257175"/>
          </a:xfrm>
          <a:custGeom xmlns:a="http://schemas.openxmlformats.org/drawingml/2006/main">
            <a:pathLst>
              <a:path w="10048875" h="257175">
                <a:moveTo>
                  <a:pt x="0" y="28575"/>
                </a:moveTo>
                <a:lnTo>
                  <a:pt x="10001250" y="0"/>
                </a:lnTo>
                <a:lnTo>
                  <a:pt x="10048875" y="228600"/>
                </a:lnTo>
                <a:lnTo>
                  <a:pt x="38100" y="2571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92.9% = 26 / 28：记录占比，不是项目正确率。">
            <a:extLst xmlns:a="http://schemas.openxmlformats.org/drawingml/2006/main">
              <a:ext uri="{FF2B5EF4-FFF2-40B4-BE49-F238E27FC236}">
                <a16:creationId xmlns:a16="http://schemas.microsoft.com/office/drawing/2014/main" id="{78DB5C8B-8721-487C-AE83-36EA9366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10648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240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92.9% = 26 / 28：记录占比，不是项目正确率。</a:t>
            </a:r>
          </a:p>
        </p:txBody>
      </p:sp>
    </p:spTree>
    <p:extLst>
      <p:ext uri="{BB962C8B-B14F-4D97-AF65-F5344CB8AC3E}">
        <p14:creationId xmlns:p14="http://schemas.microsoft.com/office/powerpoint/2010/main" val="85162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EBC58-5C8B-4834-9998-DC21517ECC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914e77885490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B907D21F-39A1-4201-82A9-9CC29BD4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3 / 4">
            <a:extLst xmlns:a="http://schemas.openxmlformats.org/drawingml/2006/main">
              <a:ext uri="{FF2B5EF4-FFF2-40B4-BE49-F238E27FC236}">
                <a16:creationId xmlns:a16="http://schemas.microsoft.com/office/drawing/2014/main" id="{2800A0B1-0FDF-4847-820F-37FF6DC0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3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9F94B3DF-B0C7-4C2A-9F44-2F835D07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3495675" cy="219075"/>
          </a:xfrm>
          <a:custGeom xmlns:a="http://schemas.openxmlformats.org/drawingml/2006/main">
            <a:pathLst>
              <a:path w="3495675" h="219075">
                <a:moveTo>
                  <a:pt x="0" y="28575"/>
                </a:moveTo>
                <a:lnTo>
                  <a:pt x="3448050" y="0"/>
                </a:lnTo>
                <a:lnTo>
                  <a:pt x="3495675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评委复现入口">
            <a:extLst xmlns:a="http://schemas.openxmlformats.org/drawingml/2006/main">
              <a:ext uri="{FF2B5EF4-FFF2-40B4-BE49-F238E27FC236}">
                <a16:creationId xmlns:a16="http://schemas.microsoft.com/office/drawing/2014/main" id="{9B94B52C-133A-4386-98D9-731B7BB8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备查：评委复现入口</a:t>
            </a:r>
          </a:p>
        </p:txBody>
      </p:sp>
      <p:sp>
        <p:nvSpPr>
          <p:cNvPr id="6" name="先配置工具链，再构建本地服务">
            <a:extLst xmlns:a="http://schemas.openxmlformats.org/drawingml/2006/main">
              <a:ext uri="{FF2B5EF4-FFF2-40B4-BE49-F238E27FC236}">
                <a16:creationId xmlns:a16="http://schemas.microsoft.com/office/drawing/2014/main" id="{B8ADCE62-7848-4651-B800-8F5E6B1D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先配置工具链，再构建本地服务</a:t>
            </a:r>
          </a:p>
        </p:txBody>
      </p:sp>
      <p:sp>
        <p:nvSpPr>
          <p:cNvPr id="7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7C30C504-29BE-4810-8EF7-8E7C3BA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52650"/>
            <a:ext cx="10734675" cy="2505075"/>
          </a:xfrm>
          <a:custGeom xmlns:a="http://schemas.openxmlformats.org/drawingml/2006/main">
            <a:pathLst>
              <a:path w="10734675" h="2505075">
                <a:moveTo>
                  <a:pt x="38100" y="28575"/>
                </a:moveTo>
                <a:cubicBezTo>
                  <a:pt x="3005709" y="0"/>
                  <a:pt x="7299579" y="57150"/>
                  <a:pt x="10706100" y="19050"/>
                </a:cubicBezTo>
                <a:cubicBezTo>
                  <a:pt x="10744200" y="701421"/>
                  <a:pt x="10696575" y="1878806"/>
                  <a:pt x="10725150" y="2476500"/>
                </a:cubicBezTo>
                <a:cubicBezTo>
                  <a:pt x="7084886" y="2514600"/>
                  <a:pt x="3113056" y="2466975"/>
                  <a:pt x="19050" y="2495550"/>
                </a:cubicBezTo>
                <a:cubicBezTo>
                  <a:pt x="47625" y="1753553"/>
                  <a:pt x="0" y="751522"/>
                  <a:pt x="38100" y="28575"/>
                </a:cubicBezTo>
                <a:close/>
              </a:path>
            </a:pathLst>
          </a:custGeom>
          <a:solidFill xmlns:a="http://schemas.openxmlformats.org/drawingml/2006/main">
            <a:srgbClr val="FFFDF7"/>
          </a:solidFill>
          <a:ln xmlns:a="http://schemas.openxmlformats.org/drawingml/2006/main" w="23813">
            <a:solidFill>
              <a:srgbClr val="2A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6707F-2FE5-46E7-8C83-9F9E9A86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52650"/>
            <a:ext cx="10734675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git clone https://atomgit.com/c2892480843s/cj-docg">
            <a:extLst xmlns:a="http://schemas.openxmlformats.org/drawingml/2006/main">
              <a:ext uri="{FF2B5EF4-FFF2-40B4-BE49-F238E27FC236}">
                <a16:creationId xmlns:a16="http://schemas.microsoft.com/office/drawing/2014/main" id="{3ADA3962-F86B-457D-88F8-CDF6BD39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28875"/>
            <a:ext cx="10191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git clone https://atomgit.com/c2892480843s/cj-docguard.git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cd cj-docguard &amp;&amp; git checkout 068a22a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bash scripts/build_workbench.sh</a:t>
            </a:r>
          </a:p>
          <a:p xmlns:a="http://schemas.openxmlformats.org/drawingml/2006/main">
            <a:pPr algn="l">
              <a:def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A302D"/>
                </a:solidFill>
                <a:latin typeface="Source Han Sans SC"/>
                <a:ea typeface="Source Han Sans SC"/>
                <a:cs typeface="Source Han Sans SC"/>
              </a:rPr>
              <a:t>bash scripts/workbench.sh --port 8765</a:t>
            </a:r>
          </a:p>
        </p:txBody>
      </p:sp>
      <p:sp>
        <p:nvSpPr>
          <p:cNvPr id="10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AFBFA7D6-5A53-457B-AE7E-B2B1A286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7772400" cy="304800"/>
          </a:xfrm>
          <a:custGeom xmlns:a="http://schemas.openxmlformats.org/drawingml/2006/main">
            <a:pathLst>
              <a:path w="7772400" h="304800">
                <a:moveTo>
                  <a:pt x="0" y="28575"/>
                </a:moveTo>
                <a:lnTo>
                  <a:pt x="7724775" y="0"/>
                </a:lnTo>
                <a:lnTo>
                  <a:pt x="7772400" y="276225"/>
                </a:lnTo>
                <a:lnTo>
                  <a:pt x="38100" y="304800"/>
                </a:lnTo>
                <a:close/>
              </a:path>
            </a:pathLst>
          </a:custGeom>
          <a:solidFill xmlns:a="http://schemas.openxmlformats.org/drawingml/2006/main">
            <a:srgbClr val="DEE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打开 http://127.0.0.1:8765/">
            <a:extLst xmlns:a="http://schemas.openxmlformats.org/drawingml/2006/main">
              <a:ext uri="{FF2B5EF4-FFF2-40B4-BE49-F238E27FC236}">
                <a16:creationId xmlns:a16="http://schemas.microsoft.com/office/drawing/2014/main" id="{BCECFF21-395B-4822-9297-89D98B2F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106013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defRPr>
            </a:pPr>
            <a:r>
              <a:rPr sz="3225" b="0">
                <a:solidFill>
                  <a:srgbClr val="397B60"/>
                </a:solidFill>
                <a:latin typeface="Ma Shan Zheng"/>
                <a:ea typeface="Ma Shan Zheng"/>
                <a:cs typeface="Ma Shan Zheng"/>
              </a:rPr>
              <a:t>打开 http://127.0.0.1:8765/</a:t>
            </a:r>
          </a:p>
        </p:txBody>
      </p:sp>
      <p:sp>
        <p:nvSpPr>
          <p:cNvPr id="12" name="前提：已登记两版仓颉 SDK 与兼容系统 SDK；完整步骤见评委指南。">
            <a:extLst xmlns:a="http://schemas.openxmlformats.org/drawingml/2006/main">
              <a:ext uri="{FF2B5EF4-FFF2-40B4-BE49-F238E27FC236}">
                <a16:creationId xmlns:a16="http://schemas.microsoft.com/office/drawing/2014/main" id="{F2020412-398F-4E2E-B0B4-26005A2D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15050"/>
            <a:ext cx="10639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前提：已登记两版仓颉 SDK 与兼容系统 SDK；完整步骤见评委指南。</a:t>
            </a:r>
          </a:p>
        </p:txBody>
      </p:sp>
    </p:spTree>
    <p:extLst>
      <p:ext uri="{BB962C8B-B14F-4D97-AF65-F5344CB8AC3E}">
        <p14:creationId xmlns:p14="http://schemas.microsoft.com/office/powerpoint/2010/main" val="1618130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4CA76-42D6-4654-978B-05EBCB197F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c05419ec34d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J-DocGuard / 决赛笔记">
            <a:extLst xmlns:a="http://schemas.openxmlformats.org/drawingml/2006/main">
              <a:ext uri="{FF2B5EF4-FFF2-40B4-BE49-F238E27FC236}">
                <a16:creationId xmlns:a16="http://schemas.microsoft.com/office/drawing/2014/main" id="{7BA28825-7CE5-4E85-93BA-32CBBB0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CJ-DocGuard / 决赛笔记</a:t>
            </a:r>
          </a:p>
        </p:txBody>
      </p:sp>
      <p:sp>
        <p:nvSpPr>
          <p:cNvPr id="3" name="备查 4 / 4">
            <a:extLst xmlns:a="http://schemas.openxmlformats.org/drawingml/2006/main">
              <a:ext uri="{FF2B5EF4-FFF2-40B4-BE49-F238E27FC236}">
                <a16:creationId xmlns:a16="http://schemas.microsoft.com/office/drawing/2014/main" id="{A8D2CEE3-00A6-41DB-9CC0-E9A6EEBE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6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备查 4 / 4</a:t>
            </a:r>
          </a:p>
        </p:txBody>
      </p:sp>
      <p:sp>
        <p:nvSpPr>
          <p:cNvPr id="4" name="荧光笔高亮">
            <a:extLst xmlns:a="http://schemas.openxmlformats.org/drawingml/2006/main">
              <a:ext uri="{FF2B5EF4-FFF2-40B4-BE49-F238E27FC236}">
                <a16:creationId xmlns:a16="http://schemas.microsoft.com/office/drawing/2014/main" id="{3A4C4EBF-1FAD-4325-A14D-E48221C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5257800" cy="219075"/>
          </a:xfrm>
          <a:custGeom xmlns:a="http://schemas.openxmlformats.org/drawingml/2006/main">
            <a:pathLst>
              <a:path w="5257800" h="219075">
                <a:moveTo>
                  <a:pt x="0" y="28575"/>
                </a:moveTo>
                <a:lnTo>
                  <a:pt x="5210175" y="0"/>
                </a:lnTo>
                <a:lnTo>
                  <a:pt x="5257800" y="190500"/>
                </a:lnTo>
                <a:lnTo>
                  <a:pt x="38100" y="219075"/>
                </a:lnTo>
                <a:close/>
              </a:path>
            </a:pathLst>
          </a:custGeom>
          <a:solidFill xmlns:a="http://schemas.openxmlformats.org/drawingml/2006/main">
            <a:srgbClr val="FFF0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备查：链接专项检查的实际页面">
            <a:extLst xmlns:a="http://schemas.openxmlformats.org/drawingml/2006/main">
              <a:ext uri="{FF2B5EF4-FFF2-40B4-BE49-F238E27FC236}">
                <a16:creationId xmlns:a16="http://schemas.microsoft.com/office/drawing/2014/main" id="{0DA74DA9-FAF6-4323-AB75-37E1B604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defRPr>
            </a:pPr>
            <a:r>
              <a:rPr sz="3450" b="0">
                <a:solidFill>
                  <a:srgbClr val="2A302D"/>
                </a:solidFill>
                <a:latin typeface="Ma Shan Zheng"/>
                <a:ea typeface="Ma Shan Zheng"/>
                <a:cs typeface="Ma Shan Zheng"/>
              </a:rPr>
              <a:t>备查：链接专项检查的实际页面</a:t>
            </a:r>
          </a:p>
        </p:txBody>
      </p:sp>
      <p:sp>
        <p:nvSpPr>
          <p:cNvPr id="6" name="来源、行号、原始目标和检查原因，一起保留">
            <a:extLst xmlns:a="http://schemas.openxmlformats.org/drawingml/2006/main">
              <a:ext uri="{FF2B5EF4-FFF2-40B4-BE49-F238E27FC236}">
                <a16:creationId xmlns:a16="http://schemas.microsoft.com/office/drawing/2014/main" id="{FCC6857B-2B56-459B-B4D0-9B626C9F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3906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1950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来源、行号、原始目标和检查原因，一起保留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94EBC-2426-46FF-9C8A-520D871B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0753725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15EE9-EFA4-452E-8BC5-12DC43C1E1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d4a76c6594916"/>
          <a:srcRect xmlns:a="http://schemas.openxmlformats.org/drawingml/2006/main" l="20000" t="30000" r="0" b="15000"/>
          <a:stretch xmlns:a="http://schemas.openxmlformats.org/drawingml/2006/main"/>
        </p:blipFill>
        <p:spPr>
          <a:xfrm xmlns:a="http://schemas.openxmlformats.org/drawingml/2006/main">
            <a:off x="828675" y="2152650"/>
            <a:ext cx="10534650" cy="3924300"/>
          </a:xfrm>
          <a:prstGeom xmlns:a="http://schemas.openxmlformats.org/drawingml/2006/main" prst="rect">
            <a:avLst/>
          </a:prstGeom>
        </p:spPr>
      </p:pic>
      <p:sp>
        <p:nvSpPr>
          <p:cNvPr id="9" name="手绘纸面边框">
            <a:extLst xmlns:a="http://schemas.openxmlformats.org/drawingml/2006/main">
              <a:ext uri="{FF2B5EF4-FFF2-40B4-BE49-F238E27FC236}">
                <a16:creationId xmlns:a16="http://schemas.microsoft.com/office/drawing/2014/main" id="{CF0B201D-30E2-4D3B-801B-E74E2A5F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0753725" cy="4114800"/>
          </a:xfrm>
          <a:custGeom xmlns:a="http://schemas.openxmlformats.org/drawingml/2006/main">
            <a:pathLst>
              <a:path w="10753725" h="4114800">
                <a:moveTo>
                  <a:pt x="38100" y="28575"/>
                </a:moveTo>
                <a:cubicBezTo>
                  <a:pt x="3011043" y="0"/>
                  <a:pt x="7312533" y="57150"/>
                  <a:pt x="10725150" y="19050"/>
                </a:cubicBezTo>
                <a:cubicBezTo>
                  <a:pt x="10763250" y="1152144"/>
                  <a:pt x="10715625" y="3086100"/>
                  <a:pt x="10744200" y="4086225"/>
                </a:cubicBezTo>
                <a:cubicBezTo>
                  <a:pt x="7097459" y="4124325"/>
                  <a:pt x="3118580" y="4076700"/>
                  <a:pt x="19050" y="4105275"/>
                </a:cubicBezTo>
                <a:cubicBezTo>
                  <a:pt x="47625" y="2880360"/>
                  <a:pt x="0" y="1234440"/>
                  <a:pt x="38100" y="285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A30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815DC-38DE-4650-8570-2EA482C3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0753725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预置坏链已定位；未联网检查的外链保持未确认。">
            <a:extLst xmlns:a="http://schemas.openxmlformats.org/drawingml/2006/main">
              <a:ext uri="{FF2B5EF4-FFF2-40B4-BE49-F238E27FC236}">
                <a16:creationId xmlns:a16="http://schemas.microsoft.com/office/drawing/2014/main" id="{DBBC9822-72B4-408B-849A-1E374C2E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10687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defPPr>
            <a:lvl1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1pPr>
            <a:lvl2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2pPr>
            <a:lvl3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3pPr>
            <a:lvl4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4pPr>
            <a:lvl5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5pPr>
            <a:lvl6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6pPr>
            <a:lvl7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7pPr>
            <a:lvl8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8pPr>
            <a:lvl9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defRPr>
            </a:pPr>
            <a:r>
              <a:rPr sz="2025" b="0">
                <a:solidFill>
                  <a:srgbClr val="626B67"/>
                </a:solidFill>
                <a:latin typeface="Ma Shan Zheng"/>
                <a:ea typeface="Ma Shan Zheng"/>
                <a:cs typeface="Ma Shan Zheng"/>
              </a:rPr>
              <a:t>预置坏链已定位；未联网检查的外链保持未确认。</a:t>
            </a:r>
          </a:p>
        </p:txBody>
      </p:sp>
    </p:spTree>
    <p:extLst>
      <p:ext uri="{BB962C8B-B14F-4D97-AF65-F5344CB8AC3E}">
        <p14:creationId xmlns:p14="http://schemas.microsoft.com/office/powerpoint/2010/main" val="89542419"/>
      </p:ext>
    </p:extLst>
  </p:cSld>
</p:sld>
</file>

<file path=ppt/theme/theme1.xml><?xml version="1.0" encoding="utf-8"?>
<a:theme xmlns:a="http://schemas.openxmlformats.org/drawingml/2006/main" name="ChatGPT">
  <a:themeElements>
    <a:clrScheme name="Notebook Marker">
      <a:dk1>
        <a:srgbClr val="000000"/>
      </a:dk1>
      <a:lt1>
        <a:srgbClr val="FFFFFF"/>
      </a:lt1>
      <a:dk2>
        <a:srgbClr val="2A302D"/>
      </a:dk2>
      <a:lt2>
        <a:srgbClr val="FAF6EB"/>
      </a:lt2>
      <a:accent1>
        <a:srgbClr val="28638C"/>
      </a:accent1>
      <a:accent2>
        <a:srgbClr val="397B60"/>
      </a:accent2>
      <a:accent3>
        <a:srgbClr val="D89E38"/>
      </a:accent3>
      <a:accent4>
        <a:srgbClr val="AA554B"/>
      </a:accent4>
      <a:accent5>
        <a:srgbClr val="8D9D86"/>
      </a:accent5>
      <a:accent6>
        <a:srgbClr val="77654F"/>
      </a:accent6>
      <a:hlink>
        <a:srgbClr val="28638C"/>
      </a:hlink>
      <a:folHlink>
        <a:srgbClr val="397B60"/>
      </a:folHlink>
    </a:clrScheme>
    <a:fontScheme name="">
      <a:majorFont>
        <a:latin typeface="Ma Shan Zheng"/>
        <a:ea typeface=""/>
        <a:cs typeface=""/>
      </a:majorFont>
      <a:minorFont>
        <a:latin typeface="Ma Shan Zheng"/>
        <a:ea typeface=""/>
        <a:cs typeface=""/>
      </a:minorFont>
    </a:fontScheme>
    <a:fmtScheme name="Notebook Mark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2026-10-29T11:10:09.8090000Z</dcterms:created>
  <dcterms:modified xsi:type="dcterms:W3CDTF">2026-10-29T11:10:09.8090000Z</dcterms:modified>
</coreProperties>
</file>